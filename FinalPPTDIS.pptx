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0" r:id="rId2"/>
    <p:sldId id="265" r:id="rId3"/>
    <p:sldId id="266" r:id="rId4"/>
    <p:sldId id="267" r:id="rId5"/>
    <p:sldId id="268" r:id="rId6"/>
    <p:sldId id="269" r:id="rId7"/>
    <p:sldId id="270" r:id="rId8"/>
    <p:sldId id="272" r:id="rId9"/>
    <p:sldId id="271" r:id="rId10"/>
    <p:sldId id="273" r:id="rId11"/>
    <p:sldId id="274" r:id="rId12"/>
    <p:sldId id="275" r:id="rId13"/>
    <p:sldId id="276" r:id="rId14"/>
    <p:sldId id="277" r:id="rId15"/>
    <p:sldId id="278"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ECF0"/>
    <a:srgbClr val="FFA100"/>
    <a:srgbClr val="0000FF"/>
    <a:srgbClr val="00CCFF"/>
    <a:srgbClr val="E0E2E8"/>
    <a:srgbClr val="ACB0C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7737E4-8557-19C1-AF9A-CF33F8E4957C}" v="1858" dt="2026-05-26T06:03:24.795"/>
    <p1510:client id="{A67D5CC9-50B8-D5C3-4D3D-3A962EF25B95}" v="1129" dt="2026-05-26T03:57:18.1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6" d="100"/>
          <a:sy n="66" d="100"/>
        </p:scale>
        <p:origin x="174"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9E11F9-A74D-4D43-BFA1-0FF4A1C12EF2}" type="datetimeFigureOut">
              <a:rPr lang="en-IN" smtClean="0"/>
              <a:t>25-05-2026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795736-6B52-4FB5-B6B6-3143E1C0C28C}" type="slidenum">
              <a:rPr lang="en-IN" smtClean="0"/>
              <a:t>‹#›</a:t>
            </a:fld>
            <a:endParaRPr lang="en-IN"/>
          </a:p>
        </p:txBody>
      </p:sp>
    </p:spTree>
    <p:extLst>
      <p:ext uri="{BB962C8B-B14F-4D97-AF65-F5344CB8AC3E}">
        <p14:creationId xmlns:p14="http://schemas.microsoft.com/office/powerpoint/2010/main" val="2926509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558A0-7089-8CA9-3D76-FA463F5832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7A3B89-4B88-B573-A1C4-3BB1132E5B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5BEBA8A-98C3-AA3D-3511-8EAD78FF1F6F}"/>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5" name="Footer Placeholder 4">
            <a:extLst>
              <a:ext uri="{FF2B5EF4-FFF2-40B4-BE49-F238E27FC236}">
                <a16:creationId xmlns:a16="http://schemas.microsoft.com/office/drawing/2014/main" id="{378F7539-D87F-1872-93E7-9BA1EA50BB1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6A3C8F3-D44D-0593-D8A9-93D419D75D10}"/>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2016990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121E-4B91-8326-D019-F99ED85C88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C0D417-41B2-5ED1-7D4E-379FD9D35B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71BF3C-731E-4006-75EB-82E884AD5EDC}"/>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5" name="Footer Placeholder 4">
            <a:extLst>
              <a:ext uri="{FF2B5EF4-FFF2-40B4-BE49-F238E27FC236}">
                <a16:creationId xmlns:a16="http://schemas.microsoft.com/office/drawing/2014/main" id="{C252B3F0-459C-3858-C7AB-3E870071F3E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B1BF42A-F84A-B8A7-0188-8105E64A0CF7}"/>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896555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C8546-4F81-5473-1063-F313F7EC80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0EDB8F0-6BE3-3C0B-B0A0-D5ED9FEE08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3870D2-8800-CF0D-A2A1-D8EE19E63C31}"/>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5" name="Footer Placeholder 4">
            <a:extLst>
              <a:ext uri="{FF2B5EF4-FFF2-40B4-BE49-F238E27FC236}">
                <a16:creationId xmlns:a16="http://schemas.microsoft.com/office/drawing/2014/main" id="{F8DDBAEA-7AE5-C197-CB5C-04F882EB435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1B549D3-D4B7-9FE3-459C-AA087D882BC2}"/>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2632241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25A25-1907-7689-48A5-38678867BB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0EBFC5-E093-1FD4-F95A-34D39081F5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614A41C-44B9-E056-96BC-1C161CF26A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A4DBBD6-DBB3-E115-985B-7A6D28C42D47}"/>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6" name="Footer Placeholder 5">
            <a:extLst>
              <a:ext uri="{FF2B5EF4-FFF2-40B4-BE49-F238E27FC236}">
                <a16:creationId xmlns:a16="http://schemas.microsoft.com/office/drawing/2014/main" id="{8756F91D-9565-E6BD-A53C-3434DD85D4C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B960FED2-358B-DB54-5902-62CD16E9923E}"/>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3131744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DD7FA-4B29-F196-70D6-5438D0F776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A3DC36-45E6-C738-C83F-140831DF33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4CF06F-D486-92E8-8897-9D69C9779E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7C1CC18-71F2-37F6-1F5A-C1DF15F326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145519-C364-9D32-730D-B34BF6B38F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0519B64-2689-2A9E-8B32-EEB6977ACB77}"/>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8" name="Footer Placeholder 7">
            <a:extLst>
              <a:ext uri="{FF2B5EF4-FFF2-40B4-BE49-F238E27FC236}">
                <a16:creationId xmlns:a16="http://schemas.microsoft.com/office/drawing/2014/main" id="{A2E067CB-2CA5-6E78-7A98-806BBCA06636}"/>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0E85656A-1E50-240E-D740-F07E75346BC9}"/>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867414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C4D68-15DF-E310-76ED-CDE57722AE1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F4B7FB9-E1B5-6226-5E32-7ABCF1BA4FEC}"/>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4" name="Footer Placeholder 3">
            <a:extLst>
              <a:ext uri="{FF2B5EF4-FFF2-40B4-BE49-F238E27FC236}">
                <a16:creationId xmlns:a16="http://schemas.microsoft.com/office/drawing/2014/main" id="{BBB917E9-BF34-8705-35F2-1F69DBF1FEF3}"/>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62151A96-19EF-E666-9BCD-DDD72A099E78}"/>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436640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D770D4-F075-36B9-F1EC-CB3D4AF92541}"/>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3" name="Footer Placeholder 2">
            <a:extLst>
              <a:ext uri="{FF2B5EF4-FFF2-40B4-BE49-F238E27FC236}">
                <a16:creationId xmlns:a16="http://schemas.microsoft.com/office/drawing/2014/main" id="{01E06268-2331-2744-C107-1D1C53C2EE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8D579D0F-0315-712F-2989-294CBD94AB16}"/>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3178500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7CBBE-BAB3-BCD7-38DD-DC3AA3683F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1DEAE83-011D-EA55-0E44-86C6179C4D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543AA0F-80EE-EAFE-3CF0-0E8F2051B2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290628-EF7E-F5E9-CA56-E807330EEC93}"/>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6" name="Footer Placeholder 5">
            <a:extLst>
              <a:ext uri="{FF2B5EF4-FFF2-40B4-BE49-F238E27FC236}">
                <a16:creationId xmlns:a16="http://schemas.microsoft.com/office/drawing/2014/main" id="{3DB15AB0-2713-F304-B531-A8696E9F234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610A1B8-9AAC-76AF-A71E-AA1BCA4D5984}"/>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188800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D3204-2BD9-DD29-32DC-DA829C08F1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027831F-ABC1-1F16-45C0-E3A712FA2A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6474F0AF-9216-CF70-6D15-BF97346D01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C2AD31-EA73-5C72-11FA-39D55A6BEB82}"/>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6" name="Footer Placeholder 5">
            <a:extLst>
              <a:ext uri="{FF2B5EF4-FFF2-40B4-BE49-F238E27FC236}">
                <a16:creationId xmlns:a16="http://schemas.microsoft.com/office/drawing/2014/main" id="{313C6A46-0642-49AC-6890-C732BB466F1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E84044FD-D6DB-B426-E85B-3CC818C0F7C4}"/>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1772593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FE253-B18D-CA18-DBC0-3A9C6D7121D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7000648-15B3-60D3-B73A-4A6C618A63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296704-2A96-8576-82B8-FBE8B5AB043D}"/>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5" name="Footer Placeholder 4">
            <a:extLst>
              <a:ext uri="{FF2B5EF4-FFF2-40B4-BE49-F238E27FC236}">
                <a16:creationId xmlns:a16="http://schemas.microsoft.com/office/drawing/2014/main" id="{FFAF55E3-B940-7703-FFE1-2BE3C49A6F5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7291684-EF40-B734-10DF-98632AD7AE19}"/>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268982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FC8F3B-D51C-2150-3F24-3E3BF34200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317313-5192-0F58-FA28-6D98BAB2BC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97D5D0-FC6A-AB98-EF68-0B503B8E73D4}"/>
              </a:ext>
            </a:extLst>
          </p:cNvPr>
          <p:cNvSpPr>
            <a:spLocks noGrp="1"/>
          </p:cNvSpPr>
          <p:nvPr>
            <p:ph type="dt" sz="half" idx="10"/>
          </p:nvPr>
        </p:nvSpPr>
        <p:spPr/>
        <p:txBody>
          <a:bodyPr/>
          <a:lstStyle/>
          <a:p>
            <a:fld id="{02775B8D-2D9F-4F5B-B247-82E33980A4D4}" type="datetimeFigureOut">
              <a:rPr lang="en-IN" smtClean="0"/>
              <a:t>25-05-2026</a:t>
            </a:fld>
            <a:endParaRPr lang="en-IN" dirty="0"/>
          </a:p>
        </p:txBody>
      </p:sp>
      <p:sp>
        <p:nvSpPr>
          <p:cNvPr id="5" name="Footer Placeholder 4">
            <a:extLst>
              <a:ext uri="{FF2B5EF4-FFF2-40B4-BE49-F238E27FC236}">
                <a16:creationId xmlns:a16="http://schemas.microsoft.com/office/drawing/2014/main" id="{3C982C3B-8821-70D0-EC4A-D2B778465AF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B152D6E-2E4C-5065-150C-A045B71BD9F7}"/>
              </a:ext>
            </a:extLst>
          </p:cNvPr>
          <p:cNvSpPr>
            <a:spLocks noGrp="1"/>
          </p:cNvSpPr>
          <p:nvPr>
            <p:ph type="sldNum" sz="quarter" idx="12"/>
          </p:nvPr>
        </p:nvSpPr>
        <p:spPr/>
        <p:txBody>
          <a:bodyPr/>
          <a:lstStyle/>
          <a:p>
            <a:fld id="{D9864D83-DA38-4086-BBC1-6D70E66AFAF2}" type="slidenum">
              <a:rPr lang="en-IN" smtClean="0"/>
              <a:t>‹#›</a:t>
            </a:fld>
            <a:endParaRPr lang="en-IN" dirty="0"/>
          </a:p>
        </p:txBody>
      </p:sp>
    </p:spTree>
    <p:extLst>
      <p:ext uri="{BB962C8B-B14F-4D97-AF65-F5344CB8AC3E}">
        <p14:creationId xmlns:p14="http://schemas.microsoft.com/office/powerpoint/2010/main" val="391700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19FE06-1128-5156-0D58-13F8BC1D0C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929AFE-9D25-D11C-B415-D73DF07F1D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6197F8-2145-CDCE-9CAD-E48B31B352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775B8D-2D9F-4F5B-B247-82E33980A4D4}" type="datetimeFigureOut">
              <a:rPr lang="en-IN" smtClean="0"/>
              <a:t>25-05-2026</a:t>
            </a:fld>
            <a:endParaRPr lang="en-IN" dirty="0"/>
          </a:p>
        </p:txBody>
      </p:sp>
      <p:sp>
        <p:nvSpPr>
          <p:cNvPr id="5" name="Footer Placeholder 4">
            <a:extLst>
              <a:ext uri="{FF2B5EF4-FFF2-40B4-BE49-F238E27FC236}">
                <a16:creationId xmlns:a16="http://schemas.microsoft.com/office/drawing/2014/main" id="{0CB6F2CF-7377-6AEB-104D-A14625DC7A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5A2D7AB5-D1CE-ECFA-BD7D-25D6C560DD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864D83-DA38-4086-BBC1-6D70E66AFAF2}" type="slidenum">
              <a:rPr lang="en-IN" smtClean="0"/>
              <a:t>‹#›</a:t>
            </a:fld>
            <a:endParaRPr lang="en-IN" dirty="0"/>
          </a:p>
        </p:txBody>
      </p:sp>
    </p:spTree>
    <p:extLst>
      <p:ext uri="{BB962C8B-B14F-4D97-AF65-F5344CB8AC3E}">
        <p14:creationId xmlns:p14="http://schemas.microsoft.com/office/powerpoint/2010/main" val="2828725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49D3B995-747E-CA12-544B-1B1BF416F82B}"/>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7BC79C38-96C2-DA48-1FF2-2D37C83E0A7E}"/>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C66FC3F5-C40E-E3F4-F0F4-6DD792E1E263}"/>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0245A997-8E32-44A4-8606-4BE34DF91812}"/>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E22854BB-18FA-BEE2-3F14-5B7BF7B76CFA}"/>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9F971856-078B-BDD4-A804-E0B26D80CC4F}"/>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96F17C59-F0F6-9594-F605-3DF670075117}"/>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1E9DBE43-CAE9-E02F-C858-1A94FB04EFDC}"/>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22FD4F0E-C8A1-EC7B-DC8F-97650BA70687}"/>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A069AA85-2F8C-3D79-6666-9FB915AD5730}"/>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0B311127-FC6F-1156-AFCD-4BC8E2C0EC81}"/>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1</a:t>
            </a:r>
            <a:endParaRPr lang="en-IN" b="1" dirty="0">
              <a:solidFill>
                <a:schemeClr val="tx1">
                  <a:lumMod val="65000"/>
                  <a:lumOff val="35000"/>
                </a:schemeClr>
              </a:solidFill>
              <a:latin typeface="Vibur" panose="03000603000000000000" pitchFamily="66" charset="0"/>
            </a:endParaRPr>
          </a:p>
        </p:txBody>
      </p:sp>
      <p:sp>
        <p:nvSpPr>
          <p:cNvPr id="2" name="TextBox 1">
            <a:extLst>
              <a:ext uri="{FF2B5EF4-FFF2-40B4-BE49-F238E27FC236}">
                <a16:creationId xmlns:a16="http://schemas.microsoft.com/office/drawing/2014/main" id="{1CB48658-CBC0-2832-B81D-038C6EACF025}"/>
              </a:ext>
            </a:extLst>
          </p:cNvPr>
          <p:cNvSpPr txBox="1"/>
          <p:nvPr/>
        </p:nvSpPr>
        <p:spPr>
          <a:xfrm>
            <a:off x="779451" y="2739712"/>
            <a:ext cx="1001070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b="1">
                <a:solidFill>
                  <a:srgbClr val="000000"/>
                </a:solidFill>
                <a:latin typeface="Calibri"/>
                <a:ea typeface="Calibri"/>
                <a:cs typeface="Calibri"/>
              </a:rPr>
              <a:t>ILLUMINATING THE BLACKBOX</a:t>
            </a:r>
          </a:p>
        </p:txBody>
      </p:sp>
      <p:sp>
        <p:nvSpPr>
          <p:cNvPr id="3" name="TextBox 2">
            <a:extLst>
              <a:ext uri="{FF2B5EF4-FFF2-40B4-BE49-F238E27FC236}">
                <a16:creationId xmlns:a16="http://schemas.microsoft.com/office/drawing/2014/main" id="{E6D64A84-FF3F-E85C-814A-408F7B114AB1}"/>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4" name="TextBox 3">
            <a:extLst>
              <a:ext uri="{FF2B5EF4-FFF2-40B4-BE49-F238E27FC236}">
                <a16:creationId xmlns:a16="http://schemas.microsoft.com/office/drawing/2014/main" id="{F9DAECB8-7D1B-BE45-C96E-8389C2DC9383}"/>
              </a:ext>
            </a:extLst>
          </p:cNvPr>
          <p:cNvSpPr txBox="1"/>
          <p:nvPr/>
        </p:nvSpPr>
        <p:spPr>
          <a:xfrm>
            <a:off x="779449" y="3775099"/>
            <a:ext cx="3914702" cy="9349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gradFill>
                  <a:gsLst>
                    <a:gs pos="0">
                      <a:srgbClr val="00CCFF"/>
                    </a:gs>
                    <a:gs pos="100000">
                      <a:srgbClr val="0000FF"/>
                    </a:gs>
                  </a:gsLst>
                  <a:lin ang="2700000" scaled="1"/>
                </a:gradFill>
                <a:latin typeface="Calibri"/>
                <a:ea typeface="Calibri"/>
                <a:cs typeface="Calibri"/>
              </a:rPr>
              <a:t>Explainable AI for Image Classification: A Comparative </a:t>
            </a:r>
            <a:r>
              <a:rPr lang="en-US" b="1">
                <a:gradFill>
                  <a:gsLst>
                    <a:gs pos="0">
                      <a:srgbClr val="00CCFF"/>
                    </a:gs>
                    <a:gs pos="100000">
                      <a:srgbClr val="0000FF"/>
                    </a:gs>
                  </a:gsLst>
                  <a:lin ang="2700000" scaled="1"/>
                </a:gradFill>
                <a:latin typeface="Calibri"/>
                <a:ea typeface="Calibri"/>
                <a:cs typeface="Calibri"/>
              </a:rPr>
              <a:t>Study of GRAD-CAM, LIME, and SHAP</a:t>
            </a:r>
            <a:endParaRPr lang="en-US" b="1" dirty="0">
              <a:gradFill>
                <a:gsLst>
                  <a:gs pos="0">
                    <a:srgbClr val="00CCFF"/>
                  </a:gs>
                  <a:gs pos="100000">
                    <a:srgbClr val="0000FF"/>
                  </a:gs>
                </a:gsLst>
                <a:lin ang="2700000" scaled="1"/>
              </a:gradFill>
              <a:latin typeface="Calibri"/>
              <a:ea typeface="Calibri"/>
              <a:cs typeface="Calibri"/>
            </a:endParaRPr>
          </a:p>
        </p:txBody>
      </p:sp>
      <p:sp>
        <p:nvSpPr>
          <p:cNvPr id="5" name="TextBox 4">
            <a:extLst>
              <a:ext uri="{FF2B5EF4-FFF2-40B4-BE49-F238E27FC236}">
                <a16:creationId xmlns:a16="http://schemas.microsoft.com/office/drawing/2014/main" id="{BDE6F992-6267-7AE2-F229-D1229774DF0F}"/>
              </a:ext>
            </a:extLst>
          </p:cNvPr>
          <p:cNvSpPr txBox="1"/>
          <p:nvPr/>
        </p:nvSpPr>
        <p:spPr>
          <a:xfrm>
            <a:off x="884153" y="5229298"/>
            <a:ext cx="262919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Akhlak Ansari    </a:t>
            </a:r>
            <a:r>
              <a:rPr lang="en-US">
                <a:ea typeface="Calibri"/>
                <a:cs typeface="Calibri"/>
              </a:rPr>
              <a:t>Master of Technology(CS) </a:t>
            </a:r>
          </a:p>
          <a:p>
            <a:r>
              <a:rPr lang="en-US">
                <a:ea typeface="Calibri"/>
                <a:cs typeface="Calibri"/>
              </a:rPr>
              <a:t>Roll No: 2403601</a:t>
            </a:r>
          </a:p>
          <a:p>
            <a:r>
              <a:rPr lang="en-US">
                <a:ea typeface="Calibri"/>
                <a:cs typeface="Calibri"/>
              </a:rPr>
              <a:t>Session: 2024-26</a:t>
            </a:r>
          </a:p>
        </p:txBody>
      </p:sp>
      <p:pic>
        <p:nvPicPr>
          <p:cNvPr id="7" name="Picture 6" descr="A blue logo with text&#10;&#10;AI-generated content may be incorrect.">
            <a:extLst>
              <a:ext uri="{FF2B5EF4-FFF2-40B4-BE49-F238E27FC236}">
                <a16:creationId xmlns:a16="http://schemas.microsoft.com/office/drawing/2014/main" id="{77D25EDD-5A51-DE29-EC5E-52314E056A7C}"/>
              </a:ext>
            </a:extLst>
          </p:cNvPr>
          <p:cNvPicPr>
            <a:picLocks noChangeAspect="1"/>
          </p:cNvPicPr>
          <p:nvPr/>
        </p:nvPicPr>
        <p:blipFill>
          <a:blip r:embed="rId2"/>
          <a:stretch>
            <a:fillRect/>
          </a:stretch>
        </p:blipFill>
        <p:spPr>
          <a:xfrm>
            <a:off x="9111349" y="681874"/>
            <a:ext cx="972722" cy="1887839"/>
          </a:xfrm>
          <a:prstGeom prst="rect">
            <a:avLst/>
          </a:prstGeom>
        </p:spPr>
      </p:pic>
      <p:sp>
        <p:nvSpPr>
          <p:cNvPr id="10" name="TextBox 9">
            <a:extLst>
              <a:ext uri="{FF2B5EF4-FFF2-40B4-BE49-F238E27FC236}">
                <a16:creationId xmlns:a16="http://schemas.microsoft.com/office/drawing/2014/main" id="{133D7E5C-5315-14AC-C302-E8D60A23281B}"/>
              </a:ext>
            </a:extLst>
          </p:cNvPr>
          <p:cNvSpPr txBox="1"/>
          <p:nvPr/>
        </p:nvSpPr>
        <p:spPr>
          <a:xfrm>
            <a:off x="7412029" y="5228847"/>
            <a:ext cx="426850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Supervisor: Dr. Manoj Kumar</a:t>
            </a:r>
            <a:endParaRPr lang="en-US"/>
          </a:p>
          <a:p>
            <a:r>
              <a:rPr lang="en-US">
                <a:ea typeface="Calibri"/>
                <a:cs typeface="Calibri"/>
              </a:rPr>
              <a:t>                     (</a:t>
            </a:r>
            <a:r>
              <a:rPr lang="en-US" sz="1400" b="1" i="1">
                <a:latin typeface="Calibri Light"/>
                <a:ea typeface="Calibri Light"/>
                <a:cs typeface="Calibri Light"/>
              </a:rPr>
              <a:t>Associate Professor</a:t>
            </a:r>
            <a:r>
              <a:rPr lang="en-US">
                <a:ea typeface="Calibri"/>
                <a:cs typeface="Calibri"/>
              </a:rPr>
              <a:t>)</a:t>
            </a:r>
          </a:p>
          <a:p>
            <a:r>
              <a:rPr lang="en-US" i="1">
                <a:ea typeface="Calibri"/>
                <a:cs typeface="Calibri"/>
              </a:rPr>
              <a:t>@</a:t>
            </a:r>
            <a:r>
              <a:rPr lang="en-US" sz="1600" i="1">
                <a:ea typeface="Calibri"/>
                <a:cs typeface="Calibri"/>
              </a:rPr>
              <a:t>Department of Computer Science</a:t>
            </a:r>
            <a:r>
              <a:rPr lang="en-US">
                <a:ea typeface="Calibri"/>
                <a:cs typeface="Calibri"/>
              </a:rPr>
              <a:t>  </a:t>
            </a:r>
          </a:p>
        </p:txBody>
      </p:sp>
    </p:spTree>
    <p:extLst>
      <p:ext uri="{BB962C8B-B14F-4D97-AF65-F5344CB8AC3E}">
        <p14:creationId xmlns:p14="http://schemas.microsoft.com/office/powerpoint/2010/main" val="1806941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B681951E-5D7E-3124-A11B-7BBEC093CCB5}"/>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40B19219-EE78-4525-76B3-363705EF4234}"/>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372DAFEF-4EAF-6D86-F8EE-9627637722C0}"/>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F7F9CF9A-B8EE-88F6-6341-1E56A0593C4B}"/>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E87E951D-69AC-0497-F75A-E87398AEE42E}"/>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FCBE7952-9F42-DB79-043F-122BA3954137}"/>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977D8112-D3E8-7F96-DE7A-EB8149528414}"/>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C75D1B8F-C061-2C3B-3DCA-5FFED1467F2B}"/>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75BCDE38-4DAD-3286-9EF5-539A87EC2E03}"/>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AABC0F8B-00C3-A135-4518-E586D4138806}"/>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6A947686-7853-C4AC-CF39-021DBF1242A9}"/>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2</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A5E7BE02-BE0C-776A-DFFC-1034B4196AD3}"/>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1A086716-FD11-E39C-26C4-0164FD4664CA}"/>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2" name="TextBox 1">
            <a:extLst>
              <a:ext uri="{FF2B5EF4-FFF2-40B4-BE49-F238E27FC236}">
                <a16:creationId xmlns:a16="http://schemas.microsoft.com/office/drawing/2014/main" id="{786D6DD7-7E95-FDB7-857B-15A256F4C98C}"/>
              </a:ext>
            </a:extLst>
          </p:cNvPr>
          <p:cNvSpPr txBox="1"/>
          <p:nvPr/>
        </p:nvSpPr>
        <p:spPr>
          <a:xfrm>
            <a:off x="3390617" y="680113"/>
            <a:ext cx="479197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Introduction &amp; Motivation</a:t>
            </a:r>
          </a:p>
        </p:txBody>
      </p:sp>
      <p:sp>
        <p:nvSpPr>
          <p:cNvPr id="4" name="TextBox 3">
            <a:extLst>
              <a:ext uri="{FF2B5EF4-FFF2-40B4-BE49-F238E27FC236}">
                <a16:creationId xmlns:a16="http://schemas.microsoft.com/office/drawing/2014/main" id="{00EB14A2-0B13-2B92-A6EA-BFB9BBB2C83E}"/>
              </a:ext>
            </a:extLst>
          </p:cNvPr>
          <p:cNvSpPr txBox="1"/>
          <p:nvPr/>
        </p:nvSpPr>
        <p:spPr>
          <a:xfrm>
            <a:off x="1126901" y="1566930"/>
            <a:ext cx="9105986" cy="54508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Introduction</a:t>
            </a:r>
            <a:endParaRPr lang="en-US" b="1">
              <a:ea typeface="Calibri"/>
              <a:cs typeface="Calibri"/>
            </a:endParaRPr>
          </a:p>
          <a:p>
            <a:pPr algn="just">
              <a:lnSpc>
                <a:spcPct val="150000"/>
              </a:lnSpc>
            </a:pPr>
            <a:r>
              <a:rPr lang="en-US">
                <a:ea typeface="+mn-lt"/>
                <a:cs typeface="+mn-lt"/>
              </a:rPr>
              <a:t>Deep Convolutional Neural Networks (CNNs) have achieved remarkable success in image classification tasks. Despite their high predictive performance, these models often behave as "black boxes," making it difficult to understand how decisions are made.</a:t>
            </a:r>
            <a:endParaRPr lang="en-US">
              <a:ea typeface="Calibri"/>
              <a:cs typeface="Calibri"/>
            </a:endParaRPr>
          </a:p>
          <a:p>
            <a:pPr>
              <a:lnSpc>
                <a:spcPct val="150000"/>
              </a:lnSpc>
            </a:pPr>
            <a:endParaRPr lang="en-US" dirty="0"/>
          </a:p>
          <a:p>
            <a:pPr>
              <a:lnSpc>
                <a:spcPct val="150000"/>
              </a:lnSpc>
            </a:pPr>
            <a:r>
              <a:rPr lang="en-US" b="1"/>
              <a:t>Motivation</a:t>
            </a:r>
            <a:endParaRPr lang="en-US" b="1">
              <a:ea typeface="Calibri"/>
              <a:cs typeface="Calibri"/>
            </a:endParaRPr>
          </a:p>
          <a:p>
            <a:pPr marL="285750" indent="-285750" algn="just">
              <a:lnSpc>
                <a:spcPct val="150000"/>
              </a:lnSpc>
              <a:buFont typeface="Arial"/>
              <a:buChar char="•"/>
            </a:pPr>
            <a:r>
              <a:rPr lang="en-US">
                <a:ea typeface="+mn-lt"/>
                <a:cs typeface="+mn-lt"/>
              </a:rPr>
              <a:t>High accuracy does not guarantee trust.</a:t>
            </a:r>
            <a:endParaRPr lang="en-US">
              <a:ea typeface="Calibri"/>
              <a:cs typeface="Calibri"/>
            </a:endParaRPr>
          </a:p>
          <a:p>
            <a:pPr marL="285750" indent="-285750" algn="just">
              <a:lnSpc>
                <a:spcPct val="150000"/>
              </a:lnSpc>
              <a:buFont typeface="Arial"/>
              <a:buChar char="•"/>
            </a:pPr>
            <a:r>
              <a:rPr lang="en-US">
                <a:ea typeface="+mn-lt"/>
                <a:cs typeface="+mn-lt"/>
              </a:rPr>
              <a:t>Critical domains require transparent decisions.</a:t>
            </a:r>
          </a:p>
          <a:p>
            <a:pPr marL="285750" indent="-285750" algn="just">
              <a:lnSpc>
                <a:spcPct val="150000"/>
              </a:lnSpc>
              <a:buFont typeface="Arial"/>
              <a:buChar char="•"/>
            </a:pPr>
            <a:r>
              <a:rPr lang="en-US">
                <a:ea typeface="+mn-lt"/>
                <a:cs typeface="+mn-lt"/>
              </a:rPr>
              <a:t>Explainability improves reliability and user confidence.</a:t>
            </a:r>
            <a:endParaRPr lang="en-US">
              <a:ea typeface="Calibri"/>
              <a:cs typeface="Calibri"/>
            </a:endParaRPr>
          </a:p>
          <a:p>
            <a:pPr marL="285750" indent="-285750" algn="just">
              <a:lnSpc>
                <a:spcPct val="150000"/>
              </a:lnSpc>
              <a:buFont typeface="Arial"/>
              <a:buChar char="•"/>
            </a:pPr>
            <a:r>
              <a:rPr lang="en-US" dirty="0">
                <a:ea typeface="+mn-lt"/>
                <a:cs typeface="+mn-lt"/>
              </a:rPr>
              <a:t>Understanding model behavior helps identify biases and errors.</a:t>
            </a:r>
            <a:endParaRPr lang="en-US" dirty="0">
              <a:ea typeface="Calibri"/>
              <a:cs typeface="Calibri"/>
            </a:endParaRPr>
          </a:p>
          <a:p>
            <a:pPr>
              <a:lnSpc>
                <a:spcPct val="150000"/>
              </a:lnSpc>
            </a:pPr>
            <a:endParaRPr lang="en-US" dirty="0">
              <a:ea typeface="Calibri"/>
              <a:cs typeface="Calibri"/>
            </a:endParaRPr>
          </a:p>
          <a:p>
            <a:pPr>
              <a:lnSpc>
                <a:spcPct val="150000"/>
              </a:lnSpc>
            </a:pPr>
            <a:endParaRPr lang="en-US" dirty="0">
              <a:ea typeface="Calibri"/>
              <a:cs typeface="Calibri"/>
            </a:endParaRPr>
          </a:p>
          <a:p>
            <a:pPr algn="ctr">
              <a:lnSpc>
                <a:spcPct val="150000"/>
              </a:lnSpc>
            </a:pPr>
            <a:endParaRPr lang="en-US" dirty="0">
              <a:ea typeface="Calibri"/>
              <a:cs typeface="Calibri"/>
            </a:endParaRPr>
          </a:p>
        </p:txBody>
      </p:sp>
    </p:spTree>
    <p:extLst>
      <p:ext uri="{BB962C8B-B14F-4D97-AF65-F5344CB8AC3E}">
        <p14:creationId xmlns:p14="http://schemas.microsoft.com/office/powerpoint/2010/main" val="3915511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7D864B71-1708-B403-51D2-609999D540A1}"/>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9FDBC5F7-23B9-3360-FEC4-E92164B4C313}"/>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48313A2B-0140-0D6D-FD3B-276598434462}"/>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0BD0E127-7827-C46B-E82E-667E9E4A088D}"/>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9BB441E9-F0B0-0D65-251B-C87A2E41FBCA}"/>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F4EB8C65-FDF1-5F6F-E40C-A9B26035DCF0}"/>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62F7B2E6-9970-BF74-C157-9D881F31E566}"/>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A3FC21A6-AF8E-AB38-9EE3-2B178126FA85}"/>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3540F685-8CC6-777A-B1B0-C38F053A2698}"/>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7C1FA0E5-715C-C93C-F8D3-C21F9A06B9E0}"/>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96936069-36D0-D142-084C-9CA779A7F005}"/>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3</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E351E6A8-E259-26E5-BA81-ED38F04CE00C}"/>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A80C0F03-673D-2D4E-CD6A-1331853E4DB9}"/>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696013EA-2AD8-A6CF-240A-79DB1CD48E0A}"/>
              </a:ext>
            </a:extLst>
          </p:cNvPr>
          <p:cNvSpPr txBox="1"/>
          <p:nvPr/>
        </p:nvSpPr>
        <p:spPr>
          <a:xfrm>
            <a:off x="3297548" y="680113"/>
            <a:ext cx="559468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a:cs typeface="Calibri"/>
              </a:rPr>
              <a:t>Problem Statement &amp; </a:t>
            </a:r>
            <a:r>
              <a:rPr lang="en-US" sz="2800" b="1">
                <a:ea typeface="Calibri"/>
                <a:cs typeface="Calibri"/>
              </a:rPr>
              <a:t>Research Gap</a:t>
            </a:r>
            <a:endParaRPr lang="en-US" sz="2800" b="1" dirty="0">
              <a:ea typeface="Calibri"/>
              <a:cs typeface="Calibri"/>
            </a:endParaRPr>
          </a:p>
        </p:txBody>
      </p:sp>
      <p:sp>
        <p:nvSpPr>
          <p:cNvPr id="10" name="TextBox 9">
            <a:extLst>
              <a:ext uri="{FF2B5EF4-FFF2-40B4-BE49-F238E27FC236}">
                <a16:creationId xmlns:a16="http://schemas.microsoft.com/office/drawing/2014/main" id="{63E1EC43-B813-2277-41BD-7DD857597B06}"/>
              </a:ext>
            </a:extLst>
          </p:cNvPr>
          <p:cNvSpPr txBox="1"/>
          <p:nvPr/>
        </p:nvSpPr>
        <p:spPr>
          <a:xfrm>
            <a:off x="1122640" y="1381489"/>
            <a:ext cx="9271970" cy="50353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Problem Statement</a:t>
            </a:r>
            <a:endParaRPr lang="en-US" b="1">
              <a:ea typeface="Calibri"/>
              <a:cs typeface="Calibri"/>
            </a:endParaRPr>
          </a:p>
          <a:p>
            <a:pPr algn="just">
              <a:lnSpc>
                <a:spcPct val="150000"/>
              </a:lnSpc>
            </a:pPr>
            <a:r>
              <a:rPr lang="en-US" dirty="0"/>
              <a:t>Deep learning models provide accurate predictions but lack interpretability. Different Explainable AI techniques often generate different explanations for the same prediction.</a:t>
            </a:r>
            <a:endParaRPr lang="en-US" dirty="0">
              <a:ea typeface="Calibri"/>
              <a:cs typeface="Calibri"/>
            </a:endParaRPr>
          </a:p>
          <a:p>
            <a:pPr algn="just">
              <a:lnSpc>
                <a:spcPct val="150000"/>
              </a:lnSpc>
            </a:pPr>
            <a:r>
              <a:rPr lang="en-US" b="1"/>
              <a:t>Research Gap</a:t>
            </a:r>
            <a:endParaRPr lang="en-US" b="1">
              <a:ea typeface="Calibri"/>
              <a:cs typeface="Calibri"/>
            </a:endParaRPr>
          </a:p>
          <a:p>
            <a:pPr algn="just">
              <a:lnSpc>
                <a:spcPct val="150000"/>
              </a:lnSpc>
            </a:pPr>
            <a:r>
              <a:rPr lang="en-US"/>
              <a:t>Existing studies:</a:t>
            </a:r>
            <a:endParaRPr lang="en-US" dirty="0">
              <a:ea typeface="Calibri"/>
              <a:cs typeface="Calibri"/>
            </a:endParaRPr>
          </a:p>
          <a:p>
            <a:pPr algn="just">
              <a:lnSpc>
                <a:spcPct val="150000"/>
              </a:lnSpc>
              <a:buFont typeface=""/>
              <a:buChar char="•"/>
            </a:pPr>
            <a:r>
              <a:rPr lang="en-US"/>
              <a:t>Evaluate individual XAI methods separately.</a:t>
            </a:r>
            <a:endParaRPr lang="en-US" dirty="0">
              <a:ea typeface="Calibri"/>
              <a:cs typeface="Calibri"/>
            </a:endParaRPr>
          </a:p>
          <a:p>
            <a:pPr algn="just">
              <a:lnSpc>
                <a:spcPct val="150000"/>
              </a:lnSpc>
              <a:buFont typeface=""/>
              <a:buChar char="•"/>
            </a:pPr>
            <a:r>
              <a:rPr lang="en-US"/>
              <a:t>Use different datasets and architectures.</a:t>
            </a:r>
            <a:endParaRPr lang="en-US" dirty="0">
              <a:ea typeface="Calibri"/>
              <a:cs typeface="Calibri"/>
            </a:endParaRPr>
          </a:p>
          <a:p>
            <a:pPr algn="just">
              <a:lnSpc>
                <a:spcPct val="150000"/>
              </a:lnSpc>
              <a:buFont typeface=""/>
              <a:buChar char="•"/>
            </a:pPr>
            <a:r>
              <a:rPr lang="en-US"/>
              <a:t>Lack standardized evaluation criteria.</a:t>
            </a:r>
            <a:endParaRPr lang="en-US" dirty="0">
              <a:ea typeface="Calibri"/>
              <a:cs typeface="Calibri"/>
            </a:endParaRPr>
          </a:p>
          <a:p>
            <a:pPr algn="just">
              <a:lnSpc>
                <a:spcPct val="150000"/>
              </a:lnSpc>
              <a:buFont typeface=""/>
              <a:buChar char="•"/>
            </a:pPr>
            <a:r>
              <a:rPr lang="en-US"/>
              <a:t>Rarely compare methods under identical conditions.</a:t>
            </a:r>
            <a:endParaRPr lang="en-US" dirty="0">
              <a:ea typeface="Calibri"/>
              <a:cs typeface="Calibri"/>
            </a:endParaRPr>
          </a:p>
          <a:p>
            <a:pPr algn="just">
              <a:lnSpc>
                <a:spcPct val="150000"/>
              </a:lnSpc>
            </a:pPr>
            <a:r>
              <a:rPr lang="en-US" b="1"/>
              <a:t>Research Goal</a:t>
            </a:r>
            <a:endParaRPr lang="en-US" b="1">
              <a:ea typeface="Calibri"/>
              <a:cs typeface="Calibri"/>
            </a:endParaRPr>
          </a:p>
          <a:p>
            <a:pPr algn="just">
              <a:lnSpc>
                <a:spcPct val="150000"/>
              </a:lnSpc>
            </a:pPr>
            <a:r>
              <a:rPr lang="en-US" dirty="0"/>
              <a:t>To systematically compare Grad-CAM, LIME, and SHAP using a unified </a:t>
            </a:r>
            <a:r>
              <a:rPr lang="en-US"/>
              <a:t>framework</a:t>
            </a:r>
            <a:endParaRPr lang="en-US" dirty="0" err="1">
              <a:ea typeface="Calibri"/>
              <a:cs typeface="Calibri"/>
            </a:endParaRPr>
          </a:p>
          <a:p>
            <a:pPr algn="ctr">
              <a:lnSpc>
                <a:spcPct val="150000"/>
              </a:lnSpc>
            </a:pPr>
            <a:endParaRPr lang="en-US" dirty="0">
              <a:ea typeface="Calibri"/>
              <a:cs typeface="Calibri"/>
            </a:endParaRPr>
          </a:p>
        </p:txBody>
      </p:sp>
    </p:spTree>
    <p:extLst>
      <p:ext uri="{BB962C8B-B14F-4D97-AF65-F5344CB8AC3E}">
        <p14:creationId xmlns:p14="http://schemas.microsoft.com/office/powerpoint/2010/main" val="3742947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36956481-B07F-6137-D5ED-FE46716B2C6D}"/>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9257211E-9740-3E74-EE30-F63A1469A1B0}"/>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B3133F23-4954-D017-084E-678FD59C8871}"/>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2AD38424-5EDE-45CB-9F63-20B71E05185C}"/>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B7630060-4265-AD8E-A224-AB9444B2526E}"/>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BA0114B1-E916-E31A-2EA4-74F99F681C1C}"/>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63DE3390-6FD7-96E1-1596-632351FE2325}"/>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0AC0D921-9418-0096-86E9-EBE2F40E0C79}"/>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08476586-22AB-7262-E84F-A69246404855}"/>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DA56FA55-BDD7-5B1F-2157-3A653A462051}"/>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6DEBFB37-556D-FA00-32A5-035CD244D7E0}"/>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4</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55C37E24-88BD-2599-9283-705CEF5F8728}"/>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33FD0CD5-D192-D8C5-177E-900E5BD1467C}"/>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5" name="TextBox 4">
            <a:extLst>
              <a:ext uri="{FF2B5EF4-FFF2-40B4-BE49-F238E27FC236}">
                <a16:creationId xmlns:a16="http://schemas.microsoft.com/office/drawing/2014/main" id="{F690C5F7-4BBA-DC5A-3F42-0E52751A1CC8}"/>
              </a:ext>
            </a:extLst>
          </p:cNvPr>
          <p:cNvSpPr txBox="1"/>
          <p:nvPr/>
        </p:nvSpPr>
        <p:spPr>
          <a:xfrm>
            <a:off x="3941492" y="680113"/>
            <a:ext cx="369505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a:cs typeface="Calibri"/>
              </a:rPr>
              <a:t> </a:t>
            </a:r>
            <a:r>
              <a:rPr lang="en-US" sz="2800" b="1">
                <a:ea typeface="Calibri"/>
                <a:cs typeface="Calibri"/>
              </a:rPr>
              <a:t>Research Objectives</a:t>
            </a:r>
            <a:endParaRPr lang="en-US" sz="2800" b="1" dirty="0">
              <a:ea typeface="Calibri"/>
              <a:cs typeface="Calibri"/>
            </a:endParaRPr>
          </a:p>
        </p:txBody>
      </p:sp>
      <p:sp>
        <p:nvSpPr>
          <p:cNvPr id="6" name="TextBox 5">
            <a:extLst>
              <a:ext uri="{FF2B5EF4-FFF2-40B4-BE49-F238E27FC236}">
                <a16:creationId xmlns:a16="http://schemas.microsoft.com/office/drawing/2014/main" id="{A40E82BA-E504-2184-AE7F-92C07F00D0C8}"/>
              </a:ext>
            </a:extLst>
          </p:cNvPr>
          <p:cNvSpPr txBox="1"/>
          <p:nvPr/>
        </p:nvSpPr>
        <p:spPr>
          <a:xfrm>
            <a:off x="1126901" y="1373746"/>
            <a:ext cx="8923985" cy="50353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Main Objective</a:t>
            </a:r>
            <a:endParaRPr lang="en-US" b="1">
              <a:ea typeface="Calibri"/>
              <a:cs typeface="Calibri"/>
            </a:endParaRPr>
          </a:p>
          <a:p>
            <a:pPr>
              <a:lnSpc>
                <a:spcPct val="150000"/>
              </a:lnSpc>
            </a:pPr>
            <a:r>
              <a:rPr lang="en-US"/>
              <a:t>Develop an explainable image classification framework and evaluate major XAI techniques.</a:t>
            </a:r>
            <a:endParaRPr lang="en-US" dirty="0">
              <a:ea typeface="Calibri"/>
              <a:cs typeface="Calibri"/>
            </a:endParaRPr>
          </a:p>
          <a:p>
            <a:pPr>
              <a:lnSpc>
                <a:spcPct val="150000"/>
              </a:lnSpc>
            </a:pPr>
            <a:r>
              <a:rPr lang="en-US" b="1"/>
              <a:t>Specific Objectives</a:t>
            </a:r>
            <a:endParaRPr lang="en-US" b="1">
              <a:ea typeface="Calibri"/>
              <a:cs typeface="Calibri"/>
            </a:endParaRPr>
          </a:p>
          <a:p>
            <a:pPr>
              <a:lnSpc>
                <a:spcPct val="150000"/>
              </a:lnSpc>
              <a:buFont typeface=""/>
              <a:buChar char="•"/>
            </a:pPr>
            <a:r>
              <a:rPr lang="en-US"/>
              <a:t> Train a ResNet-18 image classifier.</a:t>
            </a:r>
            <a:endParaRPr lang="en-US" dirty="0">
              <a:ea typeface="Calibri"/>
              <a:cs typeface="Calibri"/>
            </a:endParaRPr>
          </a:p>
          <a:p>
            <a:pPr>
              <a:lnSpc>
                <a:spcPct val="150000"/>
              </a:lnSpc>
              <a:buFont typeface=""/>
              <a:buChar char="•"/>
            </a:pPr>
            <a:r>
              <a:rPr lang="en-US"/>
              <a:t> Generate explanations using Grad-CAM.</a:t>
            </a:r>
            <a:endParaRPr lang="en-US" dirty="0">
              <a:ea typeface="Calibri"/>
              <a:cs typeface="Calibri"/>
            </a:endParaRPr>
          </a:p>
          <a:p>
            <a:pPr>
              <a:lnSpc>
                <a:spcPct val="150000"/>
              </a:lnSpc>
              <a:buFont typeface=""/>
              <a:buChar char="•"/>
            </a:pPr>
            <a:r>
              <a:rPr lang="en-US"/>
              <a:t> Generate explanations using LIME.</a:t>
            </a:r>
            <a:endParaRPr lang="en-US" dirty="0">
              <a:ea typeface="Calibri"/>
              <a:cs typeface="Calibri"/>
            </a:endParaRPr>
          </a:p>
          <a:p>
            <a:pPr>
              <a:lnSpc>
                <a:spcPct val="150000"/>
              </a:lnSpc>
              <a:buFont typeface=""/>
              <a:buChar char="•"/>
            </a:pPr>
            <a:r>
              <a:rPr lang="en-US"/>
              <a:t> Generate explanations using SHAP.</a:t>
            </a:r>
            <a:endParaRPr lang="en-US" dirty="0">
              <a:ea typeface="Calibri"/>
              <a:cs typeface="Calibri"/>
            </a:endParaRPr>
          </a:p>
          <a:p>
            <a:pPr>
              <a:lnSpc>
                <a:spcPct val="150000"/>
              </a:lnSpc>
              <a:buFont typeface=""/>
              <a:buChar char="•"/>
            </a:pPr>
            <a:r>
              <a:rPr lang="en-US"/>
              <a:t> Evaluate explanation quality using multiple metrics.</a:t>
            </a:r>
            <a:endParaRPr lang="en-US" dirty="0">
              <a:ea typeface="Calibri"/>
              <a:cs typeface="Calibri"/>
            </a:endParaRPr>
          </a:p>
          <a:p>
            <a:pPr>
              <a:lnSpc>
                <a:spcPct val="150000"/>
              </a:lnSpc>
              <a:buFont typeface=""/>
              <a:buChar char="•"/>
            </a:pPr>
            <a:r>
              <a:rPr lang="en-US" dirty="0"/>
              <a:t> Identify strengths and limitations of each method.</a:t>
            </a:r>
            <a:endParaRPr lang="en-US" dirty="0">
              <a:ea typeface="Calibri"/>
              <a:cs typeface="Calibri"/>
            </a:endParaRPr>
          </a:p>
          <a:p>
            <a:pPr>
              <a:lnSpc>
                <a:spcPct val="150000"/>
              </a:lnSpc>
            </a:pPr>
            <a:r>
              <a:rPr lang="en-US" b="1"/>
              <a:t>Simple objective flow diagram</a:t>
            </a:r>
            <a:endParaRPr lang="en-US" b="1" dirty="0">
              <a:ea typeface="Calibri"/>
              <a:cs typeface="Calibri"/>
            </a:endParaRPr>
          </a:p>
          <a:p>
            <a:pPr>
              <a:lnSpc>
                <a:spcPct val="150000"/>
              </a:lnSpc>
            </a:pPr>
            <a:r>
              <a:rPr lang="en-US"/>
              <a:t>Objectives → Training → Explanation → Evaluation</a:t>
            </a:r>
            <a:endParaRPr lang="en-US" dirty="0">
              <a:ea typeface="Calibri"/>
              <a:cs typeface="Calibri"/>
            </a:endParaRPr>
          </a:p>
          <a:p>
            <a:pPr algn="ctr">
              <a:lnSpc>
                <a:spcPct val="150000"/>
              </a:lnSpc>
            </a:pPr>
            <a:endParaRPr lang="en-US" dirty="0">
              <a:ea typeface="Calibri"/>
              <a:cs typeface="Calibri"/>
            </a:endParaRPr>
          </a:p>
        </p:txBody>
      </p:sp>
    </p:spTree>
    <p:extLst>
      <p:ext uri="{BB962C8B-B14F-4D97-AF65-F5344CB8AC3E}">
        <p14:creationId xmlns:p14="http://schemas.microsoft.com/office/powerpoint/2010/main" val="2071976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FAF4DCEB-0BD0-D168-FE00-0E6EFAC48E49}"/>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1F9F0D84-F9E8-D09B-1B0A-701B9C0E9C95}"/>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04974141-CB34-4776-BCFE-C2F12DEC0ED1}"/>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937AA68B-C756-3CAE-C67B-70BC5F714D30}"/>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5663F8E0-7865-047E-996C-70E44738DBF3}"/>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12A1B5B1-B1B4-B3DF-6C1D-E04DDBDC0B77}"/>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06CE67F4-0FF8-FD7C-5733-5FB87962871C}"/>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940A85EC-9480-252F-C324-54EE48D13A4D}"/>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7E3054BE-4C60-F726-F7D4-FEC0C2EC5FC2}"/>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A8B5981A-5A06-86E7-D6C7-C3D20FC806AA}"/>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F5F2623F-7FE2-4035-D652-BF44EB5B2E12}"/>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5</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5F3DBC6E-88D3-19B0-F814-859640BF8001}"/>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C0A43626-B0B4-A86F-BFB5-0EABE0BB90A3}"/>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49899CA2-079E-42D0-DB8D-8BEDDE839F06}"/>
              </a:ext>
            </a:extLst>
          </p:cNvPr>
          <p:cNvSpPr txBox="1"/>
          <p:nvPr/>
        </p:nvSpPr>
        <p:spPr>
          <a:xfrm>
            <a:off x="3941492" y="680113"/>
            <a:ext cx="302428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 Literature Review</a:t>
            </a:r>
          </a:p>
        </p:txBody>
      </p:sp>
      <p:sp>
        <p:nvSpPr>
          <p:cNvPr id="5" name="TextBox 4">
            <a:extLst>
              <a:ext uri="{FF2B5EF4-FFF2-40B4-BE49-F238E27FC236}">
                <a16:creationId xmlns:a16="http://schemas.microsoft.com/office/drawing/2014/main" id="{84A1568D-4201-45D9-C503-1FE64CA7B562}"/>
              </a:ext>
            </a:extLst>
          </p:cNvPr>
          <p:cNvSpPr txBox="1"/>
          <p:nvPr/>
        </p:nvSpPr>
        <p:spPr>
          <a:xfrm>
            <a:off x="1126901" y="1405944"/>
            <a:ext cx="7979534" cy="54508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Evolution of CNN Architectures</a:t>
            </a:r>
            <a:endParaRPr lang="en-US" b="1">
              <a:ea typeface="Calibri"/>
              <a:cs typeface="Calibri"/>
            </a:endParaRPr>
          </a:p>
          <a:p>
            <a:pPr>
              <a:lnSpc>
                <a:spcPct val="150000"/>
              </a:lnSpc>
              <a:buFont typeface=""/>
              <a:buChar char="•"/>
            </a:pPr>
            <a:r>
              <a:rPr lang="en-US" dirty="0"/>
              <a:t> </a:t>
            </a:r>
            <a:r>
              <a:rPr lang="en-US" dirty="0" err="1"/>
              <a:t>AlexNet</a:t>
            </a:r>
            <a:r>
              <a:rPr lang="en-US" dirty="0"/>
              <a:t> introduced deep CNNs.</a:t>
            </a:r>
            <a:endParaRPr lang="en-US" dirty="0">
              <a:ea typeface="Calibri"/>
              <a:cs typeface="Calibri"/>
            </a:endParaRPr>
          </a:p>
          <a:p>
            <a:pPr>
              <a:lnSpc>
                <a:spcPct val="150000"/>
              </a:lnSpc>
              <a:buFont typeface=""/>
              <a:buChar char="•"/>
            </a:pPr>
            <a:r>
              <a:rPr lang="en-US"/>
              <a:t> VGG improved feature extraction depth.</a:t>
            </a:r>
            <a:endParaRPr lang="en-US" dirty="0">
              <a:ea typeface="Calibri"/>
              <a:cs typeface="Calibri"/>
            </a:endParaRPr>
          </a:p>
          <a:p>
            <a:pPr>
              <a:lnSpc>
                <a:spcPct val="150000"/>
              </a:lnSpc>
              <a:buFont typeface=""/>
              <a:buChar char="•"/>
            </a:pPr>
            <a:r>
              <a:rPr lang="en-US"/>
              <a:t> Inception increased computational efficiency.</a:t>
            </a:r>
            <a:endParaRPr lang="en-US" dirty="0">
              <a:ea typeface="Calibri"/>
              <a:cs typeface="Calibri"/>
            </a:endParaRPr>
          </a:p>
          <a:p>
            <a:pPr>
              <a:lnSpc>
                <a:spcPct val="150000"/>
              </a:lnSpc>
              <a:buFont typeface=""/>
              <a:buChar char="•"/>
            </a:pPr>
            <a:r>
              <a:rPr lang="en-US" dirty="0"/>
              <a:t> </a:t>
            </a:r>
            <a:r>
              <a:rPr lang="en-US" dirty="0" err="1"/>
              <a:t>ResNet</a:t>
            </a:r>
            <a:r>
              <a:rPr lang="en-US" dirty="0"/>
              <a:t> solved vanishing gradient problems using residual learning.</a:t>
            </a:r>
            <a:endParaRPr lang="en-US" dirty="0">
              <a:ea typeface="Calibri"/>
              <a:cs typeface="Calibri"/>
            </a:endParaRPr>
          </a:p>
          <a:p>
            <a:pPr>
              <a:lnSpc>
                <a:spcPct val="150000"/>
              </a:lnSpc>
            </a:pPr>
            <a:r>
              <a:rPr lang="en-US" b="1"/>
              <a:t>Evolution of Explainability</a:t>
            </a:r>
            <a:endParaRPr lang="en-US" b="1">
              <a:ea typeface="Calibri"/>
              <a:cs typeface="Calibri"/>
            </a:endParaRPr>
          </a:p>
          <a:p>
            <a:pPr>
              <a:lnSpc>
                <a:spcPct val="150000"/>
              </a:lnSpc>
              <a:buFont typeface=""/>
              <a:buChar char="•"/>
            </a:pPr>
            <a:r>
              <a:rPr lang="en-US"/>
              <a:t> Saliency Maps</a:t>
            </a:r>
            <a:endParaRPr lang="en-US" dirty="0">
              <a:ea typeface="Calibri"/>
              <a:cs typeface="Calibri"/>
            </a:endParaRPr>
          </a:p>
          <a:p>
            <a:pPr>
              <a:lnSpc>
                <a:spcPct val="150000"/>
              </a:lnSpc>
              <a:buFont typeface=""/>
              <a:buChar char="•"/>
            </a:pPr>
            <a:r>
              <a:rPr lang="en-US"/>
              <a:t> Grad-CAM</a:t>
            </a:r>
            <a:endParaRPr lang="en-US" dirty="0">
              <a:ea typeface="Calibri"/>
              <a:cs typeface="Calibri"/>
            </a:endParaRPr>
          </a:p>
          <a:p>
            <a:pPr>
              <a:lnSpc>
                <a:spcPct val="150000"/>
              </a:lnSpc>
              <a:buFont typeface=""/>
              <a:buChar char="•"/>
            </a:pPr>
            <a:r>
              <a:rPr lang="en-US"/>
              <a:t> LIME</a:t>
            </a:r>
            <a:endParaRPr lang="en-US" dirty="0">
              <a:ea typeface="Calibri"/>
              <a:cs typeface="Calibri"/>
            </a:endParaRPr>
          </a:p>
          <a:p>
            <a:pPr>
              <a:lnSpc>
                <a:spcPct val="150000"/>
              </a:lnSpc>
              <a:buFont typeface=""/>
              <a:buChar char="•"/>
            </a:pPr>
            <a:r>
              <a:rPr lang="en-US"/>
              <a:t> SHAP</a:t>
            </a:r>
            <a:endParaRPr lang="en-US" dirty="0">
              <a:ea typeface="Calibri"/>
              <a:cs typeface="Calibri"/>
            </a:endParaRPr>
          </a:p>
          <a:p>
            <a:pPr>
              <a:lnSpc>
                <a:spcPct val="150000"/>
              </a:lnSpc>
              <a:buFont typeface=""/>
              <a:buChar char="•"/>
            </a:pPr>
            <a:r>
              <a:rPr lang="en-US"/>
              <a:t> Integrated Gradients</a:t>
            </a:r>
            <a:endParaRPr lang="en-US" dirty="0">
              <a:ea typeface="Calibri"/>
              <a:cs typeface="Calibri"/>
            </a:endParaRPr>
          </a:p>
          <a:p>
            <a:pPr>
              <a:lnSpc>
                <a:spcPct val="150000"/>
              </a:lnSpc>
            </a:pPr>
            <a:endParaRPr lang="en-US" b="1" dirty="0">
              <a:ea typeface="Calibri"/>
              <a:cs typeface="Calibri"/>
            </a:endParaRPr>
          </a:p>
          <a:p>
            <a:pPr algn="ctr">
              <a:lnSpc>
                <a:spcPct val="150000"/>
              </a:lnSpc>
            </a:pPr>
            <a:endParaRPr lang="en-US" dirty="0">
              <a:ea typeface="Calibri"/>
              <a:cs typeface="Calibri"/>
            </a:endParaRPr>
          </a:p>
        </p:txBody>
      </p:sp>
    </p:spTree>
    <p:extLst>
      <p:ext uri="{BB962C8B-B14F-4D97-AF65-F5344CB8AC3E}">
        <p14:creationId xmlns:p14="http://schemas.microsoft.com/office/powerpoint/2010/main" val="1289601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B6805FE8-7B8A-495D-E6F9-424E3A6CD510}"/>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FDCE09E8-6BC4-4B9B-33EF-F27B6BFA2494}"/>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69E5C45F-6B15-117A-9FAE-50F71A7AF1AB}"/>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538D42ED-C8C6-5CC3-D04E-B4307E22ED1C}"/>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97930B0D-3E15-14D9-EA55-B899FB0A0676}"/>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2FCF72DB-3546-676F-0906-C4ECC1892B6C}"/>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B1BAA24A-E959-F416-416E-BCA264504044}"/>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8D0BA5AB-0409-DBD5-ED5B-EB039459A5A3}"/>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7B8F5DB7-6471-B921-868E-3B28D6026AD5}"/>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9FC4C69A-8004-175A-EEFF-BC4A50EC9A2D}"/>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68865D00-0CA7-0873-7B3F-332676D558DF}"/>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6</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6B805F58-BF6B-3F4C-23E5-5B71853FDAD7}"/>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627A53EE-4AF2-3AD2-963B-ACD1C044D891}"/>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FE0435A6-85EA-559F-9B92-89E427F422F5}"/>
              </a:ext>
            </a:extLst>
          </p:cNvPr>
          <p:cNvSpPr txBox="1"/>
          <p:nvPr/>
        </p:nvSpPr>
        <p:spPr>
          <a:xfrm>
            <a:off x="3941492" y="680113"/>
            <a:ext cx="32013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 Dataset Description</a:t>
            </a:r>
          </a:p>
        </p:txBody>
      </p:sp>
      <p:sp>
        <p:nvSpPr>
          <p:cNvPr id="5" name="TextBox 4">
            <a:extLst>
              <a:ext uri="{FF2B5EF4-FFF2-40B4-BE49-F238E27FC236}">
                <a16:creationId xmlns:a16="http://schemas.microsoft.com/office/drawing/2014/main" id="{D0894BBA-97E5-5B29-8738-67CA817E775B}"/>
              </a:ext>
            </a:extLst>
          </p:cNvPr>
          <p:cNvSpPr txBox="1"/>
          <p:nvPr/>
        </p:nvSpPr>
        <p:spPr>
          <a:xfrm>
            <a:off x="1126901" y="1282521"/>
            <a:ext cx="8848858" cy="12958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dirty="0" err="1"/>
              <a:t>Cats</a:t>
            </a:r>
            <a:r>
              <a:rPr lang="en-US" b="1" dirty="0"/>
              <a:t> vs Dogs Dataset</a:t>
            </a:r>
            <a:endParaRPr lang="en-US" b="1" dirty="0">
              <a:ea typeface="Calibri"/>
              <a:cs typeface="Calibri"/>
            </a:endParaRPr>
          </a:p>
          <a:p>
            <a:pPr>
              <a:lnSpc>
                <a:spcPct val="150000"/>
              </a:lnSpc>
            </a:pPr>
            <a:r>
              <a:rPr lang="en-US" dirty="0"/>
              <a:t>The dataset contains images of cats and dogs collected for binary image classification.</a:t>
            </a:r>
            <a:endParaRPr lang="en-US" dirty="0">
              <a:ea typeface="Calibri"/>
              <a:cs typeface="Calibri"/>
            </a:endParaRPr>
          </a:p>
          <a:p>
            <a:pPr algn="ctr">
              <a:lnSpc>
                <a:spcPct val="150000"/>
              </a:lnSpc>
            </a:pPr>
            <a:endParaRPr lang="en-US" dirty="0">
              <a:ea typeface="Calibri"/>
              <a:cs typeface="Calibri"/>
            </a:endParaRPr>
          </a:p>
        </p:txBody>
      </p:sp>
      <p:graphicFrame>
        <p:nvGraphicFramePr>
          <p:cNvPr id="8" name="Table 7">
            <a:extLst>
              <a:ext uri="{FF2B5EF4-FFF2-40B4-BE49-F238E27FC236}">
                <a16:creationId xmlns:a16="http://schemas.microsoft.com/office/drawing/2014/main" id="{1A72CFF6-F15D-EC40-2BB8-3DC1542366E9}"/>
              </a:ext>
            </a:extLst>
          </p:cNvPr>
          <p:cNvGraphicFramePr>
            <a:graphicFrameLocks noGrp="1"/>
          </p:cNvGraphicFramePr>
          <p:nvPr>
            <p:extLst>
              <p:ext uri="{D42A27DB-BD31-4B8C-83A1-F6EECF244321}">
                <p14:modId xmlns:p14="http://schemas.microsoft.com/office/powerpoint/2010/main" val="2678292625"/>
              </p:ext>
            </p:extLst>
          </p:nvPr>
        </p:nvGraphicFramePr>
        <p:xfrm>
          <a:off x="1244957" y="2296732"/>
          <a:ext cx="7701396" cy="1463040"/>
        </p:xfrm>
        <a:graphic>
          <a:graphicData uri="http://schemas.openxmlformats.org/drawingml/2006/table">
            <a:tbl>
              <a:tblPr bandRow="1">
                <a:tableStyleId>{5C22544A-7EE6-4342-B048-85BDC9FD1C3A}</a:tableStyleId>
              </a:tblPr>
              <a:tblGrid>
                <a:gridCol w="3850698">
                  <a:extLst>
                    <a:ext uri="{9D8B030D-6E8A-4147-A177-3AD203B41FA5}">
                      <a16:colId xmlns:a16="http://schemas.microsoft.com/office/drawing/2014/main" val="759037254"/>
                    </a:ext>
                  </a:extLst>
                </a:gridCol>
                <a:gridCol w="3850698">
                  <a:extLst>
                    <a:ext uri="{9D8B030D-6E8A-4147-A177-3AD203B41FA5}">
                      <a16:colId xmlns:a16="http://schemas.microsoft.com/office/drawing/2014/main" val="820891177"/>
                    </a:ext>
                  </a:extLst>
                </a:gridCol>
              </a:tblGrid>
              <a:tr h="0">
                <a:tc>
                  <a:txBody>
                    <a:bodyPr/>
                    <a:lstStyle/>
                    <a:p>
                      <a:pPr>
                        <a:buNone/>
                      </a:pPr>
                      <a:r>
                        <a:rPr lang="en-US">
                          <a:solidFill>
                            <a:schemeClr val="tx1"/>
                          </a:solidFill>
                          <a:effectLst/>
                        </a:rPr>
                        <a:t>Category</a:t>
                      </a:r>
                    </a:p>
                  </a:txBody>
                  <a:tcPr anchor="ctr">
                    <a:lnL>
                      <a:noFill/>
                    </a:lnL>
                    <a:lnR>
                      <a:noFill/>
                    </a:lnR>
                    <a:lnT>
                      <a:noFill/>
                    </a:lnT>
                    <a:lnB>
                      <a:noFill/>
                    </a:lnB>
                    <a:noFill/>
                  </a:tcPr>
                </a:tc>
                <a:tc>
                  <a:txBody>
                    <a:bodyPr/>
                    <a:lstStyle/>
                    <a:p>
                      <a:pPr>
                        <a:buNone/>
                      </a:pPr>
                      <a:r>
                        <a:rPr lang="en-US">
                          <a:solidFill>
                            <a:schemeClr val="tx1"/>
                          </a:solidFill>
                          <a:effectLst/>
                        </a:rPr>
                        <a:t>Images</a:t>
                      </a:r>
                    </a:p>
                  </a:txBody>
                  <a:tcPr anchor="ctr">
                    <a:lnL>
                      <a:noFill/>
                    </a:lnL>
                    <a:lnR>
                      <a:noFill/>
                    </a:lnR>
                    <a:lnT>
                      <a:noFill/>
                    </a:lnT>
                    <a:lnB>
                      <a:noFill/>
                    </a:lnB>
                    <a:noFill/>
                  </a:tcPr>
                </a:tc>
                <a:extLst>
                  <a:ext uri="{0D108BD9-81ED-4DB2-BD59-A6C34878D82A}">
                    <a16:rowId xmlns:a16="http://schemas.microsoft.com/office/drawing/2014/main" val="1170937287"/>
                  </a:ext>
                </a:extLst>
              </a:tr>
              <a:tr h="0">
                <a:tc>
                  <a:txBody>
                    <a:bodyPr/>
                    <a:lstStyle/>
                    <a:p>
                      <a:pPr>
                        <a:buNone/>
                      </a:pPr>
                      <a:r>
                        <a:rPr lang="en-US">
                          <a:solidFill>
                            <a:schemeClr val="tx1"/>
                          </a:solidFill>
                          <a:effectLst/>
                        </a:rPr>
                        <a:t>Cats</a:t>
                      </a:r>
                    </a:p>
                  </a:txBody>
                  <a:tcPr anchor="ctr">
                    <a:lnL>
                      <a:noFill/>
                    </a:lnL>
                    <a:lnR>
                      <a:noFill/>
                    </a:lnR>
                    <a:lnT>
                      <a:noFill/>
                    </a:lnT>
                    <a:lnB>
                      <a:noFill/>
                    </a:lnB>
                    <a:noFill/>
                  </a:tcPr>
                </a:tc>
                <a:tc>
                  <a:txBody>
                    <a:bodyPr/>
                    <a:lstStyle/>
                    <a:p>
                      <a:pPr>
                        <a:buNone/>
                      </a:pPr>
                      <a:r>
                        <a:rPr lang="en-US">
                          <a:solidFill>
                            <a:schemeClr val="tx1"/>
                          </a:solidFill>
                          <a:effectLst/>
                        </a:rPr>
                        <a:t>2000</a:t>
                      </a:r>
                    </a:p>
                  </a:txBody>
                  <a:tcPr anchor="ctr">
                    <a:lnL>
                      <a:noFill/>
                    </a:lnL>
                    <a:lnR>
                      <a:noFill/>
                    </a:lnR>
                    <a:lnT>
                      <a:noFill/>
                    </a:lnT>
                    <a:lnB>
                      <a:noFill/>
                    </a:lnB>
                    <a:noFill/>
                  </a:tcPr>
                </a:tc>
                <a:extLst>
                  <a:ext uri="{0D108BD9-81ED-4DB2-BD59-A6C34878D82A}">
                    <a16:rowId xmlns:a16="http://schemas.microsoft.com/office/drawing/2014/main" val="590468798"/>
                  </a:ext>
                </a:extLst>
              </a:tr>
              <a:tr h="0">
                <a:tc>
                  <a:txBody>
                    <a:bodyPr/>
                    <a:lstStyle/>
                    <a:p>
                      <a:pPr>
                        <a:buNone/>
                      </a:pPr>
                      <a:r>
                        <a:rPr lang="en-US">
                          <a:solidFill>
                            <a:schemeClr val="tx1"/>
                          </a:solidFill>
                          <a:effectLst/>
                        </a:rPr>
                        <a:t>Dogs</a:t>
                      </a:r>
                    </a:p>
                  </a:txBody>
                  <a:tcPr anchor="ctr">
                    <a:lnL>
                      <a:noFill/>
                    </a:lnL>
                    <a:lnR>
                      <a:noFill/>
                    </a:lnR>
                    <a:lnT>
                      <a:noFill/>
                    </a:lnT>
                    <a:lnB>
                      <a:noFill/>
                    </a:lnB>
                    <a:noFill/>
                  </a:tcPr>
                </a:tc>
                <a:tc>
                  <a:txBody>
                    <a:bodyPr/>
                    <a:lstStyle/>
                    <a:p>
                      <a:pPr>
                        <a:buNone/>
                      </a:pPr>
                      <a:r>
                        <a:rPr lang="en-US">
                          <a:solidFill>
                            <a:schemeClr val="tx1"/>
                          </a:solidFill>
                          <a:effectLst/>
                        </a:rPr>
                        <a:t>2000</a:t>
                      </a:r>
                    </a:p>
                  </a:txBody>
                  <a:tcPr anchor="ctr">
                    <a:lnL>
                      <a:noFill/>
                    </a:lnL>
                    <a:lnR>
                      <a:noFill/>
                    </a:lnR>
                    <a:lnT>
                      <a:noFill/>
                    </a:lnT>
                    <a:lnB>
                      <a:noFill/>
                    </a:lnB>
                    <a:noFill/>
                  </a:tcPr>
                </a:tc>
                <a:extLst>
                  <a:ext uri="{0D108BD9-81ED-4DB2-BD59-A6C34878D82A}">
                    <a16:rowId xmlns:a16="http://schemas.microsoft.com/office/drawing/2014/main" val="1841419730"/>
                  </a:ext>
                </a:extLst>
              </a:tr>
              <a:tr h="0">
                <a:tc>
                  <a:txBody>
                    <a:bodyPr/>
                    <a:lstStyle/>
                    <a:p>
                      <a:pPr>
                        <a:buNone/>
                      </a:pPr>
                      <a:r>
                        <a:rPr lang="en-US">
                          <a:solidFill>
                            <a:schemeClr val="tx1"/>
                          </a:solidFill>
                          <a:effectLst/>
                        </a:rPr>
                        <a:t>Total</a:t>
                      </a:r>
                    </a:p>
                  </a:txBody>
                  <a:tcPr anchor="ctr">
                    <a:lnL>
                      <a:noFill/>
                    </a:lnL>
                    <a:lnR>
                      <a:noFill/>
                    </a:lnR>
                    <a:lnT>
                      <a:noFill/>
                    </a:lnT>
                    <a:lnB>
                      <a:noFill/>
                    </a:lnB>
                    <a:noFill/>
                  </a:tcPr>
                </a:tc>
                <a:tc>
                  <a:txBody>
                    <a:bodyPr/>
                    <a:lstStyle/>
                    <a:p>
                      <a:pPr>
                        <a:buNone/>
                      </a:pPr>
                      <a:r>
                        <a:rPr lang="en-US">
                          <a:solidFill>
                            <a:schemeClr val="tx1"/>
                          </a:solidFill>
                          <a:effectLst/>
                        </a:rPr>
                        <a:t>4000</a:t>
                      </a:r>
                    </a:p>
                  </a:txBody>
                  <a:tcPr anchor="ctr">
                    <a:lnL>
                      <a:noFill/>
                    </a:lnL>
                    <a:lnR>
                      <a:noFill/>
                    </a:lnR>
                    <a:lnT>
                      <a:noFill/>
                    </a:lnT>
                    <a:lnB>
                      <a:noFill/>
                    </a:lnB>
                    <a:noFill/>
                  </a:tcPr>
                </a:tc>
                <a:extLst>
                  <a:ext uri="{0D108BD9-81ED-4DB2-BD59-A6C34878D82A}">
                    <a16:rowId xmlns:a16="http://schemas.microsoft.com/office/drawing/2014/main" val="904252182"/>
                  </a:ext>
                </a:extLst>
              </a:tr>
            </a:tbl>
          </a:graphicData>
        </a:graphic>
      </p:graphicFrame>
      <p:sp>
        <p:nvSpPr>
          <p:cNvPr id="9" name="TextBox 8">
            <a:extLst>
              <a:ext uri="{FF2B5EF4-FFF2-40B4-BE49-F238E27FC236}">
                <a16:creationId xmlns:a16="http://schemas.microsoft.com/office/drawing/2014/main" id="{188D60F9-64EA-3DB2-3E40-861B5C4EB497}"/>
              </a:ext>
            </a:extLst>
          </p:cNvPr>
          <p:cNvSpPr txBox="1"/>
          <p:nvPr/>
        </p:nvSpPr>
        <p:spPr>
          <a:xfrm>
            <a:off x="1126901" y="3895859"/>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Data Split</a:t>
            </a:r>
            <a:endParaRPr lang="en-US" b="1">
              <a:ea typeface="Calibri"/>
              <a:cs typeface="Calibri"/>
            </a:endParaRPr>
          </a:p>
          <a:p>
            <a:pPr>
              <a:lnSpc>
                <a:spcPct val="150000"/>
              </a:lnSpc>
              <a:buFont typeface=""/>
              <a:buChar char="•"/>
            </a:pPr>
            <a:r>
              <a:rPr lang="en-US"/>
              <a:t> Training Set: 70%</a:t>
            </a:r>
            <a:endParaRPr lang="en-US">
              <a:ea typeface="Calibri"/>
              <a:cs typeface="Calibri"/>
            </a:endParaRPr>
          </a:p>
          <a:p>
            <a:pPr>
              <a:lnSpc>
                <a:spcPct val="150000"/>
              </a:lnSpc>
              <a:buFont typeface=""/>
              <a:buChar char="•"/>
            </a:pPr>
            <a:r>
              <a:rPr lang="en-US"/>
              <a:t> Validation Set: 20%</a:t>
            </a:r>
            <a:endParaRPr lang="en-US">
              <a:ea typeface="Calibri"/>
              <a:cs typeface="Calibri"/>
            </a:endParaRPr>
          </a:p>
          <a:p>
            <a:pPr>
              <a:lnSpc>
                <a:spcPct val="150000"/>
              </a:lnSpc>
              <a:buFont typeface=""/>
              <a:buChar char="•"/>
            </a:pPr>
            <a:r>
              <a:rPr lang="en-US"/>
              <a:t> Test Set: 10%</a:t>
            </a:r>
            <a:endParaRPr lang="en-US">
              <a:ea typeface="Calibri"/>
              <a:cs typeface="Calibri"/>
            </a:endParaRPr>
          </a:p>
          <a:p>
            <a:pPr>
              <a:lnSpc>
                <a:spcPct val="150000"/>
              </a:lnSpc>
            </a:pPr>
            <a:r>
              <a:rPr lang="en-US" b="1"/>
              <a:t>Image Size</a:t>
            </a:r>
            <a:endParaRPr lang="en-US" b="1">
              <a:ea typeface="Calibri"/>
              <a:cs typeface="Calibri"/>
            </a:endParaRPr>
          </a:p>
          <a:p>
            <a:pPr>
              <a:lnSpc>
                <a:spcPct val="150000"/>
              </a:lnSpc>
            </a:pPr>
            <a:r>
              <a:rPr lang="en-US"/>
              <a:t>128 × 128 RGB</a:t>
            </a:r>
            <a:endParaRPr lang="en-US">
              <a:ea typeface="Calibri"/>
              <a:cs typeface="Calibri"/>
            </a:endParaRPr>
          </a:p>
          <a:p>
            <a:pPr algn="ctr"/>
            <a:endParaRPr lang="en-US"/>
          </a:p>
        </p:txBody>
      </p:sp>
    </p:spTree>
    <p:extLst>
      <p:ext uri="{BB962C8B-B14F-4D97-AF65-F5344CB8AC3E}">
        <p14:creationId xmlns:p14="http://schemas.microsoft.com/office/powerpoint/2010/main" val="1458581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0EB4DDDE-DA8C-C47E-DD98-F47285378CB7}"/>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24407EF2-1804-D67A-D225-8AE4BC7C483E}"/>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58713E3A-7573-8891-A62C-64C02D39042D}"/>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22C595ED-1674-3E88-3CA4-AA39923CEB36}"/>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E81FDE38-2014-4A0C-A5D0-4455355FCA3D}"/>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DA676BA8-9F2A-81D5-6097-B83874956C9A}"/>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0946720A-CF3E-9414-9DF1-D9C9277DBFD7}"/>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013A69EA-F8EF-45AD-35A0-B3A4D28670C1}"/>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3A70BE50-7111-306D-210A-306DDE39371E}"/>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ACB8698E-7171-21E8-D306-69D8901C3BD3}"/>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7EF1556D-E491-C3D2-796C-9FAC63671902}"/>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7</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9391279B-5013-5FF2-CD85-ADD3C5110833}"/>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1B73BF5A-3184-2FBD-818E-C65FFF8AF1A3}"/>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CC982819-9311-6002-D126-005FE26D1744}"/>
              </a:ext>
            </a:extLst>
          </p:cNvPr>
          <p:cNvSpPr txBox="1"/>
          <p:nvPr/>
        </p:nvSpPr>
        <p:spPr>
          <a:xfrm>
            <a:off x="3308281" y="680113"/>
            <a:ext cx="557322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panose="020F0502020204030204"/>
                <a:cs typeface="Calibri" panose="020F0502020204030204"/>
              </a:rPr>
              <a:t>Propo</a:t>
            </a:r>
            <a:r>
              <a:rPr lang="en-US" sz="2800" b="1">
                <a:ea typeface="Calibri" panose="020F0502020204030204"/>
                <a:cs typeface="Calibri" panose="020F0502020204030204"/>
              </a:rPr>
              <a:t>sed System Architecture</a:t>
            </a:r>
            <a:endParaRPr lang="en-US" sz="2800" b="1" dirty="0">
              <a:ea typeface="Calibri" panose="020F0502020204030204"/>
              <a:cs typeface="Calibri" panose="020F0502020204030204"/>
            </a:endParaRPr>
          </a:p>
        </p:txBody>
      </p:sp>
      <p:sp>
        <p:nvSpPr>
          <p:cNvPr id="5" name="TextBox 4">
            <a:extLst>
              <a:ext uri="{FF2B5EF4-FFF2-40B4-BE49-F238E27FC236}">
                <a16:creationId xmlns:a16="http://schemas.microsoft.com/office/drawing/2014/main" id="{7E2C0182-D893-EDA9-B825-D96A4F27DD39}"/>
              </a:ext>
            </a:extLst>
          </p:cNvPr>
          <p:cNvSpPr txBox="1"/>
          <p:nvPr/>
        </p:nvSpPr>
        <p:spPr>
          <a:xfrm>
            <a:off x="1126901" y="1346915"/>
            <a:ext cx="7469746" cy="46198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t>Framework Overview</a:t>
            </a:r>
            <a:endParaRPr lang="en-US" b="1">
              <a:ea typeface="Calibri"/>
              <a:cs typeface="Calibri"/>
            </a:endParaRPr>
          </a:p>
          <a:p>
            <a:pPr>
              <a:lnSpc>
                <a:spcPct val="150000"/>
              </a:lnSpc>
            </a:pPr>
            <a:r>
              <a:rPr lang="en-US"/>
              <a:t>The proposed framework consists of:</a:t>
            </a:r>
            <a:endParaRPr lang="en-US">
              <a:ea typeface="Calibri"/>
              <a:cs typeface="Calibri"/>
            </a:endParaRPr>
          </a:p>
          <a:p>
            <a:pPr>
              <a:lnSpc>
                <a:spcPct val="150000"/>
              </a:lnSpc>
              <a:buFont typeface=""/>
              <a:buAutoNum type="arabicPeriod"/>
            </a:pPr>
            <a:r>
              <a:rPr lang="en-US"/>
              <a:t>Dataset Collection</a:t>
            </a:r>
            <a:endParaRPr lang="en-US">
              <a:ea typeface="Calibri"/>
              <a:cs typeface="Calibri"/>
            </a:endParaRPr>
          </a:p>
          <a:p>
            <a:pPr>
              <a:lnSpc>
                <a:spcPct val="150000"/>
              </a:lnSpc>
              <a:buFont typeface=""/>
              <a:buAutoNum type="arabicPeriod"/>
            </a:pPr>
            <a:r>
              <a:rPr lang="en-US"/>
              <a:t>Image Preprocessing</a:t>
            </a:r>
            <a:endParaRPr lang="en-US">
              <a:ea typeface="Calibri"/>
              <a:cs typeface="Calibri"/>
            </a:endParaRPr>
          </a:p>
          <a:p>
            <a:pPr>
              <a:lnSpc>
                <a:spcPct val="150000"/>
              </a:lnSpc>
              <a:buFont typeface=""/>
              <a:buAutoNum type="arabicPeriod"/>
            </a:pPr>
            <a:r>
              <a:rPr lang="en-US"/>
              <a:t>CNN Training</a:t>
            </a:r>
            <a:endParaRPr lang="en-US">
              <a:ea typeface="Calibri"/>
              <a:cs typeface="Calibri"/>
            </a:endParaRPr>
          </a:p>
          <a:p>
            <a:pPr>
              <a:lnSpc>
                <a:spcPct val="150000"/>
              </a:lnSpc>
              <a:buFont typeface=""/>
              <a:buAutoNum type="arabicPeriod"/>
            </a:pPr>
            <a:r>
              <a:rPr lang="en-US"/>
              <a:t>Prediction Generation</a:t>
            </a:r>
            <a:endParaRPr lang="en-US">
              <a:ea typeface="Calibri"/>
              <a:cs typeface="Calibri"/>
            </a:endParaRPr>
          </a:p>
          <a:p>
            <a:pPr>
              <a:lnSpc>
                <a:spcPct val="150000"/>
              </a:lnSpc>
              <a:buFont typeface=""/>
              <a:buAutoNum type="arabicPeriod"/>
            </a:pPr>
            <a:r>
              <a:rPr lang="en-US"/>
              <a:t>Explanation Generation</a:t>
            </a:r>
            <a:endParaRPr lang="en-US">
              <a:ea typeface="Calibri"/>
              <a:cs typeface="Calibri"/>
            </a:endParaRPr>
          </a:p>
          <a:p>
            <a:pPr>
              <a:lnSpc>
                <a:spcPct val="150000"/>
              </a:lnSpc>
              <a:buFont typeface=""/>
              <a:buAutoNum type="arabicPeriod"/>
            </a:pPr>
            <a:r>
              <a:rPr lang="en-US"/>
              <a:t>Quantitative Evaluation</a:t>
            </a:r>
            <a:endParaRPr lang="en-US">
              <a:ea typeface="Calibri"/>
              <a:cs typeface="Calibri"/>
            </a:endParaRPr>
          </a:p>
          <a:p>
            <a:pPr>
              <a:lnSpc>
                <a:spcPct val="150000"/>
              </a:lnSpc>
              <a:buFont typeface=""/>
              <a:buAutoNum type="arabicPeriod"/>
            </a:pPr>
            <a:r>
              <a:rPr lang="en-US"/>
              <a:t>Comparative Analysis</a:t>
            </a:r>
            <a:endParaRPr lang="en-US">
              <a:ea typeface="Calibri"/>
              <a:cs typeface="Calibri"/>
            </a:endParaRPr>
          </a:p>
          <a:p>
            <a:pPr>
              <a:lnSpc>
                <a:spcPct val="150000"/>
              </a:lnSpc>
            </a:pPr>
            <a:r>
              <a:rPr lang="en-US"/>
              <a:t>The system integrates classification and explainability into a unified pipeline.</a:t>
            </a:r>
            <a:endParaRPr lang="en-US">
              <a:ea typeface="Calibri"/>
              <a:cs typeface="Calibri"/>
            </a:endParaRPr>
          </a:p>
          <a:p>
            <a:pPr algn="ctr">
              <a:lnSpc>
                <a:spcPct val="150000"/>
              </a:lnSpc>
            </a:pPr>
            <a:endParaRPr lang="en-US" dirty="0">
              <a:ea typeface="Calibri"/>
              <a:cs typeface="Calibri"/>
            </a:endParaRPr>
          </a:p>
        </p:txBody>
      </p:sp>
    </p:spTree>
    <p:extLst>
      <p:ext uri="{BB962C8B-B14F-4D97-AF65-F5344CB8AC3E}">
        <p14:creationId xmlns:p14="http://schemas.microsoft.com/office/powerpoint/2010/main" val="2573564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E96C489F-94A3-DF78-4870-B8D84D32A946}"/>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C91DD287-9B00-1979-F9C6-6AEA41E44A5F}"/>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B205C015-BBEB-0AC3-2D25-95A7EEFF1845}"/>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0A2846F1-D329-DDE5-6E85-E15D9B857635}"/>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just">
                <a:lnSpc>
                  <a:spcPct val="150000"/>
                </a:lnSpc>
              </a:pPr>
              <a:endParaRPr lang="en-IN" dirty="0">
                <a:solidFill>
                  <a:schemeClr val="tx1"/>
                </a:solidFill>
                <a:ea typeface="Calibri"/>
                <a:cs typeface="Calibri"/>
              </a:endParaRPr>
            </a:p>
          </p:txBody>
        </p:sp>
      </p:grpSp>
      <p:sp>
        <p:nvSpPr>
          <p:cNvPr id="48" name="Freeform: Shape 47">
            <a:extLst>
              <a:ext uri="{FF2B5EF4-FFF2-40B4-BE49-F238E27FC236}">
                <a16:creationId xmlns:a16="http://schemas.microsoft.com/office/drawing/2014/main" id="{4188EE87-BA5E-3B66-866E-851A2E989FDB}"/>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0333DAB9-9405-ACAE-6BA1-96EF220D7FBC}"/>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CEC29A60-9CE4-AFC9-D2A6-471156F5FE22}"/>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A72EF2A2-BFC5-60D7-4991-C1DF80BB844A}"/>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33874A12-941A-7FAA-5C1C-53B921C4D949}"/>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C634E5DE-B099-0283-10F0-7ECCE242E3F6}"/>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9BB52ADC-1A88-D27E-BD9D-3F70B84F88B5}"/>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8</a:t>
            </a:r>
            <a:endParaRPr lang="en-IN" b="1" dirty="0">
              <a:solidFill>
                <a:schemeClr val="tx1">
                  <a:lumMod val="65000"/>
                  <a:lumOff val="35000"/>
                </a:schemeClr>
              </a:solidFill>
              <a:latin typeface="Vibur" panose="03000603000000000000" pitchFamily="66" charset="0"/>
            </a:endParaRPr>
          </a:p>
        </p:txBody>
      </p:sp>
      <p:pic>
        <p:nvPicPr>
          <p:cNvPr id="7" name="Picture 6" descr="A blue logo with text&#10;&#10;AI-generated content may be incorrect.">
            <a:extLst>
              <a:ext uri="{FF2B5EF4-FFF2-40B4-BE49-F238E27FC236}">
                <a16:creationId xmlns:a16="http://schemas.microsoft.com/office/drawing/2014/main" id="{08CBC4B9-BE72-B3AC-D625-DF59CE61AA08}"/>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813F2B19-5E12-A09C-27C1-DCAB5EFD7C5C}"/>
              </a:ext>
            </a:extLst>
          </p:cNvPr>
          <p:cNvSpPr txBox="1"/>
          <p:nvPr/>
        </p:nvSpPr>
        <p:spPr>
          <a:xfrm>
            <a:off x="3447802" y="680113"/>
            <a:ext cx="46824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panose="020F0502020204030204"/>
                <a:cs typeface="Calibri" panose="020F0502020204030204"/>
              </a:rPr>
              <a:t>Resnet-18 Model </a:t>
            </a:r>
            <a:r>
              <a:rPr lang="en-US" sz="2800" b="1">
                <a:ea typeface="Calibri" panose="020F0502020204030204"/>
                <a:cs typeface="Calibri" panose="020F0502020204030204"/>
              </a:rPr>
              <a:t>Architecture</a:t>
            </a:r>
            <a:r>
              <a:rPr lang="en-US" sz="2800" b="1" dirty="0">
                <a:ea typeface="Calibri" panose="020F0502020204030204"/>
                <a:cs typeface="Calibri" panose="020F0502020204030204"/>
              </a:rPr>
              <a:t>​</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E2A92AA-4245-C1F9-B880-A3F049EC1E22}"/>
                  </a:ext>
                </a:extLst>
              </p:cNvPr>
              <p:cNvSpPr txBox="1"/>
              <p:nvPr/>
            </p:nvSpPr>
            <p:spPr>
              <a:xfrm>
                <a:off x="1196662" y="1475704"/>
                <a:ext cx="8816661" cy="4247317"/>
              </a:xfrm>
              <a:prstGeom prst="rect">
                <a:avLst/>
              </a:prstGeom>
              <a:solidFill>
                <a:schemeClr val="accent1">
                  <a:lumMod val="60000"/>
                  <a:lumOff val="4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FFFF"/>
                    </a:solidFill>
                  </a:rPr>
                  <a:t>Why ResNet-18?</a:t>
                </a:r>
              </a:p>
              <a:p>
                <a:r>
                  <a:rPr lang="en-US">
                    <a:solidFill>
                      <a:srgbClr val="FFFFFF"/>
                    </a:solidFill>
                  </a:rPr>
                  <a:t>ResNet-18 was selected because it offers a balance between computational efficiency and classification performance.</a:t>
                </a:r>
              </a:p>
              <a:p>
                <a:r>
                  <a:rPr lang="en-US" b="1">
                    <a:solidFill>
                      <a:srgbClr val="FFFFFF"/>
                    </a:solidFill>
                  </a:rPr>
                  <a:t>Advantages</a:t>
                </a:r>
              </a:p>
              <a:p>
                <a:pPr>
                  <a:buFont typeface=""/>
                  <a:buChar char="•"/>
                </a:pPr>
                <a:r>
                  <a:rPr lang="en-US">
                    <a:solidFill>
                      <a:srgbClr val="FFFFFF"/>
                    </a:solidFill>
                  </a:rPr>
                  <a:t>Residual Learning</a:t>
                </a:r>
              </a:p>
              <a:p>
                <a:pPr>
                  <a:buFont typeface=""/>
                  <a:buChar char="•"/>
                </a:pPr>
                <a:r>
                  <a:rPr lang="en-US">
                    <a:solidFill>
                      <a:srgbClr val="FFFFFF"/>
                    </a:solidFill>
                  </a:rPr>
                  <a:t>Faster Convergence</a:t>
                </a:r>
              </a:p>
              <a:p>
                <a:pPr>
                  <a:buFont typeface=""/>
                  <a:buChar char="•"/>
                </a:pPr>
                <a:r>
                  <a:rPr lang="en-US">
                    <a:solidFill>
                      <a:srgbClr val="FFFFFF"/>
                    </a:solidFill>
                  </a:rPr>
                  <a:t>Reduced Vanishing Gradient</a:t>
                </a:r>
              </a:p>
              <a:p>
                <a:pPr>
                  <a:buFont typeface=""/>
                  <a:buChar char="•"/>
                </a:pPr>
                <a:r>
                  <a:rPr lang="en-US">
                    <a:solidFill>
                      <a:srgbClr val="FFFFFF"/>
                    </a:solidFill>
                  </a:rPr>
                  <a:t>Lightweight Architecture</a:t>
                </a:r>
              </a:p>
              <a:p>
                <a:r>
                  <a:rPr lang="en-US" b="1">
                    <a:solidFill>
                      <a:srgbClr val="FFFFFF"/>
                    </a:solidFill>
                  </a:rPr>
                  <a:t>Residual Mapping</a:t>
                </a:r>
              </a:p>
              <a:p>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𝑦</m:t>
                      </m:r>
                      <m:r>
                        <a:rPr lang="en-US" i="0">
                          <a:latin typeface="Cambria Math" panose="02040503050406030204" pitchFamily="18" charset="0"/>
                        </a:rPr>
                        <m:t>=</m:t>
                      </m:r>
                      <m:r>
                        <a:rPr lang="en-US" i="1">
                          <a:latin typeface="Cambria Math" panose="02040503050406030204" pitchFamily="18" charset="0"/>
                        </a:rPr>
                        <m:t>𝐹</m:t>
                      </m:r>
                      <m:d>
                        <m:dPr>
                          <m:sepChr m:val=","/>
                          <m:ctrlPr>
                            <a:rPr lang="en-US" i="1">
                              <a:latin typeface="Cambria Math" panose="02040503050406030204" pitchFamily="18" charset="0"/>
                            </a:rPr>
                          </m:ctrlPr>
                        </m:dPr>
                        <m:e>
                          <m:r>
                            <a:rPr lang="en-US" i="1">
                              <a:latin typeface="Cambria Math" panose="02040503050406030204" pitchFamily="18" charset="0"/>
                            </a:rPr>
                            <m:t>𝑥</m:t>
                          </m:r>
                        </m:e>
                        <m:e>
                          <m:r>
                            <a:rPr lang="en-US" i="1">
                              <a:latin typeface="Cambria Math" panose="02040503050406030204" pitchFamily="18" charset="0"/>
                            </a:rPr>
                            <m:t>𝑊</m:t>
                          </m:r>
                        </m:e>
                      </m:d>
                      <m:r>
                        <a:rPr lang="en-US" i="0">
                          <a:latin typeface="Cambria Math" panose="02040503050406030204" pitchFamily="18" charset="0"/>
                        </a:rPr>
                        <m:t>+</m:t>
                      </m:r>
                      <m:r>
                        <a:rPr lang="en-US" i="1">
                          <a:latin typeface="Cambria Math" panose="02040503050406030204" pitchFamily="18" charset="0"/>
                        </a:rPr>
                        <m:t>𝑥</m:t>
                      </m:r>
                    </m:oMath>
                  </m:oMathPara>
                </a14:m>
                <a:endParaRPr lang="en-US"/>
              </a:p>
              <a:p>
                <a:r>
                  <a:rPr lang="en-US" b="1">
                    <a:solidFill>
                      <a:srgbClr val="FFFFFF"/>
                    </a:solidFill>
                  </a:rPr>
                  <a:t>Architecture Summary</a:t>
                </a:r>
              </a:p>
              <a:p>
                <a:pPr>
                  <a:buFont typeface=""/>
                  <a:buChar char="•"/>
                </a:pPr>
                <a:r>
                  <a:rPr lang="en-US">
                    <a:solidFill>
                      <a:srgbClr val="FFFFFF"/>
                    </a:solidFill>
                  </a:rPr>
                  <a:t>18 Layers</a:t>
                </a:r>
              </a:p>
              <a:p>
                <a:pPr>
                  <a:buFont typeface=""/>
                  <a:buChar char="•"/>
                </a:pPr>
                <a:r>
                  <a:rPr lang="en-US">
                    <a:solidFill>
                      <a:srgbClr val="FFFFFF"/>
                    </a:solidFill>
                  </a:rPr>
                  <a:t>Residual Blocks</a:t>
                </a:r>
              </a:p>
              <a:p>
                <a:pPr>
                  <a:buFont typeface=""/>
                  <a:buChar char="•"/>
                </a:pPr>
                <a:r>
                  <a:rPr lang="en-US">
                    <a:solidFill>
                      <a:srgbClr val="FFFFFF"/>
                    </a:solidFill>
                  </a:rPr>
                  <a:t>Approximately 11 Million Parameters</a:t>
                </a:r>
              </a:p>
              <a:p>
                <a:pPr algn="ctr"/>
                <a:endParaRPr lang="en-US"/>
              </a:p>
            </p:txBody>
          </p:sp>
        </mc:Choice>
        <mc:Fallback>
          <p:sp>
            <p:nvSpPr>
              <p:cNvPr id="8" name="TextBox 7">
                <a:extLst>
                  <a:ext uri="{FF2B5EF4-FFF2-40B4-BE49-F238E27FC236}">
                    <a16:creationId xmlns:a16="http://schemas.microsoft.com/office/drawing/2014/main" id="{4E2A92AA-4245-C1F9-B880-A3F049EC1E22}"/>
                  </a:ext>
                </a:extLst>
              </p:cNvPr>
              <p:cNvSpPr txBox="1">
                <a:spLocks noRot="1" noChangeAspect="1" noMove="1" noResize="1" noEditPoints="1" noAdjustHandles="1" noChangeArrowheads="1" noChangeShapeType="1" noTextEdit="1"/>
              </p:cNvSpPr>
              <p:nvPr/>
            </p:nvSpPr>
            <p:spPr>
              <a:xfrm>
                <a:off x="1196662" y="1475704"/>
                <a:ext cx="8816661" cy="4247317"/>
              </a:xfrm>
              <a:prstGeom prst="rect">
                <a:avLst/>
              </a:prstGeom>
              <a:blipFill>
                <a:blip r:embed="rId3"/>
                <a:stretch>
                  <a:fillRect l="-553" t="-717"/>
                </a:stretch>
              </a:blipFill>
            </p:spPr>
            <p:txBody>
              <a:bodyPr/>
              <a:lstStyle/>
              <a:p>
                <a:r>
                  <a:rPr lang="en-US">
                    <a:noFill/>
                  </a:rPr>
                  <a:t> </a:t>
                </a:r>
              </a:p>
            </p:txBody>
          </p:sp>
        </mc:Fallback>
      </mc:AlternateContent>
    </p:spTree>
    <p:extLst>
      <p:ext uri="{BB962C8B-B14F-4D97-AF65-F5344CB8AC3E}">
        <p14:creationId xmlns:p14="http://schemas.microsoft.com/office/powerpoint/2010/main" val="80192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21A9CBBF-365F-20F1-B9D1-A5DBA555AEAD}"/>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8A88FE8B-4668-9FB2-BB90-02A995DE565B}"/>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31833D0E-DD3C-39EC-45A2-8590D3E2CBD9}"/>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927D6A47-E504-1738-9974-5AF2DBC560D7}"/>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7DAEA6D1-68BF-3803-F8D7-56384DF6762A}"/>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0AA382B2-999C-C86E-BCC6-96CEE793E318}"/>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24190095-3DC4-458C-B58D-090EEFB2B7CB}"/>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154D124D-35A8-4C0D-B7FF-6494E6A246DF}"/>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91F6A85E-3837-E043-3624-C57CE6B1EC82}"/>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6C9EFA44-D913-96F3-4037-AB9471B7C6F6}"/>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965C6A00-9608-5711-BCEA-2F2CB6329BDD}"/>
              </a:ext>
            </a:extLst>
          </p:cNvPr>
          <p:cNvSpPr txBox="1"/>
          <p:nvPr/>
        </p:nvSpPr>
        <p:spPr>
          <a:xfrm>
            <a:off x="11683909" y="6361487"/>
            <a:ext cx="290286"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panose="03000603000000000000" pitchFamily="66" charset="0"/>
              </a:rPr>
              <a:t>9</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3D01D425-7A96-27F0-2DE8-31537239BBB1}"/>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EF2EFC82-A450-8714-5428-92E1867C35BF}"/>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837AA11A-C8EE-26D2-50B8-FE5B55CE947D}"/>
              </a:ext>
            </a:extLst>
          </p:cNvPr>
          <p:cNvSpPr txBox="1"/>
          <p:nvPr/>
        </p:nvSpPr>
        <p:spPr>
          <a:xfrm>
            <a:off x="3152661" y="680113"/>
            <a:ext cx="588982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panose="020F0502020204030204"/>
                <a:cs typeface="Calibri" panose="020F0502020204030204"/>
              </a:rPr>
              <a:t>Explainabi</a:t>
            </a:r>
            <a:r>
              <a:rPr lang="en-US" sz="2800" b="1">
                <a:ea typeface="Calibri" panose="020F0502020204030204"/>
                <a:cs typeface="Calibri" panose="020F0502020204030204"/>
              </a:rPr>
              <a:t>lity Method 1- GRAD-CAM</a:t>
            </a:r>
            <a:r>
              <a:rPr lang="en-US" sz="2800" b="1" dirty="0">
                <a:ea typeface="Calibri" panose="020F0502020204030204"/>
                <a:cs typeface="Calibri" panose="020F0502020204030204"/>
              </a:rPr>
              <a:t>​</a:t>
            </a:r>
          </a:p>
        </p:txBody>
      </p:sp>
      <p:sp>
        <p:nvSpPr>
          <p:cNvPr id="5" name="TextBox 4">
            <a:extLst>
              <a:ext uri="{FF2B5EF4-FFF2-40B4-BE49-F238E27FC236}">
                <a16:creationId xmlns:a16="http://schemas.microsoft.com/office/drawing/2014/main" id="{CF14A593-E6A1-C927-17C5-60C105106C22}"/>
              </a:ext>
            </a:extLst>
          </p:cNvPr>
          <p:cNvSpPr txBox="1"/>
          <p:nvPr/>
        </p:nvSpPr>
        <p:spPr>
          <a:xfrm>
            <a:off x="1610637" y="1605434"/>
            <a:ext cx="30829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Working Process</a:t>
            </a:r>
            <a:endParaRPr lang="en-US" b="1">
              <a:ea typeface="Calibri"/>
              <a:cs typeface="Calibri"/>
            </a:endParaRPr>
          </a:p>
          <a:p>
            <a:pPr marL="285750" indent="-285750">
              <a:buFont typeface="Arial"/>
              <a:buChar char="•"/>
            </a:pPr>
            <a:r>
              <a:rPr lang="en-US">
                <a:ea typeface="+mn-lt"/>
                <a:cs typeface="+mn-lt"/>
              </a:rPr>
              <a:t>Forward Propagation</a:t>
            </a:r>
            <a:endParaRPr lang="en-US">
              <a:ea typeface="Calibri"/>
              <a:cs typeface="Calibri"/>
            </a:endParaRPr>
          </a:p>
          <a:p>
            <a:pPr marL="285750" indent="-285750">
              <a:buFont typeface="Arial"/>
              <a:buChar char="•"/>
            </a:pPr>
            <a:r>
              <a:rPr lang="en-US">
                <a:ea typeface="+mn-lt"/>
                <a:cs typeface="+mn-lt"/>
              </a:rPr>
              <a:t>Gradient Computation</a:t>
            </a:r>
            <a:endParaRPr lang="en-US">
              <a:ea typeface="Calibri"/>
              <a:cs typeface="Calibri"/>
            </a:endParaRPr>
          </a:p>
          <a:p>
            <a:pPr marL="285750" indent="-285750">
              <a:buFont typeface="Arial"/>
              <a:buChar char="•"/>
            </a:pPr>
            <a:r>
              <a:rPr lang="en-US">
                <a:ea typeface="+mn-lt"/>
                <a:cs typeface="+mn-lt"/>
              </a:rPr>
              <a:t>Feature Map Weighting</a:t>
            </a:r>
            <a:endParaRPr lang="en-US">
              <a:ea typeface="Calibri"/>
              <a:cs typeface="Calibri"/>
            </a:endParaRPr>
          </a:p>
          <a:p>
            <a:pPr marL="285750" indent="-285750">
              <a:buFont typeface="Arial"/>
              <a:buChar char="•"/>
            </a:pPr>
            <a:r>
              <a:rPr lang="en-US">
                <a:ea typeface="+mn-lt"/>
                <a:cs typeface="+mn-lt"/>
              </a:rPr>
              <a:t>Heatmap Generation</a:t>
            </a:r>
            <a:endParaRPr lang="en-US">
              <a:ea typeface="Calibri"/>
              <a:cs typeface="Calibri"/>
            </a:endParaRPr>
          </a:p>
        </p:txBody>
      </p:sp>
      <p:sp>
        <p:nvSpPr>
          <p:cNvPr id="6" name="TextBox 5">
            <a:extLst>
              <a:ext uri="{FF2B5EF4-FFF2-40B4-BE49-F238E27FC236}">
                <a16:creationId xmlns:a16="http://schemas.microsoft.com/office/drawing/2014/main" id="{60DA3C37-79B4-5F1E-C6F0-B26EF9F89912}"/>
              </a:ext>
            </a:extLst>
          </p:cNvPr>
          <p:cNvSpPr txBox="1"/>
          <p:nvPr/>
        </p:nvSpPr>
        <p:spPr>
          <a:xfrm>
            <a:off x="7143186" y="1605434"/>
            <a:ext cx="30829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Advantages</a:t>
            </a:r>
            <a:endParaRPr lang="en-US" b="1">
              <a:ea typeface="Calibri"/>
              <a:cs typeface="Calibri"/>
            </a:endParaRPr>
          </a:p>
          <a:p>
            <a:pPr marL="285750" indent="-285750">
              <a:buFont typeface="Arial"/>
              <a:buChar char="•"/>
            </a:pPr>
            <a:r>
              <a:rPr lang="en-US">
                <a:ea typeface="+mn-lt"/>
                <a:cs typeface="+mn-lt"/>
              </a:rPr>
              <a:t>Fast execution</a:t>
            </a:r>
            <a:endParaRPr lang="en-US">
              <a:ea typeface="Calibri"/>
              <a:cs typeface="Calibri"/>
            </a:endParaRPr>
          </a:p>
          <a:p>
            <a:pPr marL="285750" indent="-285750">
              <a:buFont typeface="Arial"/>
              <a:buChar char="•"/>
            </a:pPr>
            <a:r>
              <a:rPr lang="en-US">
                <a:ea typeface="+mn-lt"/>
                <a:cs typeface="+mn-lt"/>
              </a:rPr>
              <a:t>Easy visualization</a:t>
            </a:r>
            <a:endParaRPr lang="en-US">
              <a:ea typeface="Calibri"/>
              <a:cs typeface="Calibri"/>
            </a:endParaRPr>
          </a:p>
          <a:p>
            <a:pPr>
              <a:buFont typeface="Arial"/>
              <a:buChar char="•"/>
            </a:pPr>
            <a:r>
              <a:rPr lang="en-US">
                <a:ea typeface="+mn-lt"/>
                <a:cs typeface="+mn-lt"/>
              </a:rPr>
              <a:t>    Suitable for CNNs</a:t>
            </a:r>
            <a:endParaRPr lang="en-US">
              <a:ea typeface="Calibri"/>
              <a:cs typeface="Calibri"/>
            </a:endParaRPr>
          </a:p>
        </p:txBody>
      </p:sp>
      <p:sp>
        <p:nvSpPr>
          <p:cNvPr id="8" name="TextBox 7">
            <a:extLst>
              <a:ext uri="{FF2B5EF4-FFF2-40B4-BE49-F238E27FC236}">
                <a16:creationId xmlns:a16="http://schemas.microsoft.com/office/drawing/2014/main" id="{C80FD810-91E5-7BEA-D22C-1E13927FAFB5}"/>
              </a:ext>
            </a:extLst>
          </p:cNvPr>
          <p:cNvSpPr txBox="1"/>
          <p:nvPr/>
        </p:nvSpPr>
        <p:spPr>
          <a:xfrm>
            <a:off x="1611988" y="3242247"/>
            <a:ext cx="657297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Limitations:</a:t>
            </a:r>
            <a:r>
              <a:rPr lang="en-US">
                <a:ea typeface="Calibri"/>
                <a:cs typeface="Calibri"/>
              </a:rPr>
              <a:t> </a:t>
            </a:r>
            <a:r>
              <a:rPr lang="en-US">
                <a:ea typeface="+mn-lt"/>
                <a:cs typeface="+mn-lt"/>
              </a:rPr>
              <a:t>Produces low-resolution localization maps.</a:t>
            </a:r>
          </a:p>
        </p:txBody>
      </p:sp>
      <p:pic>
        <p:nvPicPr>
          <p:cNvPr id="9" name="Picture 8" descr="A dog standing on a tile floor&#10;&#10;AI-generated content may be incorrect.">
            <a:extLst>
              <a:ext uri="{FF2B5EF4-FFF2-40B4-BE49-F238E27FC236}">
                <a16:creationId xmlns:a16="http://schemas.microsoft.com/office/drawing/2014/main" id="{EF042FC5-0EFA-81E0-4934-6675CEFE5CF3}"/>
              </a:ext>
            </a:extLst>
          </p:cNvPr>
          <p:cNvPicPr>
            <a:picLocks noChangeAspect="1"/>
          </p:cNvPicPr>
          <p:nvPr/>
        </p:nvPicPr>
        <p:blipFill>
          <a:blip r:embed="rId3"/>
          <a:stretch>
            <a:fillRect/>
          </a:stretch>
        </p:blipFill>
        <p:spPr>
          <a:xfrm>
            <a:off x="3540482" y="4155583"/>
            <a:ext cx="1219200" cy="1219200"/>
          </a:xfrm>
          <a:prstGeom prst="rect">
            <a:avLst/>
          </a:prstGeom>
        </p:spPr>
      </p:pic>
      <p:pic>
        <p:nvPicPr>
          <p:cNvPr id="10" name="Picture 9" descr="A cat sitting on a window sill&#10;&#10;AI-generated content may be incorrect.">
            <a:extLst>
              <a:ext uri="{FF2B5EF4-FFF2-40B4-BE49-F238E27FC236}">
                <a16:creationId xmlns:a16="http://schemas.microsoft.com/office/drawing/2014/main" id="{6C259A47-4626-2B4B-2EEB-6AE6BC384358}"/>
              </a:ext>
            </a:extLst>
          </p:cNvPr>
          <p:cNvPicPr>
            <a:picLocks noChangeAspect="1"/>
          </p:cNvPicPr>
          <p:nvPr/>
        </p:nvPicPr>
        <p:blipFill>
          <a:blip r:embed="rId4"/>
          <a:stretch>
            <a:fillRect/>
          </a:stretch>
        </p:blipFill>
        <p:spPr>
          <a:xfrm>
            <a:off x="1829336" y="4158267"/>
            <a:ext cx="1219200" cy="1219200"/>
          </a:xfrm>
          <a:prstGeom prst="rect">
            <a:avLst/>
          </a:prstGeom>
        </p:spPr>
      </p:pic>
      <p:pic>
        <p:nvPicPr>
          <p:cNvPr id="11" name="Picture 10" descr="A cat with rainbow colors&#10;&#10;AI-generated content may be incorrect.">
            <a:extLst>
              <a:ext uri="{FF2B5EF4-FFF2-40B4-BE49-F238E27FC236}">
                <a16:creationId xmlns:a16="http://schemas.microsoft.com/office/drawing/2014/main" id="{B2EE0ECF-1C70-7472-68EC-F96E58BEA597}"/>
              </a:ext>
            </a:extLst>
          </p:cNvPr>
          <p:cNvPicPr>
            <a:picLocks noChangeAspect="1"/>
          </p:cNvPicPr>
          <p:nvPr/>
        </p:nvPicPr>
        <p:blipFill>
          <a:blip r:embed="rId5"/>
          <a:stretch>
            <a:fillRect/>
          </a:stretch>
        </p:blipFill>
        <p:spPr>
          <a:xfrm>
            <a:off x="5256994" y="4155583"/>
            <a:ext cx="1219200" cy="1219200"/>
          </a:xfrm>
          <a:prstGeom prst="rect">
            <a:avLst/>
          </a:prstGeom>
        </p:spPr>
      </p:pic>
      <p:pic>
        <p:nvPicPr>
          <p:cNvPr id="12" name="Picture 11" descr="A dog standing on a tile floor&#10;&#10;AI-generated content may be incorrect.">
            <a:extLst>
              <a:ext uri="{FF2B5EF4-FFF2-40B4-BE49-F238E27FC236}">
                <a16:creationId xmlns:a16="http://schemas.microsoft.com/office/drawing/2014/main" id="{9C255966-4CFE-3D60-D87F-6CBD98A92FA0}"/>
              </a:ext>
            </a:extLst>
          </p:cNvPr>
          <p:cNvPicPr>
            <a:picLocks noChangeAspect="1"/>
          </p:cNvPicPr>
          <p:nvPr/>
        </p:nvPicPr>
        <p:blipFill>
          <a:blip r:embed="rId6"/>
          <a:stretch>
            <a:fillRect/>
          </a:stretch>
        </p:blipFill>
        <p:spPr>
          <a:xfrm>
            <a:off x="6973507" y="4158266"/>
            <a:ext cx="1219200" cy="1219200"/>
          </a:xfrm>
          <a:prstGeom prst="rect">
            <a:avLst/>
          </a:prstGeom>
        </p:spPr>
      </p:pic>
      <p:pic>
        <p:nvPicPr>
          <p:cNvPr id="13" name="Picture 12" descr="A cat with rainbow colors&#10;&#10;AI-generated content may be incorrect.">
            <a:extLst>
              <a:ext uri="{FF2B5EF4-FFF2-40B4-BE49-F238E27FC236}">
                <a16:creationId xmlns:a16="http://schemas.microsoft.com/office/drawing/2014/main" id="{12981994-F92D-70B5-929E-6EEC069FCC8C}"/>
              </a:ext>
            </a:extLst>
          </p:cNvPr>
          <p:cNvPicPr>
            <a:picLocks noChangeAspect="1"/>
          </p:cNvPicPr>
          <p:nvPr/>
        </p:nvPicPr>
        <p:blipFill>
          <a:blip r:embed="rId7"/>
          <a:stretch>
            <a:fillRect/>
          </a:stretch>
        </p:blipFill>
        <p:spPr>
          <a:xfrm>
            <a:off x="8684653" y="4155583"/>
            <a:ext cx="1219200" cy="1219200"/>
          </a:xfrm>
          <a:prstGeom prst="rect">
            <a:avLst/>
          </a:prstGeom>
        </p:spPr>
      </p:pic>
    </p:spTree>
    <p:extLst>
      <p:ext uri="{BB962C8B-B14F-4D97-AF65-F5344CB8AC3E}">
        <p14:creationId xmlns:p14="http://schemas.microsoft.com/office/powerpoint/2010/main" val="530866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274ABB77-CD5E-2629-FEB3-174C38AA5E4A}"/>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52519E3A-8D65-D365-C439-240B883824AC}"/>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75F63CED-5CFF-51EF-2E80-80E21ACA7DC3}"/>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F922CEF2-2F1B-8905-1EB4-AA439633CE4C}"/>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431D96F5-1F0D-6714-A0BD-2293EE3F5E79}"/>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E6BBFE86-B064-2143-30A7-E56E3E93804A}"/>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134ABD58-C91D-5581-3AE9-713A14CAD402}"/>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5DA09DFB-993E-ABFC-B331-B80DF3B93F84}"/>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8AE6112C-020C-3222-8F11-E7B5E1DFE3F9}"/>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F3AE7A70-3B46-6517-092D-B24B07CA87A2}"/>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B69E6634-EE6B-1326-7D92-AEF45F8BFEF3}"/>
              </a:ext>
            </a:extLst>
          </p:cNvPr>
          <p:cNvSpPr txBox="1"/>
          <p:nvPr/>
        </p:nvSpPr>
        <p:spPr>
          <a:xfrm>
            <a:off x="11608290" y="6320769"/>
            <a:ext cx="464790"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10</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109E9F93-B2E0-F0E1-1CDE-744006C64CA8}"/>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0882407A-59A1-B39B-2A2A-76691D3B8E7C}"/>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D8220059-759C-6E30-C629-97807A032C0A}"/>
              </a:ext>
            </a:extLst>
          </p:cNvPr>
          <p:cNvSpPr txBox="1"/>
          <p:nvPr/>
        </p:nvSpPr>
        <p:spPr>
          <a:xfrm>
            <a:off x="3404872" y="594254"/>
            <a:ext cx="47629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panose="020F0502020204030204"/>
                <a:cs typeface="Calibri" panose="020F0502020204030204"/>
              </a:rPr>
              <a:t>Explainabi</a:t>
            </a:r>
            <a:r>
              <a:rPr lang="en-US" sz="2800" b="1">
                <a:ea typeface="Calibri" panose="020F0502020204030204"/>
                <a:cs typeface="Calibri" panose="020F0502020204030204"/>
              </a:rPr>
              <a:t>lity Method 2- LIME</a:t>
            </a:r>
            <a:endParaRPr lang="en-US" sz="2800" b="1" dirty="0">
              <a:ea typeface="Calibri" panose="020F0502020204030204"/>
              <a:cs typeface="Calibri" panose="020F0502020204030204"/>
            </a:endParaRPr>
          </a:p>
        </p:txBody>
      </p:sp>
      <p:sp>
        <p:nvSpPr>
          <p:cNvPr id="6" name="TextBox 5">
            <a:extLst>
              <a:ext uri="{FF2B5EF4-FFF2-40B4-BE49-F238E27FC236}">
                <a16:creationId xmlns:a16="http://schemas.microsoft.com/office/drawing/2014/main" id="{E07E4518-A11D-2383-8731-2723136D2C8E}"/>
              </a:ext>
            </a:extLst>
          </p:cNvPr>
          <p:cNvSpPr txBox="1"/>
          <p:nvPr/>
        </p:nvSpPr>
        <p:spPr>
          <a:xfrm>
            <a:off x="1610637" y="1487378"/>
            <a:ext cx="379123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Workflow</a:t>
            </a:r>
            <a:endParaRPr lang="en-US" b="1">
              <a:ea typeface="Calibri"/>
              <a:cs typeface="Calibri"/>
            </a:endParaRPr>
          </a:p>
          <a:p>
            <a:pPr marL="285750" indent="-285750">
              <a:buFont typeface="Arial"/>
              <a:buChar char="•"/>
            </a:pPr>
            <a:r>
              <a:rPr lang="en-US" dirty="0">
                <a:ea typeface="+mn-lt"/>
                <a:cs typeface="+mn-lt"/>
              </a:rPr>
              <a:t>Segment image into </a:t>
            </a:r>
            <a:r>
              <a:rPr lang="en-US" dirty="0" err="1">
                <a:ea typeface="+mn-lt"/>
                <a:cs typeface="+mn-lt"/>
              </a:rPr>
              <a:t>superpixels</a:t>
            </a:r>
            <a:r>
              <a:rPr lang="en-US" dirty="0">
                <a:ea typeface="+mn-lt"/>
                <a:cs typeface="+mn-lt"/>
              </a:rPr>
              <a:t>.</a:t>
            </a:r>
            <a:endParaRPr lang="en-US">
              <a:ea typeface="Calibri"/>
              <a:cs typeface="Calibri"/>
            </a:endParaRPr>
          </a:p>
          <a:p>
            <a:pPr marL="285750" indent="-285750">
              <a:buFont typeface="Arial"/>
              <a:buChar char="•"/>
            </a:pPr>
            <a:r>
              <a:rPr lang="en-US">
                <a:ea typeface="+mn-lt"/>
                <a:cs typeface="+mn-lt"/>
              </a:rPr>
              <a:t>Create perturbed samples.</a:t>
            </a:r>
            <a:endParaRPr lang="en-US">
              <a:ea typeface="Calibri"/>
              <a:cs typeface="Calibri"/>
            </a:endParaRPr>
          </a:p>
          <a:p>
            <a:pPr marL="285750" indent="-285750">
              <a:buFont typeface="Arial"/>
              <a:buChar char="•"/>
            </a:pPr>
            <a:r>
              <a:rPr lang="en-US">
                <a:ea typeface="+mn-lt"/>
                <a:cs typeface="+mn-lt"/>
              </a:rPr>
              <a:t>Observe prediction changes.</a:t>
            </a:r>
            <a:endParaRPr lang="en-US">
              <a:ea typeface="Calibri"/>
              <a:cs typeface="Calibri"/>
            </a:endParaRPr>
          </a:p>
          <a:p>
            <a:pPr marL="285750" indent="-285750">
              <a:buFont typeface="Arial"/>
              <a:buChar char="•"/>
            </a:pPr>
            <a:r>
              <a:rPr lang="en-US">
                <a:ea typeface="+mn-lt"/>
                <a:cs typeface="+mn-lt"/>
              </a:rPr>
              <a:t>Train local surrogate model.</a:t>
            </a:r>
            <a:endParaRPr lang="en-US"/>
          </a:p>
          <a:p>
            <a:pPr>
              <a:buFont typeface="Arial,Sans-Serif"/>
              <a:buChar char="•"/>
            </a:pPr>
            <a:endParaRPr lang="en-US"/>
          </a:p>
        </p:txBody>
      </p:sp>
      <p:sp>
        <p:nvSpPr>
          <p:cNvPr id="9" name="TextBox 8">
            <a:extLst>
              <a:ext uri="{FF2B5EF4-FFF2-40B4-BE49-F238E27FC236}">
                <a16:creationId xmlns:a16="http://schemas.microsoft.com/office/drawing/2014/main" id="{4AA69446-7394-2E38-921B-C8D38B380545}"/>
              </a:ext>
            </a:extLst>
          </p:cNvPr>
          <p:cNvSpPr txBox="1"/>
          <p:nvPr/>
        </p:nvSpPr>
        <p:spPr>
          <a:xfrm>
            <a:off x="7143186" y="1487378"/>
            <a:ext cx="30829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Advantages</a:t>
            </a:r>
            <a:endParaRPr lang="en-US" b="1">
              <a:ea typeface="Calibri"/>
              <a:cs typeface="Calibri"/>
            </a:endParaRPr>
          </a:p>
          <a:p>
            <a:pPr marL="285750" indent="-285750">
              <a:buFont typeface="Arial"/>
              <a:buChar char="•"/>
            </a:pPr>
            <a:r>
              <a:rPr lang="en-US">
                <a:ea typeface="+mn-lt"/>
                <a:cs typeface="+mn-lt"/>
              </a:rPr>
              <a:t>Model Agnostic</a:t>
            </a:r>
            <a:endParaRPr lang="en-US">
              <a:ea typeface="Calibri"/>
              <a:cs typeface="Calibri"/>
            </a:endParaRPr>
          </a:p>
          <a:p>
            <a:pPr marL="285750" indent="-285750">
              <a:buFont typeface="Arial"/>
              <a:buChar char="•"/>
            </a:pPr>
            <a:r>
              <a:rPr lang="en-US">
                <a:ea typeface="+mn-lt"/>
                <a:cs typeface="+mn-lt"/>
              </a:rPr>
              <a:t>Human Readable</a:t>
            </a:r>
            <a:endParaRPr lang="en-US">
              <a:ea typeface="Calibri"/>
              <a:cs typeface="Calibri"/>
            </a:endParaRPr>
          </a:p>
          <a:p>
            <a:endParaRPr lang="en-US" dirty="0">
              <a:ea typeface="Calibri" panose="020F0502020204030204"/>
              <a:cs typeface="Calibri" panose="020F0502020204030204"/>
            </a:endParaRPr>
          </a:p>
        </p:txBody>
      </p:sp>
      <p:sp>
        <p:nvSpPr>
          <p:cNvPr id="11" name="TextBox 10">
            <a:extLst>
              <a:ext uri="{FF2B5EF4-FFF2-40B4-BE49-F238E27FC236}">
                <a16:creationId xmlns:a16="http://schemas.microsoft.com/office/drawing/2014/main" id="{F15C4152-DBEB-9586-A2CC-BDD9A5C847A5}"/>
              </a:ext>
            </a:extLst>
          </p:cNvPr>
          <p:cNvSpPr txBox="1"/>
          <p:nvPr/>
        </p:nvSpPr>
        <p:spPr>
          <a:xfrm>
            <a:off x="1590523" y="3210050"/>
            <a:ext cx="657297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Calibri"/>
                <a:cs typeface="Calibri"/>
              </a:rPr>
              <a:t>Limi</a:t>
            </a:r>
            <a:r>
              <a:rPr lang="en-US" b="1">
                <a:ea typeface="Calibri"/>
                <a:cs typeface="Calibri"/>
              </a:rPr>
              <a:t>tations</a:t>
            </a:r>
            <a:endParaRPr lang="en-US" b="1" dirty="0">
              <a:ea typeface="Calibri"/>
              <a:cs typeface="Calibri"/>
            </a:endParaRPr>
          </a:p>
          <a:p>
            <a:pPr marL="285750" indent="-285750">
              <a:buFont typeface="Arial"/>
              <a:buChar char="•"/>
            </a:pPr>
            <a:r>
              <a:rPr lang="en-US">
                <a:ea typeface="+mn-lt"/>
                <a:cs typeface="+mn-lt"/>
              </a:rPr>
              <a:t>Computationally expensive</a:t>
            </a:r>
          </a:p>
          <a:p>
            <a:pPr marL="285750" indent="-285750">
              <a:buFont typeface="Arial"/>
              <a:buChar char="•"/>
            </a:pPr>
            <a:r>
              <a:rPr lang="en-US">
                <a:ea typeface="+mn-lt"/>
                <a:cs typeface="+mn-lt"/>
              </a:rPr>
              <a:t>Sensitive to segmentation strategy</a:t>
            </a:r>
          </a:p>
          <a:p>
            <a:endParaRPr lang="en-US" dirty="0">
              <a:ea typeface="Calibri"/>
              <a:cs typeface="Calibri"/>
            </a:endParaRPr>
          </a:p>
        </p:txBody>
      </p:sp>
      <p:pic>
        <p:nvPicPr>
          <p:cNvPr id="12" name="Picture 11" descr="A dog standing on a tile floor&#10;&#10;AI-generated content may be incorrect.">
            <a:extLst>
              <a:ext uri="{FF2B5EF4-FFF2-40B4-BE49-F238E27FC236}">
                <a16:creationId xmlns:a16="http://schemas.microsoft.com/office/drawing/2014/main" id="{28A227C9-D1E8-00AA-FEEB-BB9BEFF946DD}"/>
              </a:ext>
            </a:extLst>
          </p:cNvPr>
          <p:cNvPicPr>
            <a:picLocks noChangeAspect="1"/>
          </p:cNvPicPr>
          <p:nvPr/>
        </p:nvPicPr>
        <p:blipFill>
          <a:blip r:embed="rId3"/>
          <a:stretch>
            <a:fillRect/>
          </a:stretch>
        </p:blipFill>
        <p:spPr>
          <a:xfrm>
            <a:off x="1976908" y="4633175"/>
            <a:ext cx="1219200" cy="1219200"/>
          </a:xfrm>
          <a:prstGeom prst="rect">
            <a:avLst/>
          </a:prstGeom>
        </p:spPr>
      </p:pic>
      <p:pic>
        <p:nvPicPr>
          <p:cNvPr id="13" name="Picture 12" descr="A black cat sitting on a window sill&#10;&#10;AI-generated content may be incorrect.">
            <a:extLst>
              <a:ext uri="{FF2B5EF4-FFF2-40B4-BE49-F238E27FC236}">
                <a16:creationId xmlns:a16="http://schemas.microsoft.com/office/drawing/2014/main" id="{4D7A2C71-E20F-8030-FB0F-B4CC082CEBC0}"/>
              </a:ext>
            </a:extLst>
          </p:cNvPr>
          <p:cNvPicPr>
            <a:picLocks noChangeAspect="1"/>
          </p:cNvPicPr>
          <p:nvPr/>
        </p:nvPicPr>
        <p:blipFill>
          <a:blip r:embed="rId4"/>
          <a:stretch>
            <a:fillRect/>
          </a:stretch>
        </p:blipFill>
        <p:spPr>
          <a:xfrm>
            <a:off x="3609573" y="4633175"/>
            <a:ext cx="1219200" cy="1219200"/>
          </a:xfrm>
          <a:prstGeom prst="rect">
            <a:avLst/>
          </a:prstGeom>
        </p:spPr>
      </p:pic>
      <p:pic>
        <p:nvPicPr>
          <p:cNvPr id="14" name="Picture 13" descr="A cat lying on a blanket&#10;&#10;AI-generated content may be incorrect.">
            <a:extLst>
              <a:ext uri="{FF2B5EF4-FFF2-40B4-BE49-F238E27FC236}">
                <a16:creationId xmlns:a16="http://schemas.microsoft.com/office/drawing/2014/main" id="{5FCA1560-D8FD-F3E8-9DF2-DB087FFE8BAD}"/>
              </a:ext>
            </a:extLst>
          </p:cNvPr>
          <p:cNvPicPr>
            <a:picLocks noChangeAspect="1"/>
          </p:cNvPicPr>
          <p:nvPr/>
        </p:nvPicPr>
        <p:blipFill>
          <a:blip r:embed="rId5"/>
          <a:stretch>
            <a:fillRect/>
          </a:stretch>
        </p:blipFill>
        <p:spPr>
          <a:xfrm>
            <a:off x="8496837" y="4633175"/>
            <a:ext cx="1219200" cy="1219200"/>
          </a:xfrm>
          <a:prstGeom prst="rect">
            <a:avLst/>
          </a:prstGeom>
        </p:spPr>
      </p:pic>
      <p:pic>
        <p:nvPicPr>
          <p:cNvPr id="15" name="Picture 14" descr="A dog sitting on the floor&#10;&#10;AI-generated content may be incorrect.">
            <a:extLst>
              <a:ext uri="{FF2B5EF4-FFF2-40B4-BE49-F238E27FC236}">
                <a16:creationId xmlns:a16="http://schemas.microsoft.com/office/drawing/2014/main" id="{69E77A60-C051-EBDE-5923-7CE93B607831}"/>
              </a:ext>
            </a:extLst>
          </p:cNvPr>
          <p:cNvPicPr>
            <a:picLocks noChangeAspect="1"/>
          </p:cNvPicPr>
          <p:nvPr/>
        </p:nvPicPr>
        <p:blipFill>
          <a:blip r:embed="rId6"/>
          <a:stretch>
            <a:fillRect/>
          </a:stretch>
        </p:blipFill>
        <p:spPr>
          <a:xfrm>
            <a:off x="5236873" y="4633175"/>
            <a:ext cx="1219200" cy="1219200"/>
          </a:xfrm>
          <a:prstGeom prst="rect">
            <a:avLst/>
          </a:prstGeom>
        </p:spPr>
      </p:pic>
      <p:pic>
        <p:nvPicPr>
          <p:cNvPr id="16" name="Picture 15" descr="A person holding a cat&#10;&#10;AI-generated content may be incorrect.">
            <a:extLst>
              <a:ext uri="{FF2B5EF4-FFF2-40B4-BE49-F238E27FC236}">
                <a16:creationId xmlns:a16="http://schemas.microsoft.com/office/drawing/2014/main" id="{D8BD1FAD-511F-30BF-C1BD-02A21C6A42F5}"/>
              </a:ext>
            </a:extLst>
          </p:cNvPr>
          <p:cNvPicPr>
            <a:picLocks noChangeAspect="1"/>
          </p:cNvPicPr>
          <p:nvPr/>
        </p:nvPicPr>
        <p:blipFill>
          <a:blip r:embed="rId7"/>
          <a:stretch>
            <a:fillRect/>
          </a:stretch>
        </p:blipFill>
        <p:spPr>
          <a:xfrm>
            <a:off x="6864172" y="4633175"/>
            <a:ext cx="1219200" cy="1219200"/>
          </a:xfrm>
          <a:prstGeom prst="rect">
            <a:avLst/>
          </a:prstGeom>
        </p:spPr>
      </p:pic>
    </p:spTree>
    <p:extLst>
      <p:ext uri="{BB962C8B-B14F-4D97-AF65-F5344CB8AC3E}">
        <p14:creationId xmlns:p14="http://schemas.microsoft.com/office/powerpoint/2010/main" val="1871668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54B7CBDF-376C-6F70-A6AD-C43D52AEBFE6}"/>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E1FF2ACA-4080-F8E9-CA18-3C6DC1B21906}"/>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E46763B3-6F9D-6710-D2AE-9ED9059D3463}"/>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D0A58720-0933-BD31-04E3-C50E18F6A364}"/>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1C234BB6-147F-5E8E-9506-BDEED2683047}"/>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39228C19-B8C5-0F40-5CAA-78F52F4B60B7}"/>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8FEC33CD-F575-F301-3EEC-D9E2C01FAB2D}"/>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EFFD6967-B402-F41D-3EF1-F0987E2CC736}"/>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48E0EFA9-BF14-FC67-AAE9-40CA25AECDCE}"/>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3FAE710F-1142-BA21-A4BC-FC7E3641E585}"/>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B05880A4-A0D7-6993-F5F5-DC55B0F38860}"/>
              </a:ext>
            </a:extLst>
          </p:cNvPr>
          <p:cNvSpPr txBox="1"/>
          <p:nvPr/>
        </p:nvSpPr>
        <p:spPr>
          <a:xfrm>
            <a:off x="11608290" y="6320769"/>
            <a:ext cx="464790"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11</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0D9DDE9E-3FD9-D5A0-D8EE-EBA4A6A6BCA4}"/>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52D89133-D781-00D3-7DA6-CABD38E9EE9B}"/>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17" name="TextBox 16">
            <a:extLst>
              <a:ext uri="{FF2B5EF4-FFF2-40B4-BE49-F238E27FC236}">
                <a16:creationId xmlns:a16="http://schemas.microsoft.com/office/drawing/2014/main" id="{CD512590-4419-5E7D-76F9-FDFE6C976417}"/>
              </a:ext>
            </a:extLst>
          </p:cNvPr>
          <p:cNvSpPr txBox="1"/>
          <p:nvPr/>
        </p:nvSpPr>
        <p:spPr>
          <a:xfrm>
            <a:off x="3407019" y="585668"/>
            <a:ext cx="47629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panose="020F0502020204030204"/>
                <a:cs typeface="Calibri" panose="020F0502020204030204"/>
              </a:rPr>
              <a:t>Explainabi</a:t>
            </a:r>
            <a:r>
              <a:rPr lang="en-US" sz="2800" b="1">
                <a:ea typeface="Calibri" panose="020F0502020204030204"/>
                <a:cs typeface="Calibri" panose="020F0502020204030204"/>
              </a:rPr>
              <a:t>lity Method 3- SHAP</a:t>
            </a:r>
            <a:endParaRPr lang="en-US" sz="2800" b="1" dirty="0">
              <a:ea typeface="Calibri" panose="020F0502020204030204"/>
              <a:cs typeface="Calibri" panose="020F0502020204030204"/>
            </a:endParaRPr>
          </a:p>
        </p:txBody>
      </p:sp>
      <p:sp>
        <p:nvSpPr>
          <p:cNvPr id="19" name="TextBox 18">
            <a:extLst>
              <a:ext uri="{FF2B5EF4-FFF2-40B4-BE49-F238E27FC236}">
                <a16:creationId xmlns:a16="http://schemas.microsoft.com/office/drawing/2014/main" id="{15785A11-DFB1-6627-7510-1FE8AC7EF3A9}"/>
              </a:ext>
            </a:extLst>
          </p:cNvPr>
          <p:cNvSpPr txBox="1"/>
          <p:nvPr/>
        </p:nvSpPr>
        <p:spPr>
          <a:xfrm>
            <a:off x="1379891" y="2125955"/>
            <a:ext cx="375367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Characteristics</a:t>
            </a:r>
            <a:endParaRPr lang="en-US" b="1">
              <a:ea typeface="Calibri"/>
              <a:cs typeface="Calibri"/>
            </a:endParaRPr>
          </a:p>
          <a:p>
            <a:pPr marL="285750" indent="-285750">
              <a:buFont typeface="Arial"/>
              <a:buChar char="•"/>
            </a:pPr>
            <a:r>
              <a:rPr lang="en-US">
                <a:ea typeface="+mn-lt"/>
                <a:cs typeface="+mn-lt"/>
              </a:rPr>
              <a:t>Strong mathematical foundation</a:t>
            </a:r>
            <a:endParaRPr lang="en-US">
              <a:ea typeface="Calibri"/>
              <a:cs typeface="Calibri"/>
            </a:endParaRPr>
          </a:p>
          <a:p>
            <a:pPr marL="285750" indent="-285750">
              <a:buFont typeface="Arial"/>
              <a:buChar char="•"/>
            </a:pPr>
            <a:r>
              <a:rPr lang="en-US">
                <a:ea typeface="+mn-lt"/>
                <a:cs typeface="+mn-lt"/>
              </a:rPr>
              <a:t>Consistent feature attribution</a:t>
            </a:r>
            <a:endParaRPr lang="en-US">
              <a:ea typeface="Calibri"/>
              <a:cs typeface="Calibri"/>
            </a:endParaRPr>
          </a:p>
          <a:p>
            <a:pPr marL="285750" indent="-285750">
              <a:buFont typeface="Arial"/>
              <a:buChar char="•"/>
            </a:pPr>
            <a:r>
              <a:rPr lang="en-US">
                <a:ea typeface="+mn-lt"/>
                <a:cs typeface="+mn-lt"/>
              </a:rPr>
              <a:t>Global and local interpretability</a:t>
            </a:r>
            <a:endParaRPr lang="en-US">
              <a:ea typeface="Calibri"/>
              <a:cs typeface="Calibri"/>
            </a:endParaRPr>
          </a:p>
          <a:p>
            <a:endParaRPr lang="en-US" dirty="0">
              <a:ea typeface="Calibri" panose="020F0502020204030204"/>
              <a:cs typeface="Calibri" panose="020F0502020204030204"/>
            </a:endParaRPr>
          </a:p>
        </p:txBody>
      </p:sp>
      <p:sp>
        <p:nvSpPr>
          <p:cNvPr id="21" name="TextBox 20">
            <a:extLst>
              <a:ext uri="{FF2B5EF4-FFF2-40B4-BE49-F238E27FC236}">
                <a16:creationId xmlns:a16="http://schemas.microsoft.com/office/drawing/2014/main" id="{78462A85-6B6C-002D-969D-931A18234F96}"/>
              </a:ext>
            </a:extLst>
          </p:cNvPr>
          <p:cNvSpPr txBox="1"/>
          <p:nvPr/>
        </p:nvSpPr>
        <p:spPr>
          <a:xfrm>
            <a:off x="6408017" y="2125955"/>
            <a:ext cx="3952223"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Characteristics</a:t>
            </a:r>
            <a:endParaRPr lang="en-US" b="1">
              <a:ea typeface="Calibri"/>
              <a:cs typeface="Calibri"/>
            </a:endParaRPr>
          </a:p>
          <a:p>
            <a:pPr marL="285750" indent="-285750">
              <a:buFont typeface="Arial"/>
              <a:buChar char="•"/>
            </a:pPr>
            <a:r>
              <a:rPr lang="en-US">
                <a:ea typeface="+mn-lt"/>
                <a:cs typeface="+mn-lt"/>
              </a:rPr>
              <a:t>Strong mathematical foundation</a:t>
            </a:r>
            <a:endParaRPr lang="en-US">
              <a:ea typeface="Calibri"/>
              <a:cs typeface="Calibri"/>
            </a:endParaRPr>
          </a:p>
          <a:p>
            <a:pPr marL="285750" indent="-285750">
              <a:buFont typeface="Arial"/>
              <a:buChar char="•"/>
            </a:pPr>
            <a:r>
              <a:rPr lang="en-US">
                <a:ea typeface="+mn-lt"/>
                <a:cs typeface="+mn-lt"/>
              </a:rPr>
              <a:t>Consistent feature attribution</a:t>
            </a:r>
            <a:endParaRPr lang="en-US">
              <a:ea typeface="Calibri"/>
              <a:cs typeface="Calibri"/>
            </a:endParaRPr>
          </a:p>
          <a:p>
            <a:pPr marL="285750" indent="-285750">
              <a:buFont typeface="Arial"/>
              <a:buChar char="•"/>
            </a:pPr>
            <a:r>
              <a:rPr lang="en-US">
                <a:ea typeface="+mn-lt"/>
                <a:cs typeface="+mn-lt"/>
              </a:rPr>
              <a:t>Global and local interpretability</a:t>
            </a:r>
            <a:endParaRPr lang="en-US">
              <a:ea typeface="Calibri"/>
              <a:cs typeface="Calibri"/>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sp>
        <p:nvSpPr>
          <p:cNvPr id="23" name="TextBox 22">
            <a:extLst>
              <a:ext uri="{FF2B5EF4-FFF2-40B4-BE49-F238E27FC236}">
                <a16:creationId xmlns:a16="http://schemas.microsoft.com/office/drawing/2014/main" id="{426E2513-FD49-2778-D909-40A11CE558E2}"/>
              </a:ext>
            </a:extLst>
          </p:cNvPr>
          <p:cNvSpPr txBox="1"/>
          <p:nvPr/>
        </p:nvSpPr>
        <p:spPr>
          <a:xfrm>
            <a:off x="1381241" y="3505190"/>
            <a:ext cx="657297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Limitations</a:t>
            </a:r>
            <a:endParaRPr lang="en-US" b="1">
              <a:ea typeface="Calibri"/>
              <a:cs typeface="Calibri"/>
            </a:endParaRPr>
          </a:p>
          <a:p>
            <a:pPr marL="285750" indent="-285750">
              <a:buFont typeface="Arial"/>
              <a:buChar char="•"/>
            </a:pPr>
            <a:r>
              <a:rPr lang="en-US">
                <a:ea typeface="+mn-lt"/>
                <a:cs typeface="+mn-lt"/>
              </a:rPr>
              <a:t>High computational cost</a:t>
            </a:r>
            <a:endParaRPr lang="en-US">
              <a:ea typeface="Calibri"/>
              <a:cs typeface="Calibri"/>
            </a:endParaRPr>
          </a:p>
          <a:p>
            <a:pPr>
              <a:buFont typeface="Arial"/>
              <a:buChar char="•"/>
            </a:pPr>
            <a:r>
              <a:rPr lang="en-US">
                <a:ea typeface="+mn-lt"/>
                <a:cs typeface="+mn-lt"/>
              </a:rPr>
              <a:t>    Increased memory usage</a:t>
            </a:r>
            <a:endParaRPr lang="en-US">
              <a:ea typeface="Calibri"/>
              <a:cs typeface="Calibri"/>
            </a:endParaRPr>
          </a:p>
        </p:txBody>
      </p:sp>
      <p:sp>
        <p:nvSpPr>
          <p:cNvPr id="24" name="TextBox 23">
            <a:extLst>
              <a:ext uri="{FF2B5EF4-FFF2-40B4-BE49-F238E27FC236}">
                <a16:creationId xmlns:a16="http://schemas.microsoft.com/office/drawing/2014/main" id="{9A0FF293-4AC5-A67E-429A-C820D6A470BC}"/>
              </a:ext>
            </a:extLst>
          </p:cNvPr>
          <p:cNvSpPr txBox="1"/>
          <p:nvPr/>
        </p:nvSpPr>
        <p:spPr>
          <a:xfrm>
            <a:off x="1137634" y="1202029"/>
            <a:ext cx="929961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t>SHapley</a:t>
            </a:r>
            <a:r>
              <a:rPr lang="en-US" b="1" dirty="0"/>
              <a:t> Additive Explanations</a:t>
            </a:r>
          </a:p>
          <a:p>
            <a:r>
              <a:rPr lang="en-US"/>
              <a:t>SHAP uses concepts from cooperative game theory to assign importance values to image regions.</a:t>
            </a:r>
            <a:endParaRPr lang="en-US">
              <a:ea typeface="Calibri"/>
              <a:cs typeface="Calibri"/>
            </a:endParaRPr>
          </a:p>
          <a:p>
            <a:pPr algn="ctr"/>
            <a:endParaRPr lang="en-US" dirty="0">
              <a:ea typeface="Calibri"/>
              <a:cs typeface="Calibri"/>
            </a:endParaRPr>
          </a:p>
        </p:txBody>
      </p:sp>
      <p:pic>
        <p:nvPicPr>
          <p:cNvPr id="25" name="Picture 24" descr="A dog standing on a tile floor&#10;&#10;AI-generated content may be incorrect.">
            <a:extLst>
              <a:ext uri="{FF2B5EF4-FFF2-40B4-BE49-F238E27FC236}">
                <a16:creationId xmlns:a16="http://schemas.microsoft.com/office/drawing/2014/main" id="{D9709204-A883-FCE0-F1BE-61AB2739D165}"/>
              </a:ext>
            </a:extLst>
          </p:cNvPr>
          <p:cNvPicPr>
            <a:picLocks noChangeAspect="1"/>
          </p:cNvPicPr>
          <p:nvPr/>
        </p:nvPicPr>
        <p:blipFill>
          <a:blip r:embed="rId3"/>
          <a:stretch>
            <a:fillRect/>
          </a:stretch>
        </p:blipFill>
        <p:spPr>
          <a:xfrm>
            <a:off x="1939344" y="4834407"/>
            <a:ext cx="1219200" cy="1219200"/>
          </a:xfrm>
          <a:prstGeom prst="rect">
            <a:avLst/>
          </a:prstGeom>
        </p:spPr>
      </p:pic>
      <p:pic>
        <p:nvPicPr>
          <p:cNvPr id="26" name="Picture 25" descr="A cat sitting on a window sill&#10;&#10;AI-generated content may be incorrect.">
            <a:extLst>
              <a:ext uri="{FF2B5EF4-FFF2-40B4-BE49-F238E27FC236}">
                <a16:creationId xmlns:a16="http://schemas.microsoft.com/office/drawing/2014/main" id="{CD295BC1-6D06-8A6E-9021-CEFD34D7ABAA}"/>
              </a:ext>
            </a:extLst>
          </p:cNvPr>
          <p:cNvPicPr>
            <a:picLocks noChangeAspect="1"/>
          </p:cNvPicPr>
          <p:nvPr/>
        </p:nvPicPr>
        <p:blipFill>
          <a:blip r:embed="rId4"/>
          <a:stretch>
            <a:fillRect/>
          </a:stretch>
        </p:blipFill>
        <p:spPr>
          <a:xfrm>
            <a:off x="3586767" y="4834407"/>
            <a:ext cx="1219200" cy="1219200"/>
          </a:xfrm>
          <a:prstGeom prst="rect">
            <a:avLst/>
          </a:prstGeom>
        </p:spPr>
      </p:pic>
      <p:pic>
        <p:nvPicPr>
          <p:cNvPr id="27" name="Picture 26" descr="A cat lying on a blanket&#10;&#10;AI-generated content may be incorrect.">
            <a:extLst>
              <a:ext uri="{FF2B5EF4-FFF2-40B4-BE49-F238E27FC236}">
                <a16:creationId xmlns:a16="http://schemas.microsoft.com/office/drawing/2014/main" id="{3DD17530-98C2-DEFA-CE40-3B1A23C64676}"/>
              </a:ext>
            </a:extLst>
          </p:cNvPr>
          <p:cNvPicPr>
            <a:picLocks noChangeAspect="1"/>
          </p:cNvPicPr>
          <p:nvPr/>
        </p:nvPicPr>
        <p:blipFill>
          <a:blip r:embed="rId5"/>
          <a:stretch>
            <a:fillRect/>
          </a:stretch>
        </p:blipFill>
        <p:spPr>
          <a:xfrm>
            <a:off x="6870879" y="4834407"/>
            <a:ext cx="1219200" cy="1219200"/>
          </a:xfrm>
          <a:prstGeom prst="rect">
            <a:avLst/>
          </a:prstGeom>
        </p:spPr>
      </p:pic>
      <p:pic>
        <p:nvPicPr>
          <p:cNvPr id="28" name="Picture 27" descr="A dog standing on a carpet&#10;&#10;AI-generated content may be incorrect.">
            <a:extLst>
              <a:ext uri="{FF2B5EF4-FFF2-40B4-BE49-F238E27FC236}">
                <a16:creationId xmlns:a16="http://schemas.microsoft.com/office/drawing/2014/main" id="{A13DE853-ECEF-9CF5-2FFD-96D2CA517EC3}"/>
              </a:ext>
            </a:extLst>
          </p:cNvPr>
          <p:cNvPicPr>
            <a:picLocks noChangeAspect="1"/>
          </p:cNvPicPr>
          <p:nvPr/>
        </p:nvPicPr>
        <p:blipFill>
          <a:blip r:embed="rId6"/>
          <a:stretch>
            <a:fillRect/>
          </a:stretch>
        </p:blipFill>
        <p:spPr>
          <a:xfrm>
            <a:off x="5228823" y="4834407"/>
            <a:ext cx="1219200" cy="1219200"/>
          </a:xfrm>
          <a:prstGeom prst="rect">
            <a:avLst/>
          </a:prstGeom>
        </p:spPr>
      </p:pic>
      <p:pic>
        <p:nvPicPr>
          <p:cNvPr id="33" name="Picture 32" descr="A cat lying on a red blanket&#10;&#10;AI-generated content may be incorrect.">
            <a:extLst>
              <a:ext uri="{FF2B5EF4-FFF2-40B4-BE49-F238E27FC236}">
                <a16:creationId xmlns:a16="http://schemas.microsoft.com/office/drawing/2014/main" id="{9949393D-D35C-9A53-8700-A73051D167BE}"/>
              </a:ext>
            </a:extLst>
          </p:cNvPr>
          <p:cNvPicPr>
            <a:picLocks noChangeAspect="1"/>
          </p:cNvPicPr>
          <p:nvPr/>
        </p:nvPicPr>
        <p:blipFill>
          <a:blip r:embed="rId7"/>
          <a:stretch>
            <a:fillRect/>
          </a:stretch>
        </p:blipFill>
        <p:spPr>
          <a:xfrm>
            <a:off x="8518302" y="4834407"/>
            <a:ext cx="1219200" cy="1219200"/>
          </a:xfrm>
          <a:prstGeom prst="rect">
            <a:avLst/>
          </a:prstGeom>
        </p:spPr>
      </p:pic>
    </p:spTree>
    <p:extLst>
      <p:ext uri="{BB962C8B-B14F-4D97-AF65-F5344CB8AC3E}">
        <p14:creationId xmlns:p14="http://schemas.microsoft.com/office/powerpoint/2010/main" val="2238755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515F62F5-10DF-3FE9-05CA-6732D2747C94}"/>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7CB07FEC-E8B4-C702-D4C5-0B33B169C5D3}"/>
              </a:ext>
            </a:extLst>
          </p:cNvPr>
          <p:cNvGrpSpPr/>
          <p:nvPr/>
        </p:nvGrpSpPr>
        <p:grpSpPr>
          <a:xfrm>
            <a:off x="581342" y="238454"/>
            <a:ext cx="10334494" cy="6446716"/>
            <a:chOff x="1162348" y="1677368"/>
            <a:chExt cx="3266778" cy="3266778"/>
          </a:xfrm>
        </p:grpSpPr>
        <p:sp>
          <p:nvSpPr>
            <p:cNvPr id="60" name="Oval 34">
              <a:extLst>
                <a:ext uri="{FF2B5EF4-FFF2-40B4-BE49-F238E27FC236}">
                  <a16:creationId xmlns:a16="http://schemas.microsoft.com/office/drawing/2014/main" id="{F5525B48-2A68-D602-68B3-005A44C5999A}"/>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8CEFFE7B-A6DD-A6B0-AEDB-65F156C4E933}"/>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dirty="0">
                <a:ea typeface="Calibri"/>
                <a:cs typeface="Calibri"/>
              </a:endParaRPr>
            </a:p>
          </p:txBody>
        </p:sp>
      </p:grpSp>
      <p:sp>
        <p:nvSpPr>
          <p:cNvPr id="48" name="Freeform: Shape 47">
            <a:extLst>
              <a:ext uri="{FF2B5EF4-FFF2-40B4-BE49-F238E27FC236}">
                <a16:creationId xmlns:a16="http://schemas.microsoft.com/office/drawing/2014/main" id="{69105A87-24B8-24CA-7D97-363B03A98F7A}"/>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50172E4E-1CC1-F6D2-C581-D948AD836F12}"/>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EF3ADECE-2630-B860-BE4C-CDF8D737CB1B}"/>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B0517E9C-43A8-EF8F-3AB0-0885F635446F}"/>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112F97D5-22F7-F326-9FB6-548BFAD2FDBC}"/>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790DA480-21B5-7D32-11EF-0D416ACFD615}"/>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75D7C4C3-6E3F-41A9-838B-955B213D2ADB}"/>
              </a:ext>
            </a:extLst>
          </p:cNvPr>
          <p:cNvSpPr txBox="1"/>
          <p:nvPr/>
        </p:nvSpPr>
        <p:spPr>
          <a:xfrm>
            <a:off x="11608290" y="6320769"/>
            <a:ext cx="464790"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12</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6F3D8A07-0C36-2F4F-438A-1B76582AC019}"/>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197598A5-7BA1-F41F-943B-2CBC849497D5}"/>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2" name="TextBox 1">
            <a:extLst>
              <a:ext uri="{FF2B5EF4-FFF2-40B4-BE49-F238E27FC236}">
                <a16:creationId xmlns:a16="http://schemas.microsoft.com/office/drawing/2014/main" id="{CEB2FBCD-9110-E48C-BCCC-17DFB95BD689}"/>
              </a:ext>
            </a:extLst>
          </p:cNvPr>
          <p:cNvSpPr txBox="1"/>
          <p:nvPr/>
        </p:nvSpPr>
        <p:spPr>
          <a:xfrm>
            <a:off x="1287313" y="1512899"/>
            <a:ext cx="357151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Confidence Drop</a:t>
            </a:r>
          </a:p>
          <a:p>
            <a:r>
              <a:rPr lang="en-US">
                <a:ea typeface="+mn-lt"/>
                <a:cs typeface="+mn-lt"/>
              </a:rPr>
              <a:t>Measures confidence reduction after removing important pixels.</a:t>
            </a:r>
            <a:endParaRPr lang="en-US">
              <a:ea typeface="Calibri"/>
              <a:cs typeface="Calibri"/>
            </a:endParaRPr>
          </a:p>
        </p:txBody>
      </p:sp>
      <p:sp>
        <p:nvSpPr>
          <p:cNvPr id="4" name="TextBox 3">
            <a:extLst>
              <a:ext uri="{FF2B5EF4-FFF2-40B4-BE49-F238E27FC236}">
                <a16:creationId xmlns:a16="http://schemas.microsoft.com/office/drawing/2014/main" id="{605EBEF1-B5FB-2F21-E851-BB780E0B1493}"/>
              </a:ext>
            </a:extLst>
          </p:cNvPr>
          <p:cNvSpPr txBox="1"/>
          <p:nvPr/>
        </p:nvSpPr>
        <p:spPr>
          <a:xfrm>
            <a:off x="6551552" y="1512899"/>
            <a:ext cx="357151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Sparsity</a:t>
            </a:r>
          </a:p>
          <a:p>
            <a:r>
              <a:rPr lang="en-US">
                <a:ea typeface="+mn-lt"/>
                <a:cs typeface="+mn-lt"/>
              </a:rPr>
              <a:t>Measures concentration of explanations.</a:t>
            </a:r>
            <a:endParaRPr lang="en-US"/>
          </a:p>
        </p:txBody>
      </p:sp>
      <p:sp>
        <p:nvSpPr>
          <p:cNvPr id="5" name="TextBox 4">
            <a:extLst>
              <a:ext uri="{FF2B5EF4-FFF2-40B4-BE49-F238E27FC236}">
                <a16:creationId xmlns:a16="http://schemas.microsoft.com/office/drawing/2014/main" id="{19D7CB28-6508-439E-996D-4BC93B9E1F3A}"/>
              </a:ext>
            </a:extLst>
          </p:cNvPr>
          <p:cNvSpPr txBox="1"/>
          <p:nvPr/>
        </p:nvSpPr>
        <p:spPr>
          <a:xfrm>
            <a:off x="6551551" y="3455462"/>
            <a:ext cx="338369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AOPC</a:t>
            </a:r>
          </a:p>
          <a:p>
            <a:r>
              <a:rPr lang="en-US">
                <a:ea typeface="+mn-lt"/>
                <a:cs typeface="+mn-lt"/>
              </a:rPr>
              <a:t>Average confidence decrease caused by progressive perturbations.</a:t>
            </a:r>
            <a:endParaRPr lang="en-US">
              <a:ea typeface="Calibri"/>
              <a:cs typeface="Calibri"/>
            </a:endParaRPr>
          </a:p>
        </p:txBody>
      </p:sp>
      <p:sp>
        <p:nvSpPr>
          <p:cNvPr id="6" name="TextBox 5">
            <a:extLst>
              <a:ext uri="{FF2B5EF4-FFF2-40B4-BE49-F238E27FC236}">
                <a16:creationId xmlns:a16="http://schemas.microsoft.com/office/drawing/2014/main" id="{8EE3CC67-F2D7-763D-98A3-1DA5034448C7}"/>
              </a:ext>
            </a:extLst>
          </p:cNvPr>
          <p:cNvSpPr txBox="1"/>
          <p:nvPr/>
        </p:nvSpPr>
        <p:spPr>
          <a:xfrm>
            <a:off x="1287312" y="3455462"/>
            <a:ext cx="357151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ea typeface="Calibri"/>
                <a:cs typeface="Calibri"/>
              </a:rPr>
              <a:t>Occulation</a:t>
            </a:r>
            <a:r>
              <a:rPr lang="en-US" b="1" dirty="0">
                <a:ea typeface="Calibri"/>
                <a:cs typeface="Calibri"/>
              </a:rPr>
              <a:t> </a:t>
            </a:r>
            <a:r>
              <a:rPr lang="en-US" b="1" dirty="0" err="1">
                <a:ea typeface="Calibri"/>
                <a:cs typeface="Calibri"/>
              </a:rPr>
              <a:t>Senstivity</a:t>
            </a:r>
            <a:endParaRPr lang="en-US" b="1">
              <a:ea typeface="Calibri"/>
              <a:cs typeface="Calibri"/>
            </a:endParaRPr>
          </a:p>
          <a:p>
            <a:r>
              <a:rPr lang="en-US">
                <a:ea typeface="+mn-lt"/>
                <a:cs typeface="+mn-lt"/>
              </a:rPr>
              <a:t>Measures prediction changes when image regions are masked.</a:t>
            </a:r>
            <a:endParaRPr lang="en-US"/>
          </a:p>
        </p:txBody>
      </p:sp>
      <p:sp>
        <p:nvSpPr>
          <p:cNvPr id="8" name="Rectangle: Rounded Corners 7">
            <a:extLst>
              <a:ext uri="{FF2B5EF4-FFF2-40B4-BE49-F238E27FC236}">
                <a16:creationId xmlns:a16="http://schemas.microsoft.com/office/drawing/2014/main" id="{4E99A006-07AA-A9EA-5445-B9F3E29EFA0C}"/>
              </a:ext>
            </a:extLst>
          </p:cNvPr>
          <p:cNvSpPr/>
          <p:nvPr/>
        </p:nvSpPr>
        <p:spPr>
          <a:xfrm>
            <a:off x="1287723" y="1349046"/>
            <a:ext cx="3501709" cy="16752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AD63AEDD-A834-31E5-6D11-31467EB58747}"/>
              </a:ext>
            </a:extLst>
          </p:cNvPr>
          <p:cNvSpPr/>
          <p:nvPr/>
        </p:nvSpPr>
        <p:spPr>
          <a:xfrm>
            <a:off x="6551962" y="1349045"/>
            <a:ext cx="3501709" cy="16752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CDF64632-476A-C70C-A9EC-C6A88777F549}"/>
              </a:ext>
            </a:extLst>
          </p:cNvPr>
          <p:cNvSpPr/>
          <p:nvPr/>
        </p:nvSpPr>
        <p:spPr>
          <a:xfrm>
            <a:off x="6562694" y="3366734"/>
            <a:ext cx="3512442" cy="16752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718F6F4-B49D-C944-F3D1-A0100EDC2024}"/>
              </a:ext>
            </a:extLst>
          </p:cNvPr>
          <p:cNvSpPr/>
          <p:nvPr/>
        </p:nvSpPr>
        <p:spPr>
          <a:xfrm>
            <a:off x="1287723" y="3398933"/>
            <a:ext cx="3501709" cy="167523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B8E81A3-2195-454A-C6A6-A40C1F34F784}"/>
              </a:ext>
            </a:extLst>
          </p:cNvPr>
          <p:cNvSpPr txBox="1"/>
          <p:nvPr/>
        </p:nvSpPr>
        <p:spPr>
          <a:xfrm>
            <a:off x="1287888" y="5119352"/>
            <a:ext cx="899374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Importance</a:t>
            </a:r>
            <a:endParaRPr lang="en-US" b="1">
              <a:ea typeface="Calibri"/>
              <a:cs typeface="Calibri"/>
            </a:endParaRPr>
          </a:p>
          <a:p>
            <a:r>
              <a:rPr lang="en-US"/>
              <a:t>Using multiple metrics provides a more comprehensive evaluation than relying on a single measure.</a:t>
            </a:r>
            <a:endParaRPr lang="en-US">
              <a:ea typeface="Calibri"/>
              <a:cs typeface="Calibri"/>
            </a:endParaRPr>
          </a:p>
          <a:p>
            <a:pPr algn="ctr"/>
            <a:endParaRPr lang="en-US"/>
          </a:p>
        </p:txBody>
      </p:sp>
      <p:sp>
        <p:nvSpPr>
          <p:cNvPr id="14" name="TextBox 13">
            <a:extLst>
              <a:ext uri="{FF2B5EF4-FFF2-40B4-BE49-F238E27FC236}">
                <a16:creationId xmlns:a16="http://schemas.microsoft.com/office/drawing/2014/main" id="{3331E01E-77BD-67E9-9F52-ED3DBEF2A848}"/>
              </a:ext>
            </a:extLst>
          </p:cNvPr>
          <p:cNvSpPr txBox="1"/>
          <p:nvPr/>
        </p:nvSpPr>
        <p:spPr>
          <a:xfrm>
            <a:off x="3702160" y="494443"/>
            <a:ext cx="409751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panose="020F0502020204030204"/>
                <a:cs typeface="Calibri" panose="020F0502020204030204"/>
              </a:rPr>
              <a:t>Evaluation </a:t>
            </a:r>
            <a:r>
              <a:rPr lang="en-US" sz="2800" b="1" dirty="0" err="1">
                <a:ea typeface="Calibri" panose="020F0502020204030204"/>
                <a:cs typeface="Calibri" panose="020F0502020204030204"/>
              </a:rPr>
              <a:t>Framewo</a:t>
            </a:r>
            <a:r>
              <a:rPr lang="en-US" sz="2800" b="1" dirty="0">
                <a:ea typeface="Calibri" panose="020F0502020204030204"/>
                <a:cs typeface="Calibri" panose="020F0502020204030204"/>
              </a:rPr>
              <a:t>rk</a:t>
            </a:r>
          </a:p>
        </p:txBody>
      </p:sp>
    </p:spTree>
    <p:extLst>
      <p:ext uri="{BB962C8B-B14F-4D97-AF65-F5344CB8AC3E}">
        <p14:creationId xmlns:p14="http://schemas.microsoft.com/office/powerpoint/2010/main" val="4285277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A7E4A5F2-03A1-9B42-7A76-FE12B4A897D6}"/>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57D44ADB-30BE-71EF-8C1A-E2E49845F5C1}"/>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E74A7237-4479-2DDA-E022-72755D5ADC6F}"/>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0E3EE536-A3B4-3858-0C5A-006CE2EC54E9}"/>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64439DD8-6758-E61A-884D-020F41E3FC91}"/>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230B3DAA-1D31-7426-0D67-D20D272E3845}"/>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80E760B8-7FF5-EB6E-900A-E9F67FB5034B}"/>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D592346B-D73D-54E8-98D7-584252445504}"/>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FB464A30-DA6B-E484-2799-5E73A4D008B9}"/>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31F4C333-51AA-F6B3-9810-16154798C475}"/>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D46D8F53-34D8-D7E6-D642-283E83951528}"/>
              </a:ext>
            </a:extLst>
          </p:cNvPr>
          <p:cNvSpPr txBox="1"/>
          <p:nvPr/>
        </p:nvSpPr>
        <p:spPr>
          <a:xfrm>
            <a:off x="11608290" y="6320769"/>
            <a:ext cx="464790"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13</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5D498CB8-F547-7654-EEBB-85C0E5CC2F69}"/>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BAA069CA-1281-BDB6-EFEB-9939B5AD3021}"/>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8984EA2E-5D38-731A-B5A0-E04243265B17}"/>
              </a:ext>
            </a:extLst>
          </p:cNvPr>
          <p:cNvSpPr txBox="1"/>
          <p:nvPr/>
        </p:nvSpPr>
        <p:spPr>
          <a:xfrm>
            <a:off x="3702160" y="494443"/>
            <a:ext cx="44141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panose="020F0502020204030204"/>
                <a:cs typeface="Calibri" panose="020F0502020204030204"/>
              </a:rPr>
              <a:t>Model Performance Result</a:t>
            </a:r>
          </a:p>
        </p:txBody>
      </p:sp>
      <p:graphicFrame>
        <p:nvGraphicFramePr>
          <p:cNvPr id="6" name="Table 5">
            <a:extLst>
              <a:ext uri="{FF2B5EF4-FFF2-40B4-BE49-F238E27FC236}">
                <a16:creationId xmlns:a16="http://schemas.microsoft.com/office/drawing/2014/main" id="{6FB7E3CE-8595-E921-EEE7-EC7508034E06}"/>
              </a:ext>
            </a:extLst>
          </p:cNvPr>
          <p:cNvGraphicFramePr>
            <a:graphicFrameLocks noGrp="1"/>
          </p:cNvGraphicFramePr>
          <p:nvPr>
            <p:extLst>
              <p:ext uri="{D42A27DB-BD31-4B8C-83A1-F6EECF244321}">
                <p14:modId xmlns:p14="http://schemas.microsoft.com/office/powerpoint/2010/main" val="3268373635"/>
              </p:ext>
            </p:extLst>
          </p:nvPr>
        </p:nvGraphicFramePr>
        <p:xfrm>
          <a:off x="1287887" y="2151844"/>
          <a:ext cx="7457094" cy="1097280"/>
        </p:xfrm>
        <a:graphic>
          <a:graphicData uri="http://schemas.openxmlformats.org/drawingml/2006/table">
            <a:tbl>
              <a:tblPr bandRow="1">
                <a:tableStyleId>{5C22544A-7EE6-4342-B048-85BDC9FD1C3A}</a:tableStyleId>
              </a:tblPr>
              <a:tblGrid>
                <a:gridCol w="3728547">
                  <a:extLst>
                    <a:ext uri="{9D8B030D-6E8A-4147-A177-3AD203B41FA5}">
                      <a16:colId xmlns:a16="http://schemas.microsoft.com/office/drawing/2014/main" val="4289583287"/>
                    </a:ext>
                  </a:extLst>
                </a:gridCol>
                <a:gridCol w="3728547">
                  <a:extLst>
                    <a:ext uri="{9D8B030D-6E8A-4147-A177-3AD203B41FA5}">
                      <a16:colId xmlns:a16="http://schemas.microsoft.com/office/drawing/2014/main" val="1566439391"/>
                    </a:ext>
                  </a:extLst>
                </a:gridCol>
              </a:tblGrid>
              <a:tr h="0">
                <a:tc>
                  <a:txBody>
                    <a:bodyPr/>
                    <a:lstStyle/>
                    <a:p>
                      <a:pPr>
                        <a:buNone/>
                      </a:pPr>
                      <a:r>
                        <a:rPr lang="en-US"/>
                        <a:t>Metric</a:t>
                      </a:r>
                    </a:p>
                  </a:txBody>
                  <a:tcPr anchor="ctr">
                    <a:lnL>
                      <a:noFill/>
                    </a:lnL>
                    <a:lnR>
                      <a:noFill/>
                    </a:lnR>
                    <a:lnT>
                      <a:noFill/>
                    </a:lnT>
                    <a:lnB>
                      <a:noFill/>
                    </a:lnB>
                    <a:noFill/>
                  </a:tcPr>
                </a:tc>
                <a:tc>
                  <a:txBody>
                    <a:bodyPr/>
                    <a:lstStyle/>
                    <a:p>
                      <a:pPr>
                        <a:buNone/>
                      </a:pPr>
                      <a:r>
                        <a:rPr lang="en-US"/>
                        <a:t>Value</a:t>
                      </a:r>
                    </a:p>
                  </a:txBody>
                  <a:tcPr anchor="ctr">
                    <a:lnL>
                      <a:noFill/>
                    </a:lnL>
                    <a:lnR>
                      <a:noFill/>
                    </a:lnR>
                    <a:lnT>
                      <a:noFill/>
                    </a:lnT>
                    <a:lnB>
                      <a:noFill/>
                    </a:lnB>
                    <a:noFill/>
                  </a:tcPr>
                </a:tc>
                <a:extLst>
                  <a:ext uri="{0D108BD9-81ED-4DB2-BD59-A6C34878D82A}">
                    <a16:rowId xmlns:a16="http://schemas.microsoft.com/office/drawing/2014/main" val="3116762951"/>
                  </a:ext>
                </a:extLst>
              </a:tr>
              <a:tr h="0">
                <a:tc>
                  <a:txBody>
                    <a:bodyPr/>
                    <a:lstStyle/>
                    <a:p>
                      <a:pPr>
                        <a:buNone/>
                      </a:pPr>
                      <a:r>
                        <a:rPr lang="en-US"/>
                        <a:t>Training Accuracy</a:t>
                      </a:r>
                    </a:p>
                  </a:txBody>
                  <a:tcPr anchor="ctr">
                    <a:lnL>
                      <a:noFill/>
                    </a:lnL>
                    <a:lnR>
                      <a:noFill/>
                    </a:lnR>
                    <a:lnT>
                      <a:noFill/>
                    </a:lnT>
                    <a:lnB>
                      <a:noFill/>
                    </a:lnB>
                    <a:noFill/>
                  </a:tcPr>
                </a:tc>
                <a:tc>
                  <a:txBody>
                    <a:bodyPr/>
                    <a:lstStyle/>
                    <a:p>
                      <a:pPr>
                        <a:buNone/>
                      </a:pPr>
                      <a:r>
                        <a:rPr lang="en-US"/>
                        <a:t>96.40%</a:t>
                      </a:r>
                    </a:p>
                  </a:txBody>
                  <a:tcPr anchor="ctr">
                    <a:lnL>
                      <a:noFill/>
                    </a:lnL>
                    <a:lnR>
                      <a:noFill/>
                    </a:lnR>
                    <a:lnT>
                      <a:noFill/>
                    </a:lnT>
                    <a:lnB>
                      <a:noFill/>
                    </a:lnB>
                    <a:noFill/>
                  </a:tcPr>
                </a:tc>
                <a:extLst>
                  <a:ext uri="{0D108BD9-81ED-4DB2-BD59-A6C34878D82A}">
                    <a16:rowId xmlns:a16="http://schemas.microsoft.com/office/drawing/2014/main" val="2890422335"/>
                  </a:ext>
                </a:extLst>
              </a:tr>
              <a:tr h="0">
                <a:tc>
                  <a:txBody>
                    <a:bodyPr/>
                    <a:lstStyle/>
                    <a:p>
                      <a:pPr>
                        <a:buNone/>
                      </a:pPr>
                      <a:r>
                        <a:rPr lang="en-US"/>
                        <a:t>Validation Accuracy</a:t>
                      </a:r>
                    </a:p>
                  </a:txBody>
                  <a:tcPr anchor="ctr">
                    <a:lnL>
                      <a:noFill/>
                    </a:lnL>
                    <a:lnR>
                      <a:noFill/>
                    </a:lnR>
                    <a:lnT>
                      <a:noFill/>
                    </a:lnT>
                    <a:lnB>
                      <a:noFill/>
                    </a:lnB>
                    <a:noFill/>
                  </a:tcPr>
                </a:tc>
                <a:tc>
                  <a:txBody>
                    <a:bodyPr/>
                    <a:lstStyle/>
                    <a:p>
                      <a:pPr>
                        <a:buNone/>
                      </a:pPr>
                      <a:r>
                        <a:rPr lang="en-US"/>
                        <a:t>93.55%</a:t>
                      </a:r>
                    </a:p>
                  </a:txBody>
                  <a:tcPr anchor="ctr">
                    <a:lnL>
                      <a:noFill/>
                    </a:lnL>
                    <a:lnR>
                      <a:noFill/>
                    </a:lnR>
                    <a:lnT>
                      <a:noFill/>
                    </a:lnT>
                    <a:lnB>
                      <a:noFill/>
                    </a:lnB>
                    <a:noFill/>
                  </a:tcPr>
                </a:tc>
                <a:extLst>
                  <a:ext uri="{0D108BD9-81ED-4DB2-BD59-A6C34878D82A}">
                    <a16:rowId xmlns:a16="http://schemas.microsoft.com/office/drawing/2014/main" val="3892967864"/>
                  </a:ext>
                </a:extLst>
              </a:tr>
            </a:tbl>
          </a:graphicData>
        </a:graphic>
      </p:graphicFrame>
      <p:sp>
        <p:nvSpPr>
          <p:cNvPr id="8" name="TextBox 7">
            <a:extLst>
              <a:ext uri="{FF2B5EF4-FFF2-40B4-BE49-F238E27FC236}">
                <a16:creationId xmlns:a16="http://schemas.microsoft.com/office/drawing/2014/main" id="{39E3CC00-9AB0-DC9F-D4FC-4A6D19F7D616}"/>
              </a:ext>
            </a:extLst>
          </p:cNvPr>
          <p:cNvSpPr txBox="1"/>
          <p:nvPr/>
        </p:nvSpPr>
        <p:spPr>
          <a:xfrm>
            <a:off x="6895563" y="1159099"/>
            <a:ext cx="60960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dirty="0">
              <a:solidFill>
                <a:srgbClr val="FFFFFF"/>
              </a:solidFill>
              <a:ea typeface="Calibri"/>
              <a:cs typeface="Calibri"/>
            </a:endParaRPr>
          </a:p>
          <a:p>
            <a:endParaRPr lang="en-US" b="1" dirty="0">
              <a:solidFill>
                <a:srgbClr val="FFFFFF"/>
              </a:solidFill>
              <a:ea typeface="Calibri"/>
              <a:cs typeface="Calibri"/>
            </a:endParaRPr>
          </a:p>
          <a:p>
            <a:endParaRPr lang="en-US">
              <a:solidFill>
                <a:srgbClr val="FFFFFF"/>
              </a:solidFill>
            </a:endParaRPr>
          </a:p>
          <a:p>
            <a:r>
              <a:rPr lang="en-US" b="1"/>
              <a:t>Observations</a:t>
            </a:r>
            <a:endParaRPr lang="en-US" b="1">
              <a:ea typeface="Calibri"/>
              <a:cs typeface="Calibri"/>
            </a:endParaRPr>
          </a:p>
          <a:p>
            <a:pPr>
              <a:buFont typeface=""/>
              <a:buChar char="•"/>
            </a:pPr>
            <a:r>
              <a:rPr lang="en-US"/>
              <a:t>Stable convergence.</a:t>
            </a:r>
            <a:endParaRPr lang="en-US">
              <a:ea typeface="Calibri"/>
              <a:cs typeface="Calibri"/>
            </a:endParaRPr>
          </a:p>
          <a:p>
            <a:pPr>
              <a:buFont typeface=""/>
              <a:buChar char="•"/>
            </a:pPr>
            <a:r>
              <a:rPr lang="en-US"/>
              <a:t>Low overfitting.</a:t>
            </a:r>
            <a:endParaRPr lang="en-US">
              <a:ea typeface="Calibri"/>
              <a:cs typeface="Calibri"/>
            </a:endParaRPr>
          </a:p>
          <a:p>
            <a:pPr>
              <a:buFont typeface=""/>
              <a:buChar char="•"/>
            </a:pPr>
            <a:r>
              <a:rPr lang="en-US"/>
              <a:t>Good generalization ability.</a:t>
            </a:r>
            <a:endParaRPr lang="en-US">
              <a:ea typeface="Calibri"/>
              <a:cs typeface="Calibri"/>
            </a:endParaRPr>
          </a:p>
          <a:p>
            <a:pPr algn="ctr"/>
            <a:endParaRPr lang="en-US"/>
          </a:p>
        </p:txBody>
      </p:sp>
      <p:sp>
        <p:nvSpPr>
          <p:cNvPr id="9" name="TextBox 8">
            <a:extLst>
              <a:ext uri="{FF2B5EF4-FFF2-40B4-BE49-F238E27FC236}">
                <a16:creationId xmlns:a16="http://schemas.microsoft.com/office/drawing/2014/main" id="{EEDFD1F6-C1A6-D528-DA56-AEBEBDA025EE}"/>
              </a:ext>
            </a:extLst>
          </p:cNvPr>
          <p:cNvSpPr txBox="1"/>
          <p:nvPr/>
        </p:nvSpPr>
        <p:spPr>
          <a:xfrm>
            <a:off x="1126901" y="1116169"/>
            <a:ext cx="659505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800" b="1" baseline="0">
                <a:latin typeface="Calibri"/>
                <a:ea typeface="Segoe UI"/>
                <a:cs typeface="Segoe UI"/>
              </a:rPr>
              <a:t>Training Performance</a:t>
            </a:r>
            <a:r>
              <a:rPr lang="en-US" sz="1800">
                <a:latin typeface="Calibri"/>
                <a:ea typeface="Segoe UI"/>
                <a:cs typeface="Segoe UI"/>
              </a:rPr>
              <a:t>​</a:t>
            </a:r>
          </a:p>
          <a:p>
            <a:r>
              <a:rPr lang="en-US" sz="1800" baseline="0">
                <a:latin typeface="Calibri"/>
                <a:ea typeface="Segoe UI"/>
                <a:cs typeface="Segoe UI"/>
              </a:rPr>
              <a:t>The ResNet-18 model achieved strong classification </a:t>
            </a:r>
            <a:r>
              <a:rPr lang="en-US">
                <a:latin typeface="Calibri"/>
                <a:ea typeface="Segoe UI"/>
                <a:cs typeface="Segoe UI"/>
              </a:rPr>
              <a:t>performance.</a:t>
            </a:r>
          </a:p>
          <a:p>
            <a:pPr algn="ctr" rtl="0"/>
            <a:endParaRPr lang="en-US" b="1" dirty="0">
              <a:solidFill>
                <a:srgbClr val="FFFFFF"/>
              </a:solidFill>
              <a:ea typeface="Calibri"/>
              <a:cs typeface="Calibri"/>
            </a:endParaRPr>
          </a:p>
        </p:txBody>
      </p:sp>
      <p:sp>
        <p:nvSpPr>
          <p:cNvPr id="10" name="Rectangle: Rounded Corners 9">
            <a:extLst>
              <a:ext uri="{FF2B5EF4-FFF2-40B4-BE49-F238E27FC236}">
                <a16:creationId xmlns:a16="http://schemas.microsoft.com/office/drawing/2014/main" id="{4A956DC7-8326-A8E5-1224-FC06A648BEF2}"/>
              </a:ext>
            </a:extLst>
          </p:cNvPr>
          <p:cNvSpPr/>
          <p:nvPr/>
        </p:nvSpPr>
        <p:spPr>
          <a:xfrm>
            <a:off x="1233160" y="2059145"/>
            <a:ext cx="4827938" cy="161706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graph of a training history">
            <a:extLst>
              <a:ext uri="{FF2B5EF4-FFF2-40B4-BE49-F238E27FC236}">
                <a16:creationId xmlns:a16="http://schemas.microsoft.com/office/drawing/2014/main" id="{BFA77BDF-2DD8-A2DD-5B79-730DD2C5377B}"/>
              </a:ext>
            </a:extLst>
          </p:cNvPr>
          <p:cNvPicPr>
            <a:picLocks noChangeAspect="1"/>
          </p:cNvPicPr>
          <p:nvPr/>
        </p:nvPicPr>
        <p:blipFill>
          <a:blip r:embed="rId3"/>
          <a:stretch>
            <a:fillRect/>
          </a:stretch>
        </p:blipFill>
        <p:spPr>
          <a:xfrm>
            <a:off x="1257671" y="3797417"/>
            <a:ext cx="7250098" cy="2777247"/>
          </a:xfrm>
          <a:prstGeom prst="rect">
            <a:avLst/>
          </a:prstGeom>
        </p:spPr>
      </p:pic>
    </p:spTree>
    <p:extLst>
      <p:ext uri="{BB962C8B-B14F-4D97-AF65-F5344CB8AC3E}">
        <p14:creationId xmlns:p14="http://schemas.microsoft.com/office/powerpoint/2010/main" val="3861276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5E342DC5-14B2-8C48-5DEF-FA73F32C99EC}"/>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D7BC3A0B-97A2-09DB-0E73-B686564117A8}"/>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0E7117A4-9D50-FC40-724A-A0CBEA5F04B4}"/>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871CEFC3-4673-AF06-F91C-9C540AE88EBE}"/>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EFB684AF-126D-517F-A4AD-709C3DE491A1}"/>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34FD075B-7BD0-D1D6-B101-08117CA51454}"/>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A8DA2A15-81A7-7EA1-6867-7005282EB585}"/>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9193B70F-7785-1F17-D0CD-837787964BE1}"/>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CEBDEC70-5D01-F089-138A-AC7F9B36C495}"/>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B44994F9-8708-FE5A-3101-B4A5BF98FB38}"/>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3790C818-86AA-97BE-39BF-C363E1C7B272}"/>
              </a:ext>
            </a:extLst>
          </p:cNvPr>
          <p:cNvSpPr txBox="1"/>
          <p:nvPr/>
        </p:nvSpPr>
        <p:spPr>
          <a:xfrm>
            <a:off x="11608290" y="6320769"/>
            <a:ext cx="464790"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14</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971B1317-719E-77A8-4074-C0F5E05F80BB}"/>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0F037D1E-2A99-CAA1-3BC9-DDC8501943BB}"/>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AE787D22-590B-6EBE-9733-89642A9E96F8}"/>
              </a:ext>
            </a:extLst>
          </p:cNvPr>
          <p:cNvSpPr txBox="1"/>
          <p:nvPr/>
        </p:nvSpPr>
        <p:spPr>
          <a:xfrm>
            <a:off x="3154704" y="494443"/>
            <a:ext cx="587893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panose="020F0502020204030204"/>
                <a:cs typeface="Calibri" panose="020F0502020204030204"/>
              </a:rPr>
              <a:t>Comparative Analysis of XAI Methods</a:t>
            </a:r>
          </a:p>
        </p:txBody>
      </p:sp>
      <p:sp>
        <p:nvSpPr>
          <p:cNvPr id="6" name="TextBox 5">
            <a:extLst>
              <a:ext uri="{FF2B5EF4-FFF2-40B4-BE49-F238E27FC236}">
                <a16:creationId xmlns:a16="http://schemas.microsoft.com/office/drawing/2014/main" id="{2792F685-43B8-A610-BE7A-F9512CAA78BA}"/>
              </a:ext>
            </a:extLst>
          </p:cNvPr>
          <p:cNvSpPr txBox="1"/>
          <p:nvPr/>
        </p:nvSpPr>
        <p:spPr>
          <a:xfrm>
            <a:off x="1287313" y="1512899"/>
            <a:ext cx="357151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GRAD-CAM</a:t>
            </a:r>
          </a:p>
          <a:p>
            <a:pPr marL="285750" indent="-285750">
              <a:buFont typeface="Arial"/>
              <a:buChar char="•"/>
            </a:pPr>
            <a:r>
              <a:rPr lang="en-US">
                <a:ea typeface="+mn-lt"/>
                <a:cs typeface="+mn-lt"/>
              </a:rPr>
              <a:t>Fastest explanation generation.</a:t>
            </a:r>
            <a:endParaRPr lang="en-US">
              <a:ea typeface="Calibri"/>
              <a:cs typeface="Calibri"/>
            </a:endParaRPr>
          </a:p>
          <a:p>
            <a:pPr>
              <a:buFont typeface="Arial"/>
              <a:buChar char="•"/>
            </a:pPr>
            <a:r>
              <a:rPr lang="en-US">
                <a:ea typeface="+mn-lt"/>
                <a:cs typeface="+mn-lt"/>
              </a:rPr>
              <a:t>    Effective visual localization.</a:t>
            </a:r>
          </a:p>
        </p:txBody>
      </p:sp>
      <p:sp>
        <p:nvSpPr>
          <p:cNvPr id="9" name="TextBox 8">
            <a:extLst>
              <a:ext uri="{FF2B5EF4-FFF2-40B4-BE49-F238E27FC236}">
                <a16:creationId xmlns:a16="http://schemas.microsoft.com/office/drawing/2014/main" id="{245837EE-746A-42C3-AB2E-72C6A256B4FF}"/>
              </a:ext>
            </a:extLst>
          </p:cNvPr>
          <p:cNvSpPr txBox="1"/>
          <p:nvPr/>
        </p:nvSpPr>
        <p:spPr>
          <a:xfrm>
            <a:off x="1230259" y="4609240"/>
            <a:ext cx="486617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Calibri"/>
                <a:cs typeface="Calibri"/>
              </a:rPr>
              <a:t>LIME</a:t>
            </a:r>
          </a:p>
          <a:p>
            <a:pPr marL="285750" indent="-285750">
              <a:buFont typeface="Arial"/>
              <a:buChar char="•"/>
            </a:pPr>
            <a:r>
              <a:rPr lang="en-US">
                <a:ea typeface="+mn-lt"/>
                <a:cs typeface="+mn-lt"/>
              </a:rPr>
              <a:t>Works with any model.</a:t>
            </a:r>
            <a:endParaRPr lang="en-US">
              <a:ea typeface="Calibri"/>
              <a:cs typeface="Calibri"/>
            </a:endParaRPr>
          </a:p>
          <a:p>
            <a:pPr>
              <a:buFont typeface="Arial"/>
              <a:buChar char="•"/>
            </a:pPr>
            <a:r>
              <a:rPr lang="en-US" dirty="0">
                <a:ea typeface="+mn-lt"/>
                <a:cs typeface="+mn-lt"/>
              </a:rPr>
              <a:t>    Provides intuitive </a:t>
            </a:r>
            <a:r>
              <a:rPr lang="en-US" dirty="0" err="1">
                <a:ea typeface="+mn-lt"/>
                <a:cs typeface="+mn-lt"/>
              </a:rPr>
              <a:t>superpixel</a:t>
            </a:r>
            <a:r>
              <a:rPr lang="en-US" dirty="0">
                <a:ea typeface="+mn-lt"/>
                <a:cs typeface="+mn-lt"/>
              </a:rPr>
              <a:t> </a:t>
            </a:r>
          </a:p>
          <a:p>
            <a:r>
              <a:rPr lang="en-US">
                <a:ea typeface="+mn-lt"/>
                <a:cs typeface="+mn-lt"/>
              </a:rPr>
              <a:t>      explanations.</a:t>
            </a:r>
            <a:endParaRPr lang="en-US">
              <a:ea typeface="Calibri" panose="020F0502020204030204"/>
              <a:cs typeface="Calibri" panose="020F0502020204030204"/>
            </a:endParaRPr>
          </a:p>
        </p:txBody>
      </p:sp>
      <p:sp>
        <p:nvSpPr>
          <p:cNvPr id="13" name="TextBox 12">
            <a:extLst>
              <a:ext uri="{FF2B5EF4-FFF2-40B4-BE49-F238E27FC236}">
                <a16:creationId xmlns:a16="http://schemas.microsoft.com/office/drawing/2014/main" id="{DFA1EC06-8A7F-B033-8F83-C6EE500B5312}"/>
              </a:ext>
            </a:extLst>
          </p:cNvPr>
          <p:cNvSpPr txBox="1"/>
          <p:nvPr/>
        </p:nvSpPr>
        <p:spPr>
          <a:xfrm>
            <a:off x="1302108" y="2988086"/>
            <a:ext cx="357151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SHAP</a:t>
            </a:r>
          </a:p>
          <a:p>
            <a:pPr marL="285750" indent="-285750">
              <a:buFont typeface="Arial"/>
              <a:buChar char="•"/>
            </a:pPr>
            <a:r>
              <a:rPr lang="en-US">
                <a:ea typeface="+mn-lt"/>
                <a:cs typeface="+mn-lt"/>
              </a:rPr>
              <a:t>Highest attribution quality.</a:t>
            </a:r>
            <a:endParaRPr lang="en-US">
              <a:ea typeface="Calibri"/>
              <a:cs typeface="Calibri"/>
            </a:endParaRPr>
          </a:p>
          <a:p>
            <a:pPr>
              <a:buFont typeface="Arial"/>
              <a:buChar char="•"/>
            </a:pPr>
            <a:r>
              <a:rPr lang="en-US">
                <a:ea typeface="+mn-lt"/>
                <a:cs typeface="+mn-lt"/>
              </a:rPr>
              <a:t>    Strong theoretical basis.</a:t>
            </a:r>
          </a:p>
        </p:txBody>
      </p:sp>
      <p:sp>
        <p:nvSpPr>
          <p:cNvPr id="15" name="Rectangle: Rounded Corners 14">
            <a:extLst>
              <a:ext uri="{FF2B5EF4-FFF2-40B4-BE49-F238E27FC236}">
                <a16:creationId xmlns:a16="http://schemas.microsoft.com/office/drawing/2014/main" id="{973A2109-6D1B-AB3F-5693-839AE22C81E4}"/>
              </a:ext>
            </a:extLst>
          </p:cNvPr>
          <p:cNvSpPr/>
          <p:nvPr/>
        </p:nvSpPr>
        <p:spPr>
          <a:xfrm>
            <a:off x="1265529" y="1362260"/>
            <a:ext cx="3455739" cy="127811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1670829E-5BF1-667F-650D-BBAB890A1442}"/>
              </a:ext>
            </a:extLst>
          </p:cNvPr>
          <p:cNvSpPr/>
          <p:nvPr/>
        </p:nvSpPr>
        <p:spPr>
          <a:xfrm>
            <a:off x="1259752" y="4474470"/>
            <a:ext cx="3478442" cy="135531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9218968B-70AC-00AE-C9C0-973E074D5D49}"/>
              </a:ext>
            </a:extLst>
          </p:cNvPr>
          <p:cNvSpPr/>
          <p:nvPr/>
        </p:nvSpPr>
        <p:spPr>
          <a:xfrm>
            <a:off x="1258131" y="2953751"/>
            <a:ext cx="3464719" cy="117956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graph of different colored bars&#10;&#10;AI-generated content may be incorrect.">
            <a:extLst>
              <a:ext uri="{FF2B5EF4-FFF2-40B4-BE49-F238E27FC236}">
                <a16:creationId xmlns:a16="http://schemas.microsoft.com/office/drawing/2014/main" id="{48F1264E-DBD0-A13B-C6A9-E26EFD97F4AD}"/>
              </a:ext>
            </a:extLst>
          </p:cNvPr>
          <p:cNvPicPr>
            <a:picLocks noChangeAspect="1"/>
          </p:cNvPicPr>
          <p:nvPr/>
        </p:nvPicPr>
        <p:blipFill>
          <a:blip r:embed="rId3"/>
          <a:stretch>
            <a:fillRect/>
          </a:stretch>
        </p:blipFill>
        <p:spPr>
          <a:xfrm>
            <a:off x="5787710" y="1354819"/>
            <a:ext cx="3775101" cy="2013601"/>
          </a:xfrm>
          <a:prstGeom prst="rect">
            <a:avLst/>
          </a:prstGeom>
        </p:spPr>
      </p:pic>
      <p:pic>
        <p:nvPicPr>
          <p:cNvPr id="23" name="Picture 22" descr="A graph showing the average metrics heat&#10;&#10;AI-generated content may be incorrect.">
            <a:extLst>
              <a:ext uri="{FF2B5EF4-FFF2-40B4-BE49-F238E27FC236}">
                <a16:creationId xmlns:a16="http://schemas.microsoft.com/office/drawing/2014/main" id="{BFA7F664-8034-A8B6-A704-432877C54FC6}"/>
              </a:ext>
            </a:extLst>
          </p:cNvPr>
          <p:cNvPicPr>
            <a:picLocks noChangeAspect="1"/>
          </p:cNvPicPr>
          <p:nvPr/>
        </p:nvPicPr>
        <p:blipFill>
          <a:blip r:embed="rId4"/>
          <a:stretch>
            <a:fillRect/>
          </a:stretch>
        </p:blipFill>
        <p:spPr>
          <a:xfrm>
            <a:off x="5792073" y="3982555"/>
            <a:ext cx="3771029" cy="1826693"/>
          </a:xfrm>
          <a:prstGeom prst="rect">
            <a:avLst/>
          </a:prstGeom>
        </p:spPr>
      </p:pic>
      <p:sp>
        <p:nvSpPr>
          <p:cNvPr id="24" name="TextBox 23">
            <a:extLst>
              <a:ext uri="{FF2B5EF4-FFF2-40B4-BE49-F238E27FC236}">
                <a16:creationId xmlns:a16="http://schemas.microsoft.com/office/drawing/2014/main" id="{6A603E5D-2F22-3A2E-9D6A-BA64D287F385}"/>
              </a:ext>
            </a:extLst>
          </p:cNvPr>
          <p:cNvSpPr txBox="1"/>
          <p:nvPr/>
        </p:nvSpPr>
        <p:spPr>
          <a:xfrm>
            <a:off x="1233160" y="5941855"/>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Conclusion</a:t>
            </a:r>
            <a:endParaRPr lang="en-US" b="1">
              <a:ea typeface="Calibri"/>
              <a:cs typeface="Calibri"/>
            </a:endParaRPr>
          </a:p>
          <a:p>
            <a:r>
              <a:rPr lang="en-US"/>
              <a:t>No single method dominates all evaluation metrics.</a:t>
            </a:r>
            <a:endParaRPr lang="en-US">
              <a:ea typeface="Calibri"/>
              <a:cs typeface="Calibri"/>
            </a:endParaRPr>
          </a:p>
          <a:p>
            <a:pPr algn="ctr"/>
            <a:endParaRPr lang="en-US" dirty="0">
              <a:ea typeface="Calibri"/>
              <a:cs typeface="Calibri"/>
            </a:endParaRPr>
          </a:p>
        </p:txBody>
      </p:sp>
    </p:spTree>
    <p:extLst>
      <p:ext uri="{BB962C8B-B14F-4D97-AF65-F5344CB8AC3E}">
        <p14:creationId xmlns:p14="http://schemas.microsoft.com/office/powerpoint/2010/main" val="200154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65116E9A-7C8B-5F3C-040C-4F8958FD1308}"/>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23F7C976-90D4-1F7D-DD6B-2E8044AAA4E7}"/>
              </a:ext>
            </a:extLst>
          </p:cNvPr>
          <p:cNvGrpSpPr/>
          <p:nvPr/>
        </p:nvGrpSpPr>
        <p:grpSpPr>
          <a:xfrm>
            <a:off x="618906" y="243821"/>
            <a:ext cx="10334494" cy="6446716"/>
            <a:chOff x="1162348" y="1677368"/>
            <a:chExt cx="3266778" cy="3266778"/>
          </a:xfrm>
        </p:grpSpPr>
        <p:sp>
          <p:nvSpPr>
            <p:cNvPr id="60" name="Oval 34">
              <a:extLst>
                <a:ext uri="{FF2B5EF4-FFF2-40B4-BE49-F238E27FC236}">
                  <a16:creationId xmlns:a16="http://schemas.microsoft.com/office/drawing/2014/main" id="{FF8899F7-6D09-3497-704F-A3BD1EEBD0C5}"/>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Oval 35">
              <a:extLst>
                <a:ext uri="{FF2B5EF4-FFF2-40B4-BE49-F238E27FC236}">
                  <a16:creationId xmlns:a16="http://schemas.microsoft.com/office/drawing/2014/main" id="{C1857198-B41B-73E9-6235-6D930CD7C75F}"/>
                </a:ext>
              </a:extLst>
            </p:cNvPr>
            <p:cNvSpPr/>
            <p:nvPr/>
          </p:nvSpPr>
          <p:spPr>
            <a:xfrm>
              <a:off x="1162348" y="1677368"/>
              <a:ext cx="3266778" cy="3266778"/>
            </a:xfrm>
            <a:prstGeom prst="roundRect">
              <a:avLst>
                <a:gd name="adj" fmla="val 6541"/>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Freeform: Shape 47">
            <a:extLst>
              <a:ext uri="{FF2B5EF4-FFF2-40B4-BE49-F238E27FC236}">
                <a16:creationId xmlns:a16="http://schemas.microsoft.com/office/drawing/2014/main" id="{9A42AC70-D72B-D7B8-095E-DF0B6D081076}"/>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36854100-FB0C-022C-DFD8-168C2A882B3E}"/>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Freeform: Shape 49">
            <a:extLst>
              <a:ext uri="{FF2B5EF4-FFF2-40B4-BE49-F238E27FC236}">
                <a16:creationId xmlns:a16="http://schemas.microsoft.com/office/drawing/2014/main" id="{2CC35121-37E9-AF88-40D1-427F2F653C9C}"/>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9" name="Group 28">
            <a:extLst>
              <a:ext uri="{FF2B5EF4-FFF2-40B4-BE49-F238E27FC236}">
                <a16:creationId xmlns:a16="http://schemas.microsoft.com/office/drawing/2014/main" id="{FC6ADEAC-E60E-6D31-A828-61CEBB671364}"/>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30" name="Oval 22">
              <a:extLst>
                <a:ext uri="{FF2B5EF4-FFF2-40B4-BE49-F238E27FC236}">
                  <a16:creationId xmlns:a16="http://schemas.microsoft.com/office/drawing/2014/main" id="{8079B63A-38F8-8B24-9E97-0FAE9F6EAFA8}"/>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Oval 23">
              <a:extLst>
                <a:ext uri="{FF2B5EF4-FFF2-40B4-BE49-F238E27FC236}">
                  <a16:creationId xmlns:a16="http://schemas.microsoft.com/office/drawing/2014/main" id="{5FC63D6C-C54A-59D2-7BD4-73AC69078A8F}"/>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2" name="TextBox 31">
            <a:extLst>
              <a:ext uri="{FF2B5EF4-FFF2-40B4-BE49-F238E27FC236}">
                <a16:creationId xmlns:a16="http://schemas.microsoft.com/office/drawing/2014/main" id="{535B9736-55B8-4F14-38C0-BFC0C1E61AE3}"/>
              </a:ext>
            </a:extLst>
          </p:cNvPr>
          <p:cNvSpPr txBox="1"/>
          <p:nvPr/>
        </p:nvSpPr>
        <p:spPr>
          <a:xfrm>
            <a:off x="11608290" y="6320769"/>
            <a:ext cx="464790"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15</a:t>
            </a:r>
            <a:endParaRPr lang="en-IN" b="1" dirty="0">
              <a:solidFill>
                <a:schemeClr val="tx1">
                  <a:lumMod val="65000"/>
                  <a:lumOff val="35000"/>
                </a:schemeClr>
              </a:solidFill>
              <a:latin typeface="Vibur" panose="03000603000000000000" pitchFamily="66" charset="0"/>
            </a:endParaRPr>
          </a:p>
        </p:txBody>
      </p:sp>
      <p:sp>
        <p:nvSpPr>
          <p:cNvPr id="3" name="TextBox 2">
            <a:extLst>
              <a:ext uri="{FF2B5EF4-FFF2-40B4-BE49-F238E27FC236}">
                <a16:creationId xmlns:a16="http://schemas.microsoft.com/office/drawing/2014/main" id="{4B785843-0D30-40CE-A4D7-78DA512598E7}"/>
              </a:ext>
            </a:extLst>
          </p:cNvPr>
          <p:cNvSpPr txBox="1"/>
          <p:nvPr/>
        </p:nvSpPr>
        <p:spPr>
          <a:xfrm>
            <a:off x="1116824" y="3897251"/>
            <a:ext cx="11633" cy="511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blue logo with text&#10;&#10;AI-generated content may be incorrect.">
            <a:extLst>
              <a:ext uri="{FF2B5EF4-FFF2-40B4-BE49-F238E27FC236}">
                <a16:creationId xmlns:a16="http://schemas.microsoft.com/office/drawing/2014/main" id="{FE0548D4-AC99-0736-7A7E-11A07F6466C2}"/>
              </a:ext>
            </a:extLst>
          </p:cNvPr>
          <p:cNvPicPr>
            <a:picLocks noChangeAspect="1"/>
          </p:cNvPicPr>
          <p:nvPr/>
        </p:nvPicPr>
        <p:blipFill>
          <a:blip r:embed="rId2"/>
          <a:stretch>
            <a:fillRect/>
          </a:stretch>
        </p:blipFill>
        <p:spPr>
          <a:xfrm>
            <a:off x="10228173" y="5806469"/>
            <a:ext cx="356142" cy="689580"/>
          </a:xfrm>
          <a:prstGeom prst="rect">
            <a:avLst/>
          </a:prstGeom>
        </p:spPr>
      </p:pic>
      <p:sp>
        <p:nvSpPr>
          <p:cNvPr id="4" name="TextBox 3">
            <a:extLst>
              <a:ext uri="{FF2B5EF4-FFF2-40B4-BE49-F238E27FC236}">
                <a16:creationId xmlns:a16="http://schemas.microsoft.com/office/drawing/2014/main" id="{40B945A8-BAF3-18E1-F366-EC16A0F7B468}"/>
              </a:ext>
            </a:extLst>
          </p:cNvPr>
          <p:cNvSpPr txBox="1"/>
          <p:nvPr/>
        </p:nvSpPr>
        <p:spPr>
          <a:xfrm>
            <a:off x="2270552" y="494443"/>
            <a:ext cx="704229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panose="020F0502020204030204"/>
                <a:cs typeface="Calibri" panose="020F0502020204030204"/>
              </a:rPr>
              <a:t>Contributions, Conclusion &amp; Future Work</a:t>
            </a:r>
          </a:p>
        </p:txBody>
      </p:sp>
      <p:sp>
        <p:nvSpPr>
          <p:cNvPr id="6" name="TextBox 5">
            <a:extLst>
              <a:ext uri="{FF2B5EF4-FFF2-40B4-BE49-F238E27FC236}">
                <a16:creationId xmlns:a16="http://schemas.microsoft.com/office/drawing/2014/main" id="{1612E865-7B2D-3F86-4EDE-CAD52F9D077A}"/>
              </a:ext>
            </a:extLst>
          </p:cNvPr>
          <p:cNvSpPr txBox="1"/>
          <p:nvPr/>
        </p:nvSpPr>
        <p:spPr>
          <a:xfrm>
            <a:off x="1095359" y="1460549"/>
            <a:ext cx="500244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Contributions</a:t>
            </a:r>
          </a:p>
          <a:p>
            <a:r>
              <a:rPr lang="en-US">
                <a:ea typeface="+mn-lt"/>
                <a:cs typeface="+mn-lt"/>
              </a:rPr>
              <a:t>✓ Developed complete XAI framework.</a:t>
            </a:r>
            <a:endParaRPr lang="en-US">
              <a:ea typeface="Calibri"/>
              <a:cs typeface="Calibri"/>
            </a:endParaRPr>
          </a:p>
          <a:p>
            <a:r>
              <a:rPr lang="en-US">
                <a:ea typeface="+mn-lt"/>
                <a:cs typeface="+mn-lt"/>
              </a:rPr>
              <a:t>✓ Trained and evaluated ResNet-18 classifier.</a:t>
            </a:r>
            <a:endParaRPr lang="en-US">
              <a:ea typeface="Calibri"/>
              <a:cs typeface="Calibri"/>
            </a:endParaRPr>
          </a:p>
          <a:p>
            <a:r>
              <a:rPr lang="en-US" dirty="0">
                <a:ea typeface="+mn-lt"/>
                <a:cs typeface="+mn-lt"/>
              </a:rPr>
              <a:t>✓ Implemented Grad-CAM, LIME and SHAP.</a:t>
            </a:r>
            <a:endParaRPr lang="en-US" dirty="0">
              <a:ea typeface="Calibri"/>
              <a:cs typeface="Calibri"/>
            </a:endParaRPr>
          </a:p>
          <a:p>
            <a:r>
              <a:rPr lang="en-US" dirty="0">
                <a:ea typeface="+mn-lt"/>
                <a:cs typeface="+mn-lt"/>
              </a:rPr>
              <a:t>✓ Designed multi-metric evaluation methodology.</a:t>
            </a:r>
            <a:endParaRPr lang="en-US" dirty="0">
              <a:ea typeface="Calibri"/>
              <a:cs typeface="Calibri"/>
            </a:endParaRPr>
          </a:p>
          <a:p>
            <a:r>
              <a:rPr lang="en-US">
                <a:ea typeface="+mn-lt"/>
                <a:cs typeface="+mn-lt"/>
              </a:rPr>
              <a:t>✓ Provided comparative insights for XAI selection.</a:t>
            </a:r>
            <a:endParaRPr lang="en-US">
              <a:ea typeface="Calibri"/>
              <a:cs typeface="Calibri"/>
            </a:endParaRPr>
          </a:p>
          <a:p>
            <a:endParaRPr lang="en-US" dirty="0">
              <a:ea typeface="+mn-lt"/>
              <a:cs typeface="+mn-lt"/>
            </a:endParaRPr>
          </a:p>
        </p:txBody>
      </p:sp>
      <p:sp>
        <p:nvSpPr>
          <p:cNvPr id="9" name="TextBox 8">
            <a:extLst>
              <a:ext uri="{FF2B5EF4-FFF2-40B4-BE49-F238E27FC236}">
                <a16:creationId xmlns:a16="http://schemas.microsoft.com/office/drawing/2014/main" id="{A01553C0-F018-A3DE-EBEF-ABC6CC0CE2C6}"/>
              </a:ext>
            </a:extLst>
          </p:cNvPr>
          <p:cNvSpPr txBox="1"/>
          <p:nvPr/>
        </p:nvSpPr>
        <p:spPr>
          <a:xfrm>
            <a:off x="6488641" y="1444903"/>
            <a:ext cx="4860353"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err="1">
                <a:ea typeface="Calibri"/>
                <a:cs typeface="Calibri"/>
              </a:rPr>
              <a:t>Futurte</a:t>
            </a:r>
            <a:r>
              <a:rPr lang="en-US" b="1" dirty="0">
                <a:ea typeface="Calibri"/>
                <a:cs typeface="Calibri"/>
              </a:rPr>
              <a:t> Work</a:t>
            </a:r>
          </a:p>
          <a:p>
            <a:pPr marL="285750" indent="-285750">
              <a:buFont typeface="Arial"/>
              <a:buChar char="•"/>
            </a:pPr>
            <a:r>
              <a:rPr lang="en-US">
                <a:ea typeface="+mn-lt"/>
                <a:cs typeface="+mn-lt"/>
              </a:rPr>
              <a:t>Vision Transformers</a:t>
            </a:r>
            <a:endParaRPr lang="en-US">
              <a:ea typeface="Calibri"/>
              <a:cs typeface="Calibri"/>
            </a:endParaRPr>
          </a:p>
          <a:p>
            <a:pPr marL="285750" indent="-285750">
              <a:buFont typeface="Arial"/>
              <a:buChar char="•"/>
            </a:pPr>
            <a:r>
              <a:rPr lang="en-US">
                <a:ea typeface="+mn-lt"/>
                <a:cs typeface="+mn-lt"/>
              </a:rPr>
              <a:t>Medical Imaging</a:t>
            </a:r>
            <a:endParaRPr lang="en-US">
              <a:ea typeface="Calibri"/>
              <a:cs typeface="Calibri"/>
            </a:endParaRPr>
          </a:p>
          <a:p>
            <a:pPr marL="285750" indent="-285750">
              <a:buFont typeface="Arial"/>
              <a:buChar char="•"/>
            </a:pPr>
            <a:r>
              <a:rPr lang="en-US">
                <a:ea typeface="+mn-lt"/>
                <a:cs typeface="+mn-lt"/>
              </a:rPr>
              <a:t>Explainable Object Detection</a:t>
            </a:r>
            <a:endParaRPr lang="en-US">
              <a:ea typeface="Calibri"/>
              <a:cs typeface="Calibri"/>
            </a:endParaRPr>
          </a:p>
          <a:p>
            <a:pPr marL="285750" indent="-285750">
              <a:buFont typeface="Arial"/>
              <a:buChar char="•"/>
            </a:pPr>
            <a:r>
              <a:rPr lang="en-US">
                <a:ea typeface="+mn-lt"/>
                <a:cs typeface="+mn-lt"/>
              </a:rPr>
              <a:t>Human-Centered Evaluation</a:t>
            </a:r>
            <a:endParaRPr lang="en-US">
              <a:ea typeface="Calibri"/>
              <a:cs typeface="Calibri"/>
            </a:endParaRPr>
          </a:p>
          <a:p>
            <a:pPr marL="285750" indent="-285750">
              <a:buFont typeface="Arial"/>
              <a:buChar char="•"/>
            </a:pPr>
            <a:r>
              <a:rPr lang="en-US">
                <a:ea typeface="+mn-lt"/>
                <a:cs typeface="+mn-lt"/>
              </a:rPr>
              <a:t>Real-Time Explainable AI Systems</a:t>
            </a:r>
            <a:endParaRPr lang="en-US">
              <a:ea typeface="Calibri"/>
              <a:cs typeface="Calibri"/>
            </a:endParaRPr>
          </a:p>
          <a:p>
            <a:endParaRPr lang="en-US" dirty="0">
              <a:ea typeface="Calibri" panose="020F0502020204030204"/>
              <a:cs typeface="Calibri" panose="020F0502020204030204"/>
            </a:endParaRPr>
          </a:p>
        </p:txBody>
      </p:sp>
      <p:sp>
        <p:nvSpPr>
          <p:cNvPr id="13" name="TextBox 12">
            <a:extLst>
              <a:ext uri="{FF2B5EF4-FFF2-40B4-BE49-F238E27FC236}">
                <a16:creationId xmlns:a16="http://schemas.microsoft.com/office/drawing/2014/main" id="{5882D37F-FA97-8CD7-BFF0-FDB2FFDB5CE1}"/>
              </a:ext>
            </a:extLst>
          </p:cNvPr>
          <p:cNvSpPr txBox="1"/>
          <p:nvPr/>
        </p:nvSpPr>
        <p:spPr>
          <a:xfrm>
            <a:off x="3564841" y="3796620"/>
            <a:ext cx="497917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Conclusion</a:t>
            </a:r>
            <a:endParaRPr lang="en-US" b="1" dirty="0">
              <a:ea typeface="+mn-lt"/>
              <a:cs typeface="+mn-lt"/>
            </a:endParaRPr>
          </a:p>
          <a:p>
            <a:pPr marL="285750" indent="-285750">
              <a:buFont typeface="Arial"/>
              <a:buChar char="•"/>
            </a:pPr>
            <a:r>
              <a:rPr lang="en-US">
                <a:ea typeface="+mn-lt"/>
                <a:cs typeface="+mn-lt"/>
              </a:rPr>
              <a:t>ResNet-18 achieved 93.55% validation accuracy.</a:t>
            </a:r>
            <a:endParaRPr lang="en-US">
              <a:ea typeface="Calibri"/>
              <a:cs typeface="Calibri"/>
            </a:endParaRPr>
          </a:p>
          <a:p>
            <a:pPr marL="285750" indent="-285750">
              <a:buFont typeface="Arial"/>
              <a:buChar char="•"/>
            </a:pPr>
            <a:r>
              <a:rPr lang="en-US">
                <a:ea typeface="+mn-lt"/>
                <a:cs typeface="+mn-lt"/>
              </a:rPr>
              <a:t>Grad-CAM offers efficient visual explanations.</a:t>
            </a:r>
            <a:endParaRPr lang="en-US">
              <a:ea typeface="Calibri"/>
              <a:cs typeface="Calibri"/>
            </a:endParaRPr>
          </a:p>
          <a:p>
            <a:pPr marL="285750" indent="-285750">
              <a:buFont typeface="Arial"/>
              <a:buChar char="•"/>
            </a:pPr>
            <a:r>
              <a:rPr lang="en-US">
                <a:ea typeface="+mn-lt"/>
                <a:cs typeface="+mn-lt"/>
              </a:rPr>
              <a:t>LIME provides model-independent interpretability.</a:t>
            </a:r>
            <a:endParaRPr lang="en-US">
              <a:ea typeface="Calibri"/>
              <a:cs typeface="Calibri"/>
            </a:endParaRPr>
          </a:p>
          <a:p>
            <a:pPr marL="285750" indent="-285750">
              <a:buFont typeface="Arial"/>
              <a:buChar char="•"/>
            </a:pPr>
            <a:r>
              <a:rPr lang="en-US">
                <a:ea typeface="+mn-lt"/>
                <a:cs typeface="+mn-lt"/>
              </a:rPr>
              <a:t>SHAP delivers strong attribution quality.</a:t>
            </a:r>
            <a:endParaRPr lang="en-US">
              <a:ea typeface="Calibri"/>
              <a:cs typeface="Calibri"/>
            </a:endParaRPr>
          </a:p>
          <a:p>
            <a:pPr marL="285750" indent="-285750">
              <a:buFont typeface="Arial"/>
              <a:buChar char="•"/>
            </a:pPr>
            <a:r>
              <a:rPr lang="en-US">
                <a:ea typeface="+mn-lt"/>
                <a:cs typeface="+mn-lt"/>
              </a:rPr>
              <a:t>Different applications may require different explanation techniques.</a:t>
            </a:r>
            <a:endParaRPr lang="en-US">
              <a:ea typeface="Calibri"/>
              <a:cs typeface="Calibri"/>
            </a:endParaRPr>
          </a:p>
          <a:p>
            <a:endParaRPr lang="en-US" b="1" dirty="0">
              <a:ea typeface="+mn-lt"/>
              <a:cs typeface="+mn-lt"/>
            </a:endParaRPr>
          </a:p>
        </p:txBody>
      </p:sp>
      <p:sp>
        <p:nvSpPr>
          <p:cNvPr id="15" name="Rectangle: Rounded Corners 14">
            <a:extLst>
              <a:ext uri="{FF2B5EF4-FFF2-40B4-BE49-F238E27FC236}">
                <a16:creationId xmlns:a16="http://schemas.microsoft.com/office/drawing/2014/main" id="{FEE0B6CA-EB93-E91D-A183-9D588EEE0C3D}"/>
              </a:ext>
            </a:extLst>
          </p:cNvPr>
          <p:cNvSpPr/>
          <p:nvPr/>
        </p:nvSpPr>
        <p:spPr>
          <a:xfrm>
            <a:off x="963054" y="1356442"/>
            <a:ext cx="4915755" cy="212155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851538EE-5FF7-49EA-0F70-240208C2C445}"/>
              </a:ext>
            </a:extLst>
          </p:cNvPr>
          <p:cNvSpPr/>
          <p:nvPr/>
        </p:nvSpPr>
        <p:spPr>
          <a:xfrm>
            <a:off x="6454149" y="1333402"/>
            <a:ext cx="3664579" cy="207659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5F645936-55D3-FE6B-A212-C035E8DE0115}"/>
              </a:ext>
            </a:extLst>
          </p:cNvPr>
          <p:cNvSpPr/>
          <p:nvPr/>
        </p:nvSpPr>
        <p:spPr>
          <a:xfrm>
            <a:off x="3567399" y="3640132"/>
            <a:ext cx="4895648" cy="256978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0789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a:extLst>
            <a:ext uri="{FF2B5EF4-FFF2-40B4-BE49-F238E27FC236}">
              <a16:creationId xmlns:a16="http://schemas.microsoft.com/office/drawing/2014/main" id="{451121C3-B693-98F8-C763-F584E0975F9E}"/>
            </a:ext>
          </a:extLst>
        </p:cNvPr>
        <p:cNvGrpSpPr/>
        <p:nvPr/>
      </p:nvGrpSpPr>
      <p:grpSpPr>
        <a:xfrm>
          <a:off x="0" y="0"/>
          <a:ext cx="0" cy="0"/>
          <a:chOff x="0" y="0"/>
          <a:chExt cx="0" cy="0"/>
        </a:xfrm>
      </p:grpSpPr>
      <p:grpSp>
        <p:nvGrpSpPr>
          <p:cNvPr id="55" name="Group 54">
            <a:extLst>
              <a:ext uri="{FF2B5EF4-FFF2-40B4-BE49-F238E27FC236}">
                <a16:creationId xmlns:a16="http://schemas.microsoft.com/office/drawing/2014/main" id="{1849774F-3787-89B5-9AC4-60012911AB62}"/>
              </a:ext>
            </a:extLst>
          </p:cNvPr>
          <p:cNvGrpSpPr/>
          <p:nvPr/>
        </p:nvGrpSpPr>
        <p:grpSpPr>
          <a:xfrm>
            <a:off x="928751" y="1043284"/>
            <a:ext cx="10334494" cy="4709815"/>
            <a:chOff x="1162348" y="1677368"/>
            <a:chExt cx="3266778" cy="3266778"/>
          </a:xfrm>
        </p:grpSpPr>
        <p:sp>
          <p:nvSpPr>
            <p:cNvPr id="56" name="Oval 34">
              <a:extLst>
                <a:ext uri="{FF2B5EF4-FFF2-40B4-BE49-F238E27FC236}">
                  <a16:creationId xmlns:a16="http://schemas.microsoft.com/office/drawing/2014/main" id="{CCEE053B-7900-0D33-BE23-9B3D40F9F8F9}"/>
                </a:ext>
              </a:extLst>
            </p:cNvPr>
            <p:cNvSpPr/>
            <p:nvPr/>
          </p:nvSpPr>
          <p:spPr>
            <a:xfrm>
              <a:off x="1162348" y="1677368"/>
              <a:ext cx="3266778" cy="3266778"/>
            </a:xfrm>
            <a:prstGeom prst="roundRect">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7" name="Oval 35">
              <a:extLst>
                <a:ext uri="{FF2B5EF4-FFF2-40B4-BE49-F238E27FC236}">
                  <a16:creationId xmlns:a16="http://schemas.microsoft.com/office/drawing/2014/main" id="{97B68CDB-389C-BA54-1EEE-11E4B23E1A26}"/>
                </a:ext>
              </a:extLst>
            </p:cNvPr>
            <p:cNvSpPr/>
            <p:nvPr/>
          </p:nvSpPr>
          <p:spPr>
            <a:xfrm>
              <a:off x="1162348" y="1677368"/>
              <a:ext cx="3266778" cy="3266778"/>
            </a:xfrm>
            <a:prstGeom prst="roundRect">
              <a:avLst>
                <a:gd name="adj" fmla="val 9224"/>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6" name="Rectangle: Rounded Corners 5">
            <a:extLst>
              <a:ext uri="{FF2B5EF4-FFF2-40B4-BE49-F238E27FC236}">
                <a16:creationId xmlns:a16="http://schemas.microsoft.com/office/drawing/2014/main" id="{EC236A95-6F17-3A66-2224-9F100A54685B}"/>
              </a:ext>
            </a:extLst>
          </p:cNvPr>
          <p:cNvSpPr/>
          <p:nvPr/>
        </p:nvSpPr>
        <p:spPr>
          <a:xfrm>
            <a:off x="3596364" y="1566565"/>
            <a:ext cx="4752975" cy="1333500"/>
          </a:xfrm>
          <a:prstGeom prst="roundRect">
            <a:avLst>
              <a:gd name="adj" fmla="val 44286"/>
            </a:avLst>
          </a:prstGeom>
          <a:gradFill flip="none" rotWithShape="1">
            <a:gsLst>
              <a:gs pos="0">
                <a:srgbClr val="FFFFFF"/>
              </a:gs>
              <a:gs pos="23000">
                <a:srgbClr val="EBECF0"/>
              </a:gs>
              <a:gs pos="100000">
                <a:srgbClr val="E0E2E8"/>
              </a:gs>
            </a:gsLst>
            <a:lin ang="16200000" scaled="1"/>
            <a:tileRect/>
          </a:gradFill>
          <a:ln>
            <a:noFill/>
          </a:ln>
          <a:effectLst>
            <a:innerShdw blurRad="63500" dist="50800" dir="13200000">
              <a:srgbClr val="ACB0C0"/>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6" name="Group 25">
            <a:extLst>
              <a:ext uri="{FF2B5EF4-FFF2-40B4-BE49-F238E27FC236}">
                <a16:creationId xmlns:a16="http://schemas.microsoft.com/office/drawing/2014/main" id="{D068D115-952E-94DE-DB57-2D375E9F64BA}"/>
              </a:ext>
            </a:extLst>
          </p:cNvPr>
          <p:cNvGrpSpPr/>
          <p:nvPr/>
        </p:nvGrpSpPr>
        <p:grpSpPr>
          <a:xfrm>
            <a:off x="8163870" y="3096721"/>
            <a:ext cx="1029600" cy="1045698"/>
            <a:chOff x="10538072" y="528484"/>
            <a:chExt cx="1029600" cy="1029600"/>
          </a:xfrm>
        </p:grpSpPr>
        <p:sp>
          <p:nvSpPr>
            <p:cNvPr id="27" name="Oval 26">
              <a:extLst>
                <a:ext uri="{FF2B5EF4-FFF2-40B4-BE49-F238E27FC236}">
                  <a16:creationId xmlns:a16="http://schemas.microsoft.com/office/drawing/2014/main" id="{6E277443-3C4B-2DAD-E56B-0BE128AA3FCA}"/>
                </a:ext>
              </a:extLst>
            </p:cNvPr>
            <p:cNvSpPr/>
            <p:nvPr/>
          </p:nvSpPr>
          <p:spPr>
            <a:xfrm>
              <a:off x="10538072" y="528484"/>
              <a:ext cx="1029600" cy="1029600"/>
            </a:xfrm>
            <a:prstGeom prst="ellipse">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Oval 27">
              <a:extLst>
                <a:ext uri="{FF2B5EF4-FFF2-40B4-BE49-F238E27FC236}">
                  <a16:creationId xmlns:a16="http://schemas.microsoft.com/office/drawing/2014/main" id="{B9614D66-0235-E45C-BFFD-65F8608D1DDA}"/>
                </a:ext>
              </a:extLst>
            </p:cNvPr>
            <p:cNvSpPr/>
            <p:nvPr/>
          </p:nvSpPr>
          <p:spPr>
            <a:xfrm>
              <a:off x="10538337" y="528749"/>
              <a:ext cx="1029071" cy="1029071"/>
            </a:xfrm>
            <a:prstGeom prst="ellipse">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9" name="TextBox 28">
            <a:extLst>
              <a:ext uri="{FF2B5EF4-FFF2-40B4-BE49-F238E27FC236}">
                <a16:creationId xmlns:a16="http://schemas.microsoft.com/office/drawing/2014/main" id="{FC12192E-3BCB-FE83-25A3-1D6DA07DBF5F}"/>
              </a:ext>
            </a:extLst>
          </p:cNvPr>
          <p:cNvSpPr txBox="1"/>
          <p:nvPr/>
        </p:nvSpPr>
        <p:spPr>
          <a:xfrm>
            <a:off x="3762603" y="1682816"/>
            <a:ext cx="4586736" cy="1107996"/>
          </a:xfrm>
          <a:prstGeom prst="rect">
            <a:avLst/>
          </a:prstGeom>
          <a:noFill/>
        </p:spPr>
        <p:txBody>
          <a:bodyPr wrap="square" lIns="91440" tIns="45720" rIns="91440" bIns="45720" rtlCol="0" anchor="t">
            <a:spAutoFit/>
          </a:bodyPr>
          <a:lstStyle/>
          <a:p>
            <a:pPr algn="just"/>
            <a:r>
              <a:rPr lang="en-IN" sz="6600" b="1">
                <a:gradFill>
                  <a:gsLst>
                    <a:gs pos="0">
                      <a:srgbClr val="00CCFF"/>
                    </a:gs>
                    <a:gs pos="100000">
                      <a:srgbClr val="0000FF"/>
                    </a:gs>
                  </a:gsLst>
                  <a:lin ang="2700000" scaled="1"/>
                </a:gradFill>
                <a:latin typeface="Vibur"/>
              </a:rPr>
              <a:t>Thank You </a:t>
            </a:r>
          </a:p>
        </p:txBody>
      </p:sp>
      <p:pic>
        <p:nvPicPr>
          <p:cNvPr id="47" name="Picture 46">
            <a:extLst>
              <a:ext uri="{FF2B5EF4-FFF2-40B4-BE49-F238E27FC236}">
                <a16:creationId xmlns:a16="http://schemas.microsoft.com/office/drawing/2014/main" id="{E3657756-8F79-73DA-05B3-EBD6CD732CC8}"/>
              </a:ext>
            </a:extLst>
          </p:cNvPr>
          <p:cNvPicPr>
            <a:picLocks noChangeAspect="1"/>
          </p:cNvPicPr>
          <p:nvPr/>
        </p:nvPicPr>
        <p:blipFill>
          <a:blip r:embed="rId2"/>
          <a:stretch>
            <a:fillRect/>
          </a:stretch>
        </p:blipFill>
        <p:spPr>
          <a:xfrm>
            <a:off x="8323695" y="3243348"/>
            <a:ext cx="709949" cy="720681"/>
          </a:xfrm>
          <a:prstGeom prst="rect">
            <a:avLst/>
          </a:prstGeom>
        </p:spPr>
      </p:pic>
      <p:sp>
        <p:nvSpPr>
          <p:cNvPr id="50" name="TextBox 49">
            <a:extLst>
              <a:ext uri="{FF2B5EF4-FFF2-40B4-BE49-F238E27FC236}">
                <a16:creationId xmlns:a16="http://schemas.microsoft.com/office/drawing/2014/main" id="{F23A7013-D74E-0BE0-C023-7F9984735D40}"/>
              </a:ext>
            </a:extLst>
          </p:cNvPr>
          <p:cNvSpPr txBox="1"/>
          <p:nvPr/>
        </p:nvSpPr>
        <p:spPr>
          <a:xfrm>
            <a:off x="7676126" y="4265794"/>
            <a:ext cx="2008568" cy="461665"/>
          </a:xfrm>
          <a:prstGeom prst="rect">
            <a:avLst/>
          </a:prstGeom>
          <a:noFill/>
        </p:spPr>
        <p:txBody>
          <a:bodyPr wrap="square" rtlCol="0">
            <a:spAutoFit/>
          </a:bodyPr>
          <a:lstStyle/>
          <a:p>
            <a:pPr algn="just"/>
            <a:r>
              <a:rPr lang="en-IN" sz="2400" b="1" dirty="0">
                <a:gradFill>
                  <a:gsLst>
                    <a:gs pos="0">
                      <a:srgbClr val="00CCFF"/>
                    </a:gs>
                    <a:gs pos="100000">
                      <a:srgbClr val="0000FF"/>
                    </a:gs>
                  </a:gsLst>
                  <a:lin ang="2700000" scaled="1"/>
                </a:gradFill>
                <a:latin typeface="Vibur" panose="03000603000000000000" pitchFamily="66" charset="0"/>
              </a:rPr>
              <a:t>@akhlak919</a:t>
            </a:r>
          </a:p>
        </p:txBody>
      </p:sp>
      <p:grpSp>
        <p:nvGrpSpPr>
          <p:cNvPr id="58" name="Group 57">
            <a:extLst>
              <a:ext uri="{FF2B5EF4-FFF2-40B4-BE49-F238E27FC236}">
                <a16:creationId xmlns:a16="http://schemas.microsoft.com/office/drawing/2014/main" id="{5EEC00DA-0DE1-BBDD-2D36-815027B0A2AD}"/>
              </a:ext>
            </a:extLst>
          </p:cNvPr>
          <p:cNvGrpSpPr/>
          <p:nvPr/>
        </p:nvGrpSpPr>
        <p:grpSpPr>
          <a:xfrm rot="5400000">
            <a:off x="11487150" y="6153150"/>
            <a:ext cx="704850" cy="704850"/>
            <a:chOff x="10538072" y="528484"/>
            <a:chExt cx="1029600" cy="1029600"/>
          </a:xfrm>
          <a:gradFill flip="none" rotWithShape="1">
            <a:gsLst>
              <a:gs pos="0">
                <a:srgbClr val="00CCFF"/>
              </a:gs>
              <a:gs pos="100000">
                <a:srgbClr val="0000FF"/>
              </a:gs>
            </a:gsLst>
            <a:lin ang="2700000" scaled="1"/>
            <a:tileRect/>
          </a:gradFill>
        </p:grpSpPr>
        <p:sp>
          <p:nvSpPr>
            <p:cNvPr id="59" name="Oval 22">
              <a:extLst>
                <a:ext uri="{FF2B5EF4-FFF2-40B4-BE49-F238E27FC236}">
                  <a16:creationId xmlns:a16="http://schemas.microsoft.com/office/drawing/2014/main" id="{6E38C332-6E96-8DDC-9469-19A1989FE55E}"/>
                </a:ext>
              </a:extLst>
            </p:cNvPr>
            <p:cNvSpPr/>
            <p:nvPr/>
          </p:nvSpPr>
          <p:spPr>
            <a:xfrm>
              <a:off x="10538072" y="528484"/>
              <a:ext cx="1029600" cy="1029600"/>
            </a:xfrm>
            <a:prstGeom prst="frame">
              <a:avLst/>
            </a:prstGeom>
            <a:grp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0" name="Oval 23">
              <a:extLst>
                <a:ext uri="{FF2B5EF4-FFF2-40B4-BE49-F238E27FC236}">
                  <a16:creationId xmlns:a16="http://schemas.microsoft.com/office/drawing/2014/main" id="{F9BF18FE-F1E4-C5D5-237C-9ADF85F9E195}"/>
                </a:ext>
              </a:extLst>
            </p:cNvPr>
            <p:cNvSpPr/>
            <p:nvPr/>
          </p:nvSpPr>
          <p:spPr>
            <a:xfrm>
              <a:off x="10538337" y="528749"/>
              <a:ext cx="1029071" cy="1029071"/>
            </a:xfrm>
            <a:prstGeom prst="frame">
              <a:avLst/>
            </a:prstGeom>
            <a:grp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61" name="TextBox 60">
            <a:extLst>
              <a:ext uri="{FF2B5EF4-FFF2-40B4-BE49-F238E27FC236}">
                <a16:creationId xmlns:a16="http://schemas.microsoft.com/office/drawing/2014/main" id="{A7E2CF21-A485-73D6-C991-AD97AF1DEE16}"/>
              </a:ext>
            </a:extLst>
          </p:cNvPr>
          <p:cNvSpPr txBox="1"/>
          <p:nvPr/>
        </p:nvSpPr>
        <p:spPr>
          <a:xfrm>
            <a:off x="11608290" y="6320769"/>
            <a:ext cx="528774" cy="369332"/>
          </a:xfrm>
          <a:prstGeom prst="rect">
            <a:avLst/>
          </a:prstGeom>
          <a:noFill/>
        </p:spPr>
        <p:txBody>
          <a:bodyPr wrap="square" lIns="91440" tIns="45720" rIns="91440" bIns="45720" rtlCol="0" anchor="t">
            <a:spAutoFit/>
          </a:bodyPr>
          <a:lstStyle/>
          <a:p>
            <a:r>
              <a:rPr lang="en-IN" b="1">
                <a:solidFill>
                  <a:schemeClr val="tx1">
                    <a:lumMod val="65000"/>
                    <a:lumOff val="35000"/>
                  </a:schemeClr>
                </a:solidFill>
                <a:latin typeface="Vibur"/>
              </a:rPr>
              <a:t>16</a:t>
            </a:r>
            <a:endParaRPr lang="en-IN" b="1" dirty="0">
              <a:solidFill>
                <a:schemeClr val="tx1">
                  <a:lumMod val="65000"/>
                  <a:lumOff val="35000"/>
                </a:schemeClr>
              </a:solidFill>
              <a:latin typeface="Vibur" panose="03000603000000000000" pitchFamily="66" charset="0"/>
            </a:endParaRPr>
          </a:p>
        </p:txBody>
      </p:sp>
      <p:sp>
        <p:nvSpPr>
          <p:cNvPr id="3" name="Freeform: Shape 2">
            <a:extLst>
              <a:ext uri="{FF2B5EF4-FFF2-40B4-BE49-F238E27FC236}">
                <a16:creationId xmlns:a16="http://schemas.microsoft.com/office/drawing/2014/main" id="{912E945A-D90C-9EBF-935D-833BDEB27007}"/>
              </a:ext>
            </a:extLst>
          </p:cNvPr>
          <p:cNvSpPr/>
          <p:nvPr/>
        </p:nvSpPr>
        <p:spPr>
          <a:xfrm>
            <a:off x="11398434" y="1"/>
            <a:ext cx="793566" cy="993711"/>
          </a:xfrm>
          <a:custGeom>
            <a:avLst/>
            <a:gdLst>
              <a:gd name="connsiteX0" fmla="*/ 74242 w 793566"/>
              <a:gd name="connsiteY0" fmla="*/ 0 h 993711"/>
              <a:gd name="connsiteX1" fmla="*/ 793566 w 793566"/>
              <a:gd name="connsiteY1" fmla="*/ 0 h 993711"/>
              <a:gd name="connsiteX2" fmla="*/ 793566 w 793566"/>
              <a:gd name="connsiteY2" fmla="*/ 983129 h 993711"/>
              <a:gd name="connsiteX3" fmla="*/ 688594 w 793566"/>
              <a:gd name="connsiteY3" fmla="*/ 993711 h 993711"/>
              <a:gd name="connsiteX4" fmla="*/ 0 w 793566"/>
              <a:gd name="connsiteY4" fmla="*/ 305117 h 993711"/>
              <a:gd name="connsiteX5" fmla="*/ 54113 w 793566"/>
              <a:gd name="connsiteY5" fmla="*/ 37085 h 99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566" h="993711">
                <a:moveTo>
                  <a:pt x="74242" y="0"/>
                </a:moveTo>
                <a:lnTo>
                  <a:pt x="793566" y="0"/>
                </a:lnTo>
                <a:lnTo>
                  <a:pt x="793566" y="983129"/>
                </a:lnTo>
                <a:lnTo>
                  <a:pt x="688594" y="993711"/>
                </a:lnTo>
                <a:cubicBezTo>
                  <a:pt x="308294" y="993711"/>
                  <a:pt x="0" y="685417"/>
                  <a:pt x="0" y="305117"/>
                </a:cubicBezTo>
                <a:cubicBezTo>
                  <a:pt x="0" y="210042"/>
                  <a:pt x="19268" y="119467"/>
                  <a:pt x="54113" y="37085"/>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B1306B12-1DA4-E8F9-60D8-F486065F672B}"/>
              </a:ext>
            </a:extLst>
          </p:cNvPr>
          <p:cNvSpPr/>
          <p:nvPr/>
        </p:nvSpPr>
        <p:spPr>
          <a:xfrm>
            <a:off x="10227818" y="681912"/>
            <a:ext cx="1377188" cy="1377188"/>
          </a:xfrm>
          <a:prstGeom prst="ellipse">
            <a:avLst/>
          </a:pr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Freeform: Shape 8">
            <a:extLst>
              <a:ext uri="{FF2B5EF4-FFF2-40B4-BE49-F238E27FC236}">
                <a16:creationId xmlns:a16="http://schemas.microsoft.com/office/drawing/2014/main" id="{9F10CC56-ABFB-4EED-712D-D889CE5D8A86}"/>
              </a:ext>
            </a:extLst>
          </p:cNvPr>
          <p:cNvSpPr/>
          <p:nvPr/>
        </p:nvSpPr>
        <p:spPr>
          <a:xfrm>
            <a:off x="11718200" y="1112145"/>
            <a:ext cx="473800" cy="1302014"/>
          </a:xfrm>
          <a:custGeom>
            <a:avLst/>
            <a:gdLst>
              <a:gd name="connsiteX0" fmla="*/ 473800 w 473800"/>
              <a:gd name="connsiteY0" fmla="*/ 0 h 1302014"/>
              <a:gd name="connsiteX1" fmla="*/ 473800 w 473800"/>
              <a:gd name="connsiteY1" fmla="*/ 1302014 h 1302014"/>
              <a:gd name="connsiteX2" fmla="*/ 420562 w 473800"/>
              <a:gd name="connsiteY2" fmla="*/ 1285488 h 1302014"/>
              <a:gd name="connsiteX3" fmla="*/ 0 w 473800"/>
              <a:gd name="connsiteY3" fmla="*/ 651007 h 1302014"/>
              <a:gd name="connsiteX4" fmla="*/ 420562 w 473800"/>
              <a:gd name="connsiteY4" fmla="*/ 16526 h 1302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800" h="1302014">
                <a:moveTo>
                  <a:pt x="473800" y="0"/>
                </a:moveTo>
                <a:lnTo>
                  <a:pt x="473800" y="1302014"/>
                </a:lnTo>
                <a:lnTo>
                  <a:pt x="420562" y="1285488"/>
                </a:lnTo>
                <a:cubicBezTo>
                  <a:pt x="173415" y="1180954"/>
                  <a:pt x="0" y="936232"/>
                  <a:pt x="0" y="651007"/>
                </a:cubicBezTo>
                <a:cubicBezTo>
                  <a:pt x="0" y="365782"/>
                  <a:pt x="173415" y="121061"/>
                  <a:pt x="420562" y="16526"/>
                </a:cubicBezTo>
                <a:close/>
              </a:path>
            </a:pathLst>
          </a:custGeom>
          <a:gradFill>
            <a:gsLst>
              <a:gs pos="0">
                <a:srgbClr val="00CCFF"/>
              </a:gs>
              <a:gs pos="100000">
                <a:srgbClr val="0000FF"/>
              </a:gs>
            </a:gsLst>
            <a:lin ang="0" scaled="1"/>
          </a:gradFill>
          <a:ln w="38100">
            <a:gradFill flip="none" rotWithShape="1">
              <a:gsLst>
                <a:gs pos="0">
                  <a:srgbClr val="00CCFF"/>
                </a:gs>
                <a:gs pos="100000">
                  <a:srgbClr val="0000FF"/>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 name="Group 1">
            <a:extLst>
              <a:ext uri="{FF2B5EF4-FFF2-40B4-BE49-F238E27FC236}">
                <a16:creationId xmlns:a16="http://schemas.microsoft.com/office/drawing/2014/main" id="{26EE60EF-F617-0088-A24F-0B9A66EE76D5}"/>
              </a:ext>
            </a:extLst>
          </p:cNvPr>
          <p:cNvGrpSpPr/>
          <p:nvPr/>
        </p:nvGrpSpPr>
        <p:grpSpPr>
          <a:xfrm>
            <a:off x="2806602" y="3096721"/>
            <a:ext cx="1029600" cy="1045698"/>
            <a:chOff x="10538072" y="528484"/>
            <a:chExt cx="1029600" cy="1029600"/>
          </a:xfrm>
        </p:grpSpPr>
        <p:sp>
          <p:nvSpPr>
            <p:cNvPr id="4" name="Oval 3">
              <a:extLst>
                <a:ext uri="{FF2B5EF4-FFF2-40B4-BE49-F238E27FC236}">
                  <a16:creationId xmlns:a16="http://schemas.microsoft.com/office/drawing/2014/main" id="{E421112E-B9EB-F4E7-FC2D-A9553D5174AE}"/>
                </a:ext>
              </a:extLst>
            </p:cNvPr>
            <p:cNvSpPr/>
            <p:nvPr/>
          </p:nvSpPr>
          <p:spPr>
            <a:xfrm>
              <a:off x="10538072" y="528484"/>
              <a:ext cx="1029600" cy="1029600"/>
            </a:xfrm>
            <a:prstGeom prst="ellipse">
              <a:avLst/>
            </a:prstGeom>
            <a:solidFill>
              <a:srgbClr val="EBECF0"/>
            </a:solidFill>
            <a:ln>
              <a:noFill/>
            </a:ln>
            <a:effectLst>
              <a:outerShdw blurRad="177800" dist="114300" dir="2700000" algn="tl" rotWithShape="0">
                <a:srgbClr val="ACB0C0">
                  <a:alpha val="4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Oval 6">
              <a:extLst>
                <a:ext uri="{FF2B5EF4-FFF2-40B4-BE49-F238E27FC236}">
                  <a16:creationId xmlns:a16="http://schemas.microsoft.com/office/drawing/2014/main" id="{C8900951-BFB4-DBCD-96C7-C977776D7710}"/>
                </a:ext>
              </a:extLst>
            </p:cNvPr>
            <p:cNvSpPr/>
            <p:nvPr/>
          </p:nvSpPr>
          <p:spPr>
            <a:xfrm>
              <a:off x="10538337" y="528749"/>
              <a:ext cx="1029071" cy="1029071"/>
            </a:xfrm>
            <a:prstGeom prst="ellipse">
              <a:avLst/>
            </a:prstGeom>
            <a:solidFill>
              <a:srgbClr val="EBECF0"/>
            </a:solidFill>
            <a:ln>
              <a:noFill/>
            </a:ln>
            <a:effectLst>
              <a:outerShdw blurRad="114300" dist="114300" dir="13500000" algn="br" rotWithShape="0">
                <a:srgbClr val="FFFFFF">
                  <a:alpha val="5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pic>
        <p:nvPicPr>
          <p:cNvPr id="10" name="Graphic 9" descr="Envelope with solid fill">
            <a:extLst>
              <a:ext uri="{FF2B5EF4-FFF2-40B4-BE49-F238E27FC236}">
                <a16:creationId xmlns:a16="http://schemas.microsoft.com/office/drawing/2014/main" id="{B53FBD99-1BBE-93B4-BDF1-EB2CB39BCF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51441" y="3413876"/>
            <a:ext cx="739896" cy="675912"/>
          </a:xfrm>
          <a:prstGeom prst="rect">
            <a:avLst/>
          </a:prstGeom>
        </p:spPr>
      </p:pic>
      <p:sp>
        <p:nvSpPr>
          <p:cNvPr id="11" name="TextBox 10">
            <a:extLst>
              <a:ext uri="{FF2B5EF4-FFF2-40B4-BE49-F238E27FC236}">
                <a16:creationId xmlns:a16="http://schemas.microsoft.com/office/drawing/2014/main" id="{660617E2-5482-58D5-C429-40B7395D205E}"/>
              </a:ext>
            </a:extLst>
          </p:cNvPr>
          <p:cNvSpPr txBox="1"/>
          <p:nvPr/>
        </p:nvSpPr>
        <p:spPr>
          <a:xfrm>
            <a:off x="1114782" y="4265793"/>
            <a:ext cx="4940232" cy="461665"/>
          </a:xfrm>
          <a:prstGeom prst="rect">
            <a:avLst/>
          </a:prstGeom>
          <a:noFill/>
        </p:spPr>
        <p:txBody>
          <a:bodyPr wrap="square" lIns="91440" tIns="45720" rIns="91440" bIns="45720" rtlCol="0" anchor="t">
            <a:spAutoFit/>
          </a:bodyPr>
          <a:lstStyle/>
          <a:p>
            <a:pPr algn="just"/>
            <a:r>
              <a:rPr lang="en-IN" sz="2400" b="1">
                <a:gradFill>
                  <a:gsLst>
                    <a:gs pos="0">
                      <a:srgbClr val="00CCFF"/>
                    </a:gs>
                    <a:gs pos="100000">
                      <a:srgbClr val="0000FF"/>
                    </a:gs>
                  </a:gsLst>
                  <a:lin ang="2700000" scaled="1"/>
                </a:gradFill>
                <a:latin typeface="Vibur"/>
              </a:rPr>
              <a:t>akhlakansari00786@gmail.com</a:t>
            </a:r>
            <a:endParaRPr lang="en-IN" sz="2400" b="1" dirty="0">
              <a:gradFill>
                <a:gsLst>
                  <a:gs pos="0">
                    <a:srgbClr val="00CCFF"/>
                  </a:gs>
                  <a:gs pos="100000">
                    <a:srgbClr val="0000FF"/>
                  </a:gs>
                </a:gsLst>
                <a:lin ang="2700000" scaled="1"/>
              </a:gradFill>
              <a:latin typeface="Vibur" panose="03000603000000000000" pitchFamily="66" charset="0"/>
            </a:endParaRPr>
          </a:p>
        </p:txBody>
      </p:sp>
    </p:spTree>
    <p:extLst>
      <p:ext uri="{BB962C8B-B14F-4D97-AF65-F5344CB8AC3E}">
        <p14:creationId xmlns:p14="http://schemas.microsoft.com/office/powerpoint/2010/main" val="15063087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TotalTime>
  <Words>442</Words>
  <Application>Microsoft Office PowerPoint</Application>
  <PresentationFormat>Widescreen</PresentationFormat>
  <Paragraphs>46</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AKHLAK ANSARI</dc:creator>
  <cp:lastModifiedBy>AKHLAK ANSARI</cp:lastModifiedBy>
  <cp:revision>838</cp:revision>
  <dcterms:created xsi:type="dcterms:W3CDTF">2024-10-17T03:53:57Z</dcterms:created>
  <dcterms:modified xsi:type="dcterms:W3CDTF">2026-05-26T06:03:46Z</dcterms:modified>
</cp:coreProperties>
</file>