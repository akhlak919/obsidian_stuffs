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60" r:id="rId2"/>
    <p:sldId id="265" r:id="rId3"/>
    <p:sldId id="266" r:id="rId4"/>
    <p:sldId id="267" r:id="rId5"/>
    <p:sldId id="268" r:id="rId6"/>
    <p:sldId id="269" r:id="rId7"/>
    <p:sldId id="270" r:id="rId8"/>
    <p:sldId id="272" r:id="rId9"/>
    <p:sldId id="271" r:id="rId10"/>
    <p:sldId id="273" r:id="rId11"/>
    <p:sldId id="274" r:id="rId12"/>
    <p:sldId id="275" r:id="rId13"/>
    <p:sldId id="276" r:id="rId14"/>
    <p:sldId id="277" r:id="rId15"/>
    <p:sldId id="278" r:id="rId16"/>
    <p:sldId id="264"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BECF0"/>
    <a:srgbClr val="FFA100"/>
    <a:srgbClr val="0000FF"/>
    <a:srgbClr val="00CCFF"/>
    <a:srgbClr val="E0E2E8"/>
    <a:srgbClr val="ACB0C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07737E4-8557-19C1-AF9A-CF33F8E4957C}" v="1988" dt="2026-05-26T06:14:30.310"/>
    <p1510:client id="{A67D5CC9-50B8-D5C3-4D3D-3A962EF25B95}" v="1129" dt="2026-05-26T03:57:18.19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varScale="1">
        <p:scale>
          <a:sx n="66" d="100"/>
          <a:sy n="66" d="100"/>
        </p:scale>
        <p:origin x="174"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9E11F9-A74D-4D43-BFA1-0FF4A1C12EF2}" type="datetimeFigureOut">
              <a:rPr lang="en-IN" smtClean="0"/>
              <a:t>25-05-2026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5795736-6B52-4FB5-B6B6-3143E1C0C28C}" type="slidenum">
              <a:rPr lang="en-IN" smtClean="0"/>
              <a:t>‹#›</a:t>
            </a:fld>
            <a:endParaRPr lang="en-IN"/>
          </a:p>
        </p:txBody>
      </p:sp>
    </p:spTree>
    <p:extLst>
      <p:ext uri="{BB962C8B-B14F-4D97-AF65-F5344CB8AC3E}">
        <p14:creationId xmlns:p14="http://schemas.microsoft.com/office/powerpoint/2010/main" val="29265094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E558A0-7089-8CA9-3D76-FA463F58328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97A3B89-4B88-B573-A1C4-3BB1132E5B5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5BEBA8A-98C3-AA3D-3511-8EAD78FF1F6F}"/>
              </a:ext>
            </a:extLst>
          </p:cNvPr>
          <p:cNvSpPr>
            <a:spLocks noGrp="1"/>
          </p:cNvSpPr>
          <p:nvPr>
            <p:ph type="dt" sz="half" idx="10"/>
          </p:nvPr>
        </p:nvSpPr>
        <p:spPr/>
        <p:txBody>
          <a:bodyPr/>
          <a:lstStyle/>
          <a:p>
            <a:fld id="{02775B8D-2D9F-4F5B-B247-82E33980A4D4}" type="datetimeFigureOut">
              <a:rPr lang="en-IN" smtClean="0"/>
              <a:t>25-05-2026</a:t>
            </a:fld>
            <a:endParaRPr lang="en-IN" dirty="0"/>
          </a:p>
        </p:txBody>
      </p:sp>
      <p:sp>
        <p:nvSpPr>
          <p:cNvPr id="5" name="Footer Placeholder 4">
            <a:extLst>
              <a:ext uri="{FF2B5EF4-FFF2-40B4-BE49-F238E27FC236}">
                <a16:creationId xmlns:a16="http://schemas.microsoft.com/office/drawing/2014/main" id="{378F7539-D87F-1872-93E7-9BA1EA50BB11}"/>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66A3C8F3-D44D-0593-D8A9-93D419D75D10}"/>
              </a:ext>
            </a:extLst>
          </p:cNvPr>
          <p:cNvSpPr>
            <a:spLocks noGrp="1"/>
          </p:cNvSpPr>
          <p:nvPr>
            <p:ph type="sldNum" sz="quarter" idx="12"/>
          </p:nvPr>
        </p:nvSpPr>
        <p:spPr/>
        <p:txBody>
          <a:bodyPr/>
          <a:lstStyle/>
          <a:p>
            <a:fld id="{D9864D83-DA38-4086-BBC1-6D70E66AFAF2}" type="slidenum">
              <a:rPr lang="en-IN" smtClean="0"/>
              <a:t>‹#›</a:t>
            </a:fld>
            <a:endParaRPr lang="en-IN" dirty="0"/>
          </a:p>
        </p:txBody>
      </p:sp>
    </p:spTree>
    <p:extLst>
      <p:ext uri="{BB962C8B-B14F-4D97-AF65-F5344CB8AC3E}">
        <p14:creationId xmlns:p14="http://schemas.microsoft.com/office/powerpoint/2010/main" val="20169904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73121E-4B91-8326-D019-F99ED85C883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AC0D417-41B2-5ED1-7D4E-379FD9D35B7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171BF3C-731E-4006-75EB-82E884AD5EDC}"/>
              </a:ext>
            </a:extLst>
          </p:cNvPr>
          <p:cNvSpPr>
            <a:spLocks noGrp="1"/>
          </p:cNvSpPr>
          <p:nvPr>
            <p:ph type="dt" sz="half" idx="10"/>
          </p:nvPr>
        </p:nvSpPr>
        <p:spPr/>
        <p:txBody>
          <a:bodyPr/>
          <a:lstStyle/>
          <a:p>
            <a:fld id="{02775B8D-2D9F-4F5B-B247-82E33980A4D4}" type="datetimeFigureOut">
              <a:rPr lang="en-IN" smtClean="0"/>
              <a:t>25-05-2026</a:t>
            </a:fld>
            <a:endParaRPr lang="en-IN" dirty="0"/>
          </a:p>
        </p:txBody>
      </p:sp>
      <p:sp>
        <p:nvSpPr>
          <p:cNvPr id="5" name="Footer Placeholder 4">
            <a:extLst>
              <a:ext uri="{FF2B5EF4-FFF2-40B4-BE49-F238E27FC236}">
                <a16:creationId xmlns:a16="http://schemas.microsoft.com/office/drawing/2014/main" id="{C252B3F0-459C-3858-C7AB-3E870071F3E1}"/>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2B1BF42A-F84A-B8A7-0188-8105E64A0CF7}"/>
              </a:ext>
            </a:extLst>
          </p:cNvPr>
          <p:cNvSpPr>
            <a:spLocks noGrp="1"/>
          </p:cNvSpPr>
          <p:nvPr>
            <p:ph type="sldNum" sz="quarter" idx="12"/>
          </p:nvPr>
        </p:nvSpPr>
        <p:spPr/>
        <p:txBody>
          <a:bodyPr/>
          <a:lstStyle/>
          <a:p>
            <a:fld id="{D9864D83-DA38-4086-BBC1-6D70E66AFAF2}" type="slidenum">
              <a:rPr lang="en-IN" smtClean="0"/>
              <a:t>‹#›</a:t>
            </a:fld>
            <a:endParaRPr lang="en-IN" dirty="0"/>
          </a:p>
        </p:txBody>
      </p:sp>
    </p:spTree>
    <p:extLst>
      <p:ext uri="{BB962C8B-B14F-4D97-AF65-F5344CB8AC3E}">
        <p14:creationId xmlns:p14="http://schemas.microsoft.com/office/powerpoint/2010/main" val="8965554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EC8546-4F81-5473-1063-F313F7EC809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0EDB8F0-6BE3-3C0B-B0A0-D5ED9FEE085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13870D2-8800-CF0D-A2A1-D8EE19E63C31}"/>
              </a:ext>
            </a:extLst>
          </p:cNvPr>
          <p:cNvSpPr>
            <a:spLocks noGrp="1"/>
          </p:cNvSpPr>
          <p:nvPr>
            <p:ph type="dt" sz="half" idx="10"/>
          </p:nvPr>
        </p:nvSpPr>
        <p:spPr/>
        <p:txBody>
          <a:bodyPr/>
          <a:lstStyle/>
          <a:p>
            <a:fld id="{02775B8D-2D9F-4F5B-B247-82E33980A4D4}" type="datetimeFigureOut">
              <a:rPr lang="en-IN" smtClean="0"/>
              <a:t>25-05-2026</a:t>
            </a:fld>
            <a:endParaRPr lang="en-IN" dirty="0"/>
          </a:p>
        </p:txBody>
      </p:sp>
      <p:sp>
        <p:nvSpPr>
          <p:cNvPr id="5" name="Footer Placeholder 4">
            <a:extLst>
              <a:ext uri="{FF2B5EF4-FFF2-40B4-BE49-F238E27FC236}">
                <a16:creationId xmlns:a16="http://schemas.microsoft.com/office/drawing/2014/main" id="{F8DDBAEA-7AE5-C197-CB5C-04F882EB4353}"/>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71B549D3-D4B7-9FE3-459C-AA087D882BC2}"/>
              </a:ext>
            </a:extLst>
          </p:cNvPr>
          <p:cNvSpPr>
            <a:spLocks noGrp="1"/>
          </p:cNvSpPr>
          <p:nvPr>
            <p:ph type="sldNum" sz="quarter" idx="12"/>
          </p:nvPr>
        </p:nvSpPr>
        <p:spPr/>
        <p:txBody>
          <a:bodyPr/>
          <a:lstStyle/>
          <a:p>
            <a:fld id="{D9864D83-DA38-4086-BBC1-6D70E66AFAF2}" type="slidenum">
              <a:rPr lang="en-IN" smtClean="0"/>
              <a:t>‹#›</a:t>
            </a:fld>
            <a:endParaRPr lang="en-IN" dirty="0"/>
          </a:p>
        </p:txBody>
      </p:sp>
    </p:spTree>
    <p:extLst>
      <p:ext uri="{BB962C8B-B14F-4D97-AF65-F5344CB8AC3E}">
        <p14:creationId xmlns:p14="http://schemas.microsoft.com/office/powerpoint/2010/main" val="26322411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D25A25-1907-7689-48A5-38678867BB1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B0EBFC5-E093-1FD4-F95A-34D39081F52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614A41C-44B9-E056-96BC-1C161CF26A2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A4DBBD6-DBB3-E115-985B-7A6D28C42D47}"/>
              </a:ext>
            </a:extLst>
          </p:cNvPr>
          <p:cNvSpPr>
            <a:spLocks noGrp="1"/>
          </p:cNvSpPr>
          <p:nvPr>
            <p:ph type="dt" sz="half" idx="10"/>
          </p:nvPr>
        </p:nvSpPr>
        <p:spPr/>
        <p:txBody>
          <a:bodyPr/>
          <a:lstStyle/>
          <a:p>
            <a:fld id="{02775B8D-2D9F-4F5B-B247-82E33980A4D4}" type="datetimeFigureOut">
              <a:rPr lang="en-IN" smtClean="0"/>
              <a:t>25-05-2026</a:t>
            </a:fld>
            <a:endParaRPr lang="en-IN" dirty="0"/>
          </a:p>
        </p:txBody>
      </p:sp>
      <p:sp>
        <p:nvSpPr>
          <p:cNvPr id="6" name="Footer Placeholder 5">
            <a:extLst>
              <a:ext uri="{FF2B5EF4-FFF2-40B4-BE49-F238E27FC236}">
                <a16:creationId xmlns:a16="http://schemas.microsoft.com/office/drawing/2014/main" id="{8756F91D-9565-E6BD-A53C-3434DD85D4CD}"/>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B960FED2-358B-DB54-5902-62CD16E9923E}"/>
              </a:ext>
            </a:extLst>
          </p:cNvPr>
          <p:cNvSpPr>
            <a:spLocks noGrp="1"/>
          </p:cNvSpPr>
          <p:nvPr>
            <p:ph type="sldNum" sz="quarter" idx="12"/>
          </p:nvPr>
        </p:nvSpPr>
        <p:spPr/>
        <p:txBody>
          <a:bodyPr/>
          <a:lstStyle/>
          <a:p>
            <a:fld id="{D9864D83-DA38-4086-BBC1-6D70E66AFAF2}" type="slidenum">
              <a:rPr lang="en-IN" smtClean="0"/>
              <a:t>‹#›</a:t>
            </a:fld>
            <a:endParaRPr lang="en-IN" dirty="0"/>
          </a:p>
        </p:txBody>
      </p:sp>
    </p:spTree>
    <p:extLst>
      <p:ext uri="{BB962C8B-B14F-4D97-AF65-F5344CB8AC3E}">
        <p14:creationId xmlns:p14="http://schemas.microsoft.com/office/powerpoint/2010/main" val="31317441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1DD7FA-4B29-F196-70D6-5438D0F7766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5A3DC36-45E6-C738-C83F-140831DF330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C4CF06F-D486-92E8-8897-9D69C9779EA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C7C1CC18-71F2-37F6-1F5A-C1DF15F3264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4145519-C364-9D32-730D-B34BF6B38F3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0519B64-2689-2A9E-8B32-EEB6977ACB77}"/>
              </a:ext>
            </a:extLst>
          </p:cNvPr>
          <p:cNvSpPr>
            <a:spLocks noGrp="1"/>
          </p:cNvSpPr>
          <p:nvPr>
            <p:ph type="dt" sz="half" idx="10"/>
          </p:nvPr>
        </p:nvSpPr>
        <p:spPr/>
        <p:txBody>
          <a:bodyPr/>
          <a:lstStyle/>
          <a:p>
            <a:fld id="{02775B8D-2D9F-4F5B-B247-82E33980A4D4}" type="datetimeFigureOut">
              <a:rPr lang="en-IN" smtClean="0"/>
              <a:t>25-05-2026</a:t>
            </a:fld>
            <a:endParaRPr lang="en-IN" dirty="0"/>
          </a:p>
        </p:txBody>
      </p:sp>
      <p:sp>
        <p:nvSpPr>
          <p:cNvPr id="8" name="Footer Placeholder 7">
            <a:extLst>
              <a:ext uri="{FF2B5EF4-FFF2-40B4-BE49-F238E27FC236}">
                <a16:creationId xmlns:a16="http://schemas.microsoft.com/office/drawing/2014/main" id="{A2E067CB-2CA5-6E78-7A98-806BBCA06636}"/>
              </a:ext>
            </a:extLst>
          </p:cNvPr>
          <p:cNvSpPr>
            <a:spLocks noGrp="1"/>
          </p:cNvSpPr>
          <p:nvPr>
            <p:ph type="ftr" sz="quarter" idx="11"/>
          </p:nvPr>
        </p:nvSpPr>
        <p:spPr/>
        <p:txBody>
          <a:bodyPr/>
          <a:lstStyle/>
          <a:p>
            <a:endParaRPr lang="en-IN" dirty="0"/>
          </a:p>
        </p:txBody>
      </p:sp>
      <p:sp>
        <p:nvSpPr>
          <p:cNvPr id="9" name="Slide Number Placeholder 8">
            <a:extLst>
              <a:ext uri="{FF2B5EF4-FFF2-40B4-BE49-F238E27FC236}">
                <a16:creationId xmlns:a16="http://schemas.microsoft.com/office/drawing/2014/main" id="{0E85656A-1E50-240E-D740-F07E75346BC9}"/>
              </a:ext>
            </a:extLst>
          </p:cNvPr>
          <p:cNvSpPr>
            <a:spLocks noGrp="1"/>
          </p:cNvSpPr>
          <p:nvPr>
            <p:ph type="sldNum" sz="quarter" idx="12"/>
          </p:nvPr>
        </p:nvSpPr>
        <p:spPr/>
        <p:txBody>
          <a:bodyPr/>
          <a:lstStyle/>
          <a:p>
            <a:fld id="{D9864D83-DA38-4086-BBC1-6D70E66AFAF2}" type="slidenum">
              <a:rPr lang="en-IN" smtClean="0"/>
              <a:t>‹#›</a:t>
            </a:fld>
            <a:endParaRPr lang="en-IN" dirty="0"/>
          </a:p>
        </p:txBody>
      </p:sp>
    </p:spTree>
    <p:extLst>
      <p:ext uri="{BB962C8B-B14F-4D97-AF65-F5344CB8AC3E}">
        <p14:creationId xmlns:p14="http://schemas.microsoft.com/office/powerpoint/2010/main" val="8674140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9C4D68-15DF-E310-76ED-CDE57722AE1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6F4B7FB9-E1B5-6226-5E32-7ABCF1BA4FEC}"/>
              </a:ext>
            </a:extLst>
          </p:cNvPr>
          <p:cNvSpPr>
            <a:spLocks noGrp="1"/>
          </p:cNvSpPr>
          <p:nvPr>
            <p:ph type="dt" sz="half" idx="10"/>
          </p:nvPr>
        </p:nvSpPr>
        <p:spPr/>
        <p:txBody>
          <a:bodyPr/>
          <a:lstStyle/>
          <a:p>
            <a:fld id="{02775B8D-2D9F-4F5B-B247-82E33980A4D4}" type="datetimeFigureOut">
              <a:rPr lang="en-IN" smtClean="0"/>
              <a:t>25-05-2026</a:t>
            </a:fld>
            <a:endParaRPr lang="en-IN" dirty="0"/>
          </a:p>
        </p:txBody>
      </p:sp>
      <p:sp>
        <p:nvSpPr>
          <p:cNvPr id="4" name="Footer Placeholder 3">
            <a:extLst>
              <a:ext uri="{FF2B5EF4-FFF2-40B4-BE49-F238E27FC236}">
                <a16:creationId xmlns:a16="http://schemas.microsoft.com/office/drawing/2014/main" id="{BBB917E9-BF34-8705-35F2-1F69DBF1FEF3}"/>
              </a:ext>
            </a:extLst>
          </p:cNvPr>
          <p:cNvSpPr>
            <a:spLocks noGrp="1"/>
          </p:cNvSpPr>
          <p:nvPr>
            <p:ph type="ftr" sz="quarter" idx="11"/>
          </p:nvPr>
        </p:nvSpPr>
        <p:spPr/>
        <p:txBody>
          <a:bodyPr/>
          <a:lstStyle/>
          <a:p>
            <a:endParaRPr lang="en-IN" dirty="0"/>
          </a:p>
        </p:txBody>
      </p:sp>
      <p:sp>
        <p:nvSpPr>
          <p:cNvPr id="5" name="Slide Number Placeholder 4">
            <a:extLst>
              <a:ext uri="{FF2B5EF4-FFF2-40B4-BE49-F238E27FC236}">
                <a16:creationId xmlns:a16="http://schemas.microsoft.com/office/drawing/2014/main" id="{62151A96-19EF-E666-9BCD-DDD72A099E78}"/>
              </a:ext>
            </a:extLst>
          </p:cNvPr>
          <p:cNvSpPr>
            <a:spLocks noGrp="1"/>
          </p:cNvSpPr>
          <p:nvPr>
            <p:ph type="sldNum" sz="quarter" idx="12"/>
          </p:nvPr>
        </p:nvSpPr>
        <p:spPr/>
        <p:txBody>
          <a:bodyPr/>
          <a:lstStyle/>
          <a:p>
            <a:fld id="{D9864D83-DA38-4086-BBC1-6D70E66AFAF2}" type="slidenum">
              <a:rPr lang="en-IN" smtClean="0"/>
              <a:t>‹#›</a:t>
            </a:fld>
            <a:endParaRPr lang="en-IN" dirty="0"/>
          </a:p>
        </p:txBody>
      </p:sp>
    </p:spTree>
    <p:extLst>
      <p:ext uri="{BB962C8B-B14F-4D97-AF65-F5344CB8AC3E}">
        <p14:creationId xmlns:p14="http://schemas.microsoft.com/office/powerpoint/2010/main" val="4366407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CD770D4-F075-36B9-F1EC-CB3D4AF92541}"/>
              </a:ext>
            </a:extLst>
          </p:cNvPr>
          <p:cNvSpPr>
            <a:spLocks noGrp="1"/>
          </p:cNvSpPr>
          <p:nvPr>
            <p:ph type="dt" sz="half" idx="10"/>
          </p:nvPr>
        </p:nvSpPr>
        <p:spPr/>
        <p:txBody>
          <a:bodyPr/>
          <a:lstStyle/>
          <a:p>
            <a:fld id="{02775B8D-2D9F-4F5B-B247-82E33980A4D4}" type="datetimeFigureOut">
              <a:rPr lang="en-IN" smtClean="0"/>
              <a:t>25-05-2026</a:t>
            </a:fld>
            <a:endParaRPr lang="en-IN" dirty="0"/>
          </a:p>
        </p:txBody>
      </p:sp>
      <p:sp>
        <p:nvSpPr>
          <p:cNvPr id="3" name="Footer Placeholder 2">
            <a:extLst>
              <a:ext uri="{FF2B5EF4-FFF2-40B4-BE49-F238E27FC236}">
                <a16:creationId xmlns:a16="http://schemas.microsoft.com/office/drawing/2014/main" id="{01E06268-2331-2744-C107-1D1C53C2EED3}"/>
              </a:ext>
            </a:extLst>
          </p:cNvPr>
          <p:cNvSpPr>
            <a:spLocks noGrp="1"/>
          </p:cNvSpPr>
          <p:nvPr>
            <p:ph type="ftr" sz="quarter" idx="11"/>
          </p:nvPr>
        </p:nvSpPr>
        <p:spPr/>
        <p:txBody>
          <a:bodyPr/>
          <a:lstStyle/>
          <a:p>
            <a:endParaRPr lang="en-IN" dirty="0"/>
          </a:p>
        </p:txBody>
      </p:sp>
      <p:sp>
        <p:nvSpPr>
          <p:cNvPr id="4" name="Slide Number Placeholder 3">
            <a:extLst>
              <a:ext uri="{FF2B5EF4-FFF2-40B4-BE49-F238E27FC236}">
                <a16:creationId xmlns:a16="http://schemas.microsoft.com/office/drawing/2014/main" id="{8D579D0F-0315-712F-2989-294CBD94AB16}"/>
              </a:ext>
            </a:extLst>
          </p:cNvPr>
          <p:cNvSpPr>
            <a:spLocks noGrp="1"/>
          </p:cNvSpPr>
          <p:nvPr>
            <p:ph type="sldNum" sz="quarter" idx="12"/>
          </p:nvPr>
        </p:nvSpPr>
        <p:spPr/>
        <p:txBody>
          <a:bodyPr/>
          <a:lstStyle/>
          <a:p>
            <a:fld id="{D9864D83-DA38-4086-BBC1-6D70E66AFAF2}" type="slidenum">
              <a:rPr lang="en-IN" smtClean="0"/>
              <a:t>‹#›</a:t>
            </a:fld>
            <a:endParaRPr lang="en-IN" dirty="0"/>
          </a:p>
        </p:txBody>
      </p:sp>
    </p:spTree>
    <p:extLst>
      <p:ext uri="{BB962C8B-B14F-4D97-AF65-F5344CB8AC3E}">
        <p14:creationId xmlns:p14="http://schemas.microsoft.com/office/powerpoint/2010/main" val="31785006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A7CBBE-BAB3-BCD7-38DD-DC3AA3683FD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1DEAE83-011D-EA55-0E44-86C6179C4D6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543AA0F-80EE-EAFE-3CF0-0E8F2051B2A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290628-EF7E-F5E9-CA56-E807330EEC93}"/>
              </a:ext>
            </a:extLst>
          </p:cNvPr>
          <p:cNvSpPr>
            <a:spLocks noGrp="1"/>
          </p:cNvSpPr>
          <p:nvPr>
            <p:ph type="dt" sz="half" idx="10"/>
          </p:nvPr>
        </p:nvSpPr>
        <p:spPr/>
        <p:txBody>
          <a:bodyPr/>
          <a:lstStyle/>
          <a:p>
            <a:fld id="{02775B8D-2D9F-4F5B-B247-82E33980A4D4}" type="datetimeFigureOut">
              <a:rPr lang="en-IN" smtClean="0"/>
              <a:t>25-05-2026</a:t>
            </a:fld>
            <a:endParaRPr lang="en-IN" dirty="0"/>
          </a:p>
        </p:txBody>
      </p:sp>
      <p:sp>
        <p:nvSpPr>
          <p:cNvPr id="6" name="Footer Placeholder 5">
            <a:extLst>
              <a:ext uri="{FF2B5EF4-FFF2-40B4-BE49-F238E27FC236}">
                <a16:creationId xmlns:a16="http://schemas.microsoft.com/office/drawing/2014/main" id="{3DB15AB0-2713-F304-B531-A8696E9F234C}"/>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6610A1B8-9AAC-76AF-A71E-AA1BCA4D5984}"/>
              </a:ext>
            </a:extLst>
          </p:cNvPr>
          <p:cNvSpPr>
            <a:spLocks noGrp="1"/>
          </p:cNvSpPr>
          <p:nvPr>
            <p:ph type="sldNum" sz="quarter" idx="12"/>
          </p:nvPr>
        </p:nvSpPr>
        <p:spPr/>
        <p:txBody>
          <a:bodyPr/>
          <a:lstStyle/>
          <a:p>
            <a:fld id="{D9864D83-DA38-4086-BBC1-6D70E66AFAF2}" type="slidenum">
              <a:rPr lang="en-IN" smtClean="0"/>
              <a:t>‹#›</a:t>
            </a:fld>
            <a:endParaRPr lang="en-IN" dirty="0"/>
          </a:p>
        </p:txBody>
      </p:sp>
    </p:spTree>
    <p:extLst>
      <p:ext uri="{BB962C8B-B14F-4D97-AF65-F5344CB8AC3E}">
        <p14:creationId xmlns:p14="http://schemas.microsoft.com/office/powerpoint/2010/main" val="1888006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AD3204-2BD9-DD29-32DC-DA829C08F14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027831F-ABC1-1F16-45C0-E3A712FA2A0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dirty="0"/>
          </a:p>
        </p:txBody>
      </p:sp>
      <p:sp>
        <p:nvSpPr>
          <p:cNvPr id="4" name="Text Placeholder 3">
            <a:extLst>
              <a:ext uri="{FF2B5EF4-FFF2-40B4-BE49-F238E27FC236}">
                <a16:creationId xmlns:a16="http://schemas.microsoft.com/office/drawing/2014/main" id="{6474F0AF-9216-CF70-6D15-BF97346D012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DC2AD31-EA73-5C72-11FA-39D55A6BEB82}"/>
              </a:ext>
            </a:extLst>
          </p:cNvPr>
          <p:cNvSpPr>
            <a:spLocks noGrp="1"/>
          </p:cNvSpPr>
          <p:nvPr>
            <p:ph type="dt" sz="half" idx="10"/>
          </p:nvPr>
        </p:nvSpPr>
        <p:spPr/>
        <p:txBody>
          <a:bodyPr/>
          <a:lstStyle/>
          <a:p>
            <a:fld id="{02775B8D-2D9F-4F5B-B247-82E33980A4D4}" type="datetimeFigureOut">
              <a:rPr lang="en-IN" smtClean="0"/>
              <a:t>25-05-2026</a:t>
            </a:fld>
            <a:endParaRPr lang="en-IN" dirty="0"/>
          </a:p>
        </p:txBody>
      </p:sp>
      <p:sp>
        <p:nvSpPr>
          <p:cNvPr id="6" name="Footer Placeholder 5">
            <a:extLst>
              <a:ext uri="{FF2B5EF4-FFF2-40B4-BE49-F238E27FC236}">
                <a16:creationId xmlns:a16="http://schemas.microsoft.com/office/drawing/2014/main" id="{313C6A46-0642-49AC-6890-C732BB466F1D}"/>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E84044FD-D6DB-B426-E85B-3CC818C0F7C4}"/>
              </a:ext>
            </a:extLst>
          </p:cNvPr>
          <p:cNvSpPr>
            <a:spLocks noGrp="1"/>
          </p:cNvSpPr>
          <p:nvPr>
            <p:ph type="sldNum" sz="quarter" idx="12"/>
          </p:nvPr>
        </p:nvSpPr>
        <p:spPr/>
        <p:txBody>
          <a:bodyPr/>
          <a:lstStyle/>
          <a:p>
            <a:fld id="{D9864D83-DA38-4086-BBC1-6D70E66AFAF2}" type="slidenum">
              <a:rPr lang="en-IN" smtClean="0"/>
              <a:t>‹#›</a:t>
            </a:fld>
            <a:endParaRPr lang="en-IN" dirty="0"/>
          </a:p>
        </p:txBody>
      </p:sp>
    </p:spTree>
    <p:extLst>
      <p:ext uri="{BB962C8B-B14F-4D97-AF65-F5344CB8AC3E}">
        <p14:creationId xmlns:p14="http://schemas.microsoft.com/office/powerpoint/2010/main" val="17725938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1FE253-B18D-CA18-DBC0-3A9C6D7121D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7000648-15B3-60D3-B73A-4A6C618A637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1296704-2A96-8576-82B8-FBE8B5AB043D}"/>
              </a:ext>
            </a:extLst>
          </p:cNvPr>
          <p:cNvSpPr>
            <a:spLocks noGrp="1"/>
          </p:cNvSpPr>
          <p:nvPr>
            <p:ph type="dt" sz="half" idx="10"/>
          </p:nvPr>
        </p:nvSpPr>
        <p:spPr/>
        <p:txBody>
          <a:bodyPr/>
          <a:lstStyle/>
          <a:p>
            <a:fld id="{02775B8D-2D9F-4F5B-B247-82E33980A4D4}" type="datetimeFigureOut">
              <a:rPr lang="en-IN" smtClean="0"/>
              <a:t>25-05-2026</a:t>
            </a:fld>
            <a:endParaRPr lang="en-IN" dirty="0"/>
          </a:p>
        </p:txBody>
      </p:sp>
      <p:sp>
        <p:nvSpPr>
          <p:cNvPr id="5" name="Footer Placeholder 4">
            <a:extLst>
              <a:ext uri="{FF2B5EF4-FFF2-40B4-BE49-F238E27FC236}">
                <a16:creationId xmlns:a16="http://schemas.microsoft.com/office/drawing/2014/main" id="{FFAF55E3-B940-7703-FFE1-2BE3C49A6F55}"/>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87291684-EF40-B734-10DF-98632AD7AE19}"/>
              </a:ext>
            </a:extLst>
          </p:cNvPr>
          <p:cNvSpPr>
            <a:spLocks noGrp="1"/>
          </p:cNvSpPr>
          <p:nvPr>
            <p:ph type="sldNum" sz="quarter" idx="12"/>
          </p:nvPr>
        </p:nvSpPr>
        <p:spPr/>
        <p:txBody>
          <a:bodyPr/>
          <a:lstStyle/>
          <a:p>
            <a:fld id="{D9864D83-DA38-4086-BBC1-6D70E66AFAF2}" type="slidenum">
              <a:rPr lang="en-IN" smtClean="0"/>
              <a:t>‹#›</a:t>
            </a:fld>
            <a:endParaRPr lang="en-IN" dirty="0"/>
          </a:p>
        </p:txBody>
      </p:sp>
    </p:spTree>
    <p:extLst>
      <p:ext uri="{BB962C8B-B14F-4D97-AF65-F5344CB8AC3E}">
        <p14:creationId xmlns:p14="http://schemas.microsoft.com/office/powerpoint/2010/main" val="2689825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0FC8F3B-D51C-2150-3F24-3E3BF342009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4317313-5192-0F58-FA28-6D98BAB2BCB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A97D5D0-FC6A-AB98-EF68-0B503B8E73D4}"/>
              </a:ext>
            </a:extLst>
          </p:cNvPr>
          <p:cNvSpPr>
            <a:spLocks noGrp="1"/>
          </p:cNvSpPr>
          <p:nvPr>
            <p:ph type="dt" sz="half" idx="10"/>
          </p:nvPr>
        </p:nvSpPr>
        <p:spPr/>
        <p:txBody>
          <a:bodyPr/>
          <a:lstStyle/>
          <a:p>
            <a:fld id="{02775B8D-2D9F-4F5B-B247-82E33980A4D4}" type="datetimeFigureOut">
              <a:rPr lang="en-IN" smtClean="0"/>
              <a:t>25-05-2026</a:t>
            </a:fld>
            <a:endParaRPr lang="en-IN" dirty="0"/>
          </a:p>
        </p:txBody>
      </p:sp>
      <p:sp>
        <p:nvSpPr>
          <p:cNvPr id="5" name="Footer Placeholder 4">
            <a:extLst>
              <a:ext uri="{FF2B5EF4-FFF2-40B4-BE49-F238E27FC236}">
                <a16:creationId xmlns:a16="http://schemas.microsoft.com/office/drawing/2014/main" id="{3C982C3B-8821-70D0-EC4A-D2B778465AF6}"/>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2B152D6E-2E4C-5065-150C-A045B71BD9F7}"/>
              </a:ext>
            </a:extLst>
          </p:cNvPr>
          <p:cNvSpPr>
            <a:spLocks noGrp="1"/>
          </p:cNvSpPr>
          <p:nvPr>
            <p:ph type="sldNum" sz="quarter" idx="12"/>
          </p:nvPr>
        </p:nvSpPr>
        <p:spPr/>
        <p:txBody>
          <a:bodyPr/>
          <a:lstStyle/>
          <a:p>
            <a:fld id="{D9864D83-DA38-4086-BBC1-6D70E66AFAF2}" type="slidenum">
              <a:rPr lang="en-IN" smtClean="0"/>
              <a:t>‹#›</a:t>
            </a:fld>
            <a:endParaRPr lang="en-IN" dirty="0"/>
          </a:p>
        </p:txBody>
      </p:sp>
    </p:spTree>
    <p:extLst>
      <p:ext uri="{BB962C8B-B14F-4D97-AF65-F5344CB8AC3E}">
        <p14:creationId xmlns:p14="http://schemas.microsoft.com/office/powerpoint/2010/main" val="3917006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019FE06-1128-5156-0D58-13F8BC1D0C4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4929AFE-9D25-D11C-B415-D73DF07F1D8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96197F8-2145-CDCE-9CAD-E48B31B352B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2775B8D-2D9F-4F5B-B247-82E33980A4D4}" type="datetimeFigureOut">
              <a:rPr lang="en-IN" smtClean="0"/>
              <a:t>25-05-2026</a:t>
            </a:fld>
            <a:endParaRPr lang="en-IN" dirty="0"/>
          </a:p>
        </p:txBody>
      </p:sp>
      <p:sp>
        <p:nvSpPr>
          <p:cNvPr id="5" name="Footer Placeholder 4">
            <a:extLst>
              <a:ext uri="{FF2B5EF4-FFF2-40B4-BE49-F238E27FC236}">
                <a16:creationId xmlns:a16="http://schemas.microsoft.com/office/drawing/2014/main" id="{0CB6F2CF-7377-6AEB-104D-A14625DC7A1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dirty="0"/>
          </a:p>
        </p:txBody>
      </p:sp>
      <p:sp>
        <p:nvSpPr>
          <p:cNvPr id="6" name="Slide Number Placeholder 5">
            <a:extLst>
              <a:ext uri="{FF2B5EF4-FFF2-40B4-BE49-F238E27FC236}">
                <a16:creationId xmlns:a16="http://schemas.microsoft.com/office/drawing/2014/main" id="{5A2D7AB5-D1CE-ECFA-BD7D-25D6C560DDE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9864D83-DA38-4086-BBC1-6D70E66AFAF2}" type="slidenum">
              <a:rPr lang="en-IN" smtClean="0"/>
              <a:t>‹#›</a:t>
            </a:fld>
            <a:endParaRPr lang="en-IN" dirty="0"/>
          </a:p>
        </p:txBody>
      </p:sp>
    </p:spTree>
    <p:extLst>
      <p:ext uri="{BB962C8B-B14F-4D97-AF65-F5344CB8AC3E}">
        <p14:creationId xmlns:p14="http://schemas.microsoft.com/office/powerpoint/2010/main" val="28287255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BECF0"/>
        </a:solidFill>
        <a:effectLst/>
      </p:bgPr>
    </p:bg>
    <p:spTree>
      <p:nvGrpSpPr>
        <p:cNvPr id="1" name="">
          <a:extLst>
            <a:ext uri="{FF2B5EF4-FFF2-40B4-BE49-F238E27FC236}">
              <a16:creationId xmlns:a16="http://schemas.microsoft.com/office/drawing/2014/main" id="{49D3B995-747E-CA12-544B-1B1BF416F82B}"/>
            </a:ext>
          </a:extLst>
        </p:cNvPr>
        <p:cNvGrpSpPr/>
        <p:nvPr/>
      </p:nvGrpSpPr>
      <p:grpSpPr>
        <a:xfrm>
          <a:off x="0" y="0"/>
          <a:ext cx="0" cy="0"/>
          <a:chOff x="0" y="0"/>
          <a:chExt cx="0" cy="0"/>
        </a:xfrm>
      </p:grpSpPr>
      <p:grpSp>
        <p:nvGrpSpPr>
          <p:cNvPr id="59" name="Group 58">
            <a:extLst>
              <a:ext uri="{FF2B5EF4-FFF2-40B4-BE49-F238E27FC236}">
                <a16:creationId xmlns:a16="http://schemas.microsoft.com/office/drawing/2014/main" id="{7BC79C38-96C2-DA48-1FF2-2D37C83E0A7E}"/>
              </a:ext>
            </a:extLst>
          </p:cNvPr>
          <p:cNvGrpSpPr/>
          <p:nvPr/>
        </p:nvGrpSpPr>
        <p:grpSpPr>
          <a:xfrm>
            <a:off x="618906" y="243821"/>
            <a:ext cx="10334494" cy="6446716"/>
            <a:chOff x="1162348" y="1677368"/>
            <a:chExt cx="3266778" cy="3266778"/>
          </a:xfrm>
        </p:grpSpPr>
        <p:sp>
          <p:nvSpPr>
            <p:cNvPr id="60" name="Oval 34">
              <a:extLst>
                <a:ext uri="{FF2B5EF4-FFF2-40B4-BE49-F238E27FC236}">
                  <a16:creationId xmlns:a16="http://schemas.microsoft.com/office/drawing/2014/main" id="{C66FC3F5-C40E-E3F4-F0F4-6DD792E1E263}"/>
                </a:ext>
              </a:extLst>
            </p:cNvPr>
            <p:cNvSpPr/>
            <p:nvPr/>
          </p:nvSpPr>
          <p:spPr>
            <a:xfrm>
              <a:off x="1162348" y="1677368"/>
              <a:ext cx="3266778" cy="3266778"/>
            </a:xfrm>
            <a:prstGeom prst="roundRect">
              <a:avLst/>
            </a:prstGeom>
            <a:solidFill>
              <a:srgbClr val="EBECF0"/>
            </a:solidFill>
            <a:ln>
              <a:noFill/>
            </a:ln>
            <a:effectLst>
              <a:outerShdw blurRad="177800" dist="114300" dir="2700000" algn="tl" rotWithShape="0">
                <a:srgbClr val="ACB0C0">
                  <a:alpha val="4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1" name="Oval 35">
              <a:extLst>
                <a:ext uri="{FF2B5EF4-FFF2-40B4-BE49-F238E27FC236}">
                  <a16:creationId xmlns:a16="http://schemas.microsoft.com/office/drawing/2014/main" id="{0245A997-8E32-44A4-8606-4BE34DF91812}"/>
                </a:ext>
              </a:extLst>
            </p:cNvPr>
            <p:cNvSpPr/>
            <p:nvPr/>
          </p:nvSpPr>
          <p:spPr>
            <a:xfrm>
              <a:off x="1162348" y="1677368"/>
              <a:ext cx="3266778" cy="3266778"/>
            </a:xfrm>
            <a:prstGeom prst="roundRect">
              <a:avLst>
                <a:gd name="adj" fmla="val 6541"/>
              </a:avLst>
            </a:prstGeom>
            <a:solidFill>
              <a:srgbClr val="EBECF0"/>
            </a:solidFill>
            <a:ln>
              <a:noFill/>
            </a:ln>
            <a:effectLst>
              <a:outerShdw blurRad="114300" dist="114300" dir="13500000" algn="br" rotWithShape="0">
                <a:srgbClr val="FFFFFF">
                  <a:alpha val="5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48" name="Freeform: Shape 47">
            <a:extLst>
              <a:ext uri="{FF2B5EF4-FFF2-40B4-BE49-F238E27FC236}">
                <a16:creationId xmlns:a16="http://schemas.microsoft.com/office/drawing/2014/main" id="{E22854BB-18FA-BEE2-3F14-5B7BF7B76CFA}"/>
              </a:ext>
            </a:extLst>
          </p:cNvPr>
          <p:cNvSpPr/>
          <p:nvPr/>
        </p:nvSpPr>
        <p:spPr>
          <a:xfrm>
            <a:off x="11398434" y="1"/>
            <a:ext cx="793566" cy="993711"/>
          </a:xfrm>
          <a:custGeom>
            <a:avLst/>
            <a:gdLst>
              <a:gd name="connsiteX0" fmla="*/ 74242 w 793566"/>
              <a:gd name="connsiteY0" fmla="*/ 0 h 993711"/>
              <a:gd name="connsiteX1" fmla="*/ 793566 w 793566"/>
              <a:gd name="connsiteY1" fmla="*/ 0 h 993711"/>
              <a:gd name="connsiteX2" fmla="*/ 793566 w 793566"/>
              <a:gd name="connsiteY2" fmla="*/ 983129 h 993711"/>
              <a:gd name="connsiteX3" fmla="*/ 688594 w 793566"/>
              <a:gd name="connsiteY3" fmla="*/ 993711 h 993711"/>
              <a:gd name="connsiteX4" fmla="*/ 0 w 793566"/>
              <a:gd name="connsiteY4" fmla="*/ 305117 h 993711"/>
              <a:gd name="connsiteX5" fmla="*/ 54113 w 793566"/>
              <a:gd name="connsiteY5" fmla="*/ 37085 h 993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93566" h="993711">
                <a:moveTo>
                  <a:pt x="74242" y="0"/>
                </a:moveTo>
                <a:lnTo>
                  <a:pt x="793566" y="0"/>
                </a:lnTo>
                <a:lnTo>
                  <a:pt x="793566" y="983129"/>
                </a:lnTo>
                <a:lnTo>
                  <a:pt x="688594" y="993711"/>
                </a:lnTo>
                <a:cubicBezTo>
                  <a:pt x="308294" y="993711"/>
                  <a:pt x="0" y="685417"/>
                  <a:pt x="0" y="305117"/>
                </a:cubicBezTo>
                <a:cubicBezTo>
                  <a:pt x="0" y="210042"/>
                  <a:pt x="19268" y="119467"/>
                  <a:pt x="54113" y="37085"/>
                </a:cubicBezTo>
                <a:close/>
              </a:path>
            </a:pathLst>
          </a:custGeom>
          <a:gradFill>
            <a:gsLst>
              <a:gs pos="0">
                <a:srgbClr val="00CCFF"/>
              </a:gs>
              <a:gs pos="100000">
                <a:srgbClr val="0000FF"/>
              </a:gs>
            </a:gsLst>
            <a:lin ang="0" scaled="1"/>
          </a:gradFill>
          <a:ln w="38100">
            <a:gradFill flip="none" rotWithShape="1">
              <a:gsLst>
                <a:gs pos="0">
                  <a:srgbClr val="00CCFF"/>
                </a:gs>
                <a:gs pos="100000">
                  <a:srgbClr val="0000FF"/>
                </a:gs>
              </a:gsLst>
              <a:lin ang="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9" name="Oval 48">
            <a:extLst>
              <a:ext uri="{FF2B5EF4-FFF2-40B4-BE49-F238E27FC236}">
                <a16:creationId xmlns:a16="http://schemas.microsoft.com/office/drawing/2014/main" id="{9F971856-078B-BDD4-A804-E0B26D80CC4F}"/>
              </a:ext>
            </a:extLst>
          </p:cNvPr>
          <p:cNvSpPr/>
          <p:nvPr/>
        </p:nvSpPr>
        <p:spPr>
          <a:xfrm>
            <a:off x="10227818" y="681912"/>
            <a:ext cx="1377188" cy="1377188"/>
          </a:xfrm>
          <a:prstGeom prst="ellipse">
            <a:avLst/>
          </a:prstGeom>
          <a:gradFill>
            <a:gsLst>
              <a:gs pos="0">
                <a:srgbClr val="00CCFF"/>
              </a:gs>
              <a:gs pos="100000">
                <a:srgbClr val="0000FF"/>
              </a:gs>
            </a:gsLst>
            <a:lin ang="0" scaled="1"/>
          </a:gradFill>
          <a:ln w="38100">
            <a:gradFill flip="none" rotWithShape="1">
              <a:gsLst>
                <a:gs pos="0">
                  <a:srgbClr val="00CCFF"/>
                </a:gs>
                <a:gs pos="100000">
                  <a:srgbClr val="0000FF"/>
                </a:gs>
              </a:gsLst>
              <a:lin ang="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0" name="Freeform: Shape 49">
            <a:extLst>
              <a:ext uri="{FF2B5EF4-FFF2-40B4-BE49-F238E27FC236}">
                <a16:creationId xmlns:a16="http://schemas.microsoft.com/office/drawing/2014/main" id="{96F17C59-F0F6-9594-F605-3DF670075117}"/>
              </a:ext>
            </a:extLst>
          </p:cNvPr>
          <p:cNvSpPr/>
          <p:nvPr/>
        </p:nvSpPr>
        <p:spPr>
          <a:xfrm>
            <a:off x="11718200" y="1112145"/>
            <a:ext cx="473800" cy="1302014"/>
          </a:xfrm>
          <a:custGeom>
            <a:avLst/>
            <a:gdLst>
              <a:gd name="connsiteX0" fmla="*/ 473800 w 473800"/>
              <a:gd name="connsiteY0" fmla="*/ 0 h 1302014"/>
              <a:gd name="connsiteX1" fmla="*/ 473800 w 473800"/>
              <a:gd name="connsiteY1" fmla="*/ 1302014 h 1302014"/>
              <a:gd name="connsiteX2" fmla="*/ 420562 w 473800"/>
              <a:gd name="connsiteY2" fmla="*/ 1285488 h 1302014"/>
              <a:gd name="connsiteX3" fmla="*/ 0 w 473800"/>
              <a:gd name="connsiteY3" fmla="*/ 651007 h 1302014"/>
              <a:gd name="connsiteX4" fmla="*/ 420562 w 473800"/>
              <a:gd name="connsiteY4" fmla="*/ 16526 h 13020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3800" h="1302014">
                <a:moveTo>
                  <a:pt x="473800" y="0"/>
                </a:moveTo>
                <a:lnTo>
                  <a:pt x="473800" y="1302014"/>
                </a:lnTo>
                <a:lnTo>
                  <a:pt x="420562" y="1285488"/>
                </a:lnTo>
                <a:cubicBezTo>
                  <a:pt x="173415" y="1180954"/>
                  <a:pt x="0" y="936232"/>
                  <a:pt x="0" y="651007"/>
                </a:cubicBezTo>
                <a:cubicBezTo>
                  <a:pt x="0" y="365782"/>
                  <a:pt x="173415" y="121061"/>
                  <a:pt x="420562" y="16526"/>
                </a:cubicBezTo>
                <a:close/>
              </a:path>
            </a:pathLst>
          </a:custGeom>
          <a:gradFill>
            <a:gsLst>
              <a:gs pos="0">
                <a:srgbClr val="00CCFF"/>
              </a:gs>
              <a:gs pos="100000">
                <a:srgbClr val="0000FF"/>
              </a:gs>
            </a:gsLst>
            <a:lin ang="0" scaled="1"/>
          </a:gradFill>
          <a:ln w="38100">
            <a:gradFill flip="none" rotWithShape="1">
              <a:gsLst>
                <a:gs pos="0">
                  <a:srgbClr val="00CCFF"/>
                </a:gs>
                <a:gs pos="100000">
                  <a:srgbClr val="0000FF"/>
                </a:gs>
              </a:gsLst>
              <a:lin ang="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nvGrpSpPr>
          <p:cNvPr id="29" name="Group 28">
            <a:extLst>
              <a:ext uri="{FF2B5EF4-FFF2-40B4-BE49-F238E27FC236}">
                <a16:creationId xmlns:a16="http://schemas.microsoft.com/office/drawing/2014/main" id="{1E9DBE43-CAE9-E02F-C858-1A94FB04EFDC}"/>
              </a:ext>
            </a:extLst>
          </p:cNvPr>
          <p:cNvGrpSpPr/>
          <p:nvPr/>
        </p:nvGrpSpPr>
        <p:grpSpPr>
          <a:xfrm rot="5400000">
            <a:off x="11487150" y="6153150"/>
            <a:ext cx="704850" cy="704850"/>
            <a:chOff x="10538072" y="528484"/>
            <a:chExt cx="1029600" cy="1029600"/>
          </a:xfrm>
          <a:gradFill flip="none" rotWithShape="1">
            <a:gsLst>
              <a:gs pos="0">
                <a:srgbClr val="00CCFF"/>
              </a:gs>
              <a:gs pos="100000">
                <a:srgbClr val="0000FF"/>
              </a:gs>
            </a:gsLst>
            <a:lin ang="2700000" scaled="1"/>
            <a:tileRect/>
          </a:gradFill>
        </p:grpSpPr>
        <p:sp>
          <p:nvSpPr>
            <p:cNvPr id="30" name="Oval 22">
              <a:extLst>
                <a:ext uri="{FF2B5EF4-FFF2-40B4-BE49-F238E27FC236}">
                  <a16:creationId xmlns:a16="http://schemas.microsoft.com/office/drawing/2014/main" id="{22FD4F0E-C8A1-EC7B-DC8F-97650BA70687}"/>
                </a:ext>
              </a:extLst>
            </p:cNvPr>
            <p:cNvSpPr/>
            <p:nvPr/>
          </p:nvSpPr>
          <p:spPr>
            <a:xfrm>
              <a:off x="10538072" y="528484"/>
              <a:ext cx="1029600" cy="1029600"/>
            </a:xfrm>
            <a:prstGeom prst="frame">
              <a:avLst/>
            </a:prstGeom>
            <a:grpFill/>
            <a:ln>
              <a:noFill/>
            </a:ln>
            <a:effectLst>
              <a:outerShdw blurRad="177800" dist="114300" dir="2700000" algn="tl" rotWithShape="0">
                <a:srgbClr val="ACB0C0">
                  <a:alpha val="4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1" name="Oval 23">
              <a:extLst>
                <a:ext uri="{FF2B5EF4-FFF2-40B4-BE49-F238E27FC236}">
                  <a16:creationId xmlns:a16="http://schemas.microsoft.com/office/drawing/2014/main" id="{A069AA85-2F8C-3D79-6666-9FB915AD5730}"/>
                </a:ext>
              </a:extLst>
            </p:cNvPr>
            <p:cNvSpPr/>
            <p:nvPr/>
          </p:nvSpPr>
          <p:spPr>
            <a:xfrm>
              <a:off x="10538337" y="528749"/>
              <a:ext cx="1029071" cy="1029071"/>
            </a:xfrm>
            <a:prstGeom prst="frame">
              <a:avLst/>
            </a:prstGeom>
            <a:grpFill/>
            <a:ln>
              <a:noFill/>
            </a:ln>
            <a:effectLst>
              <a:outerShdw blurRad="114300" dist="114300" dir="13500000" algn="br" rotWithShape="0">
                <a:srgbClr val="FFFFFF">
                  <a:alpha val="5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32" name="TextBox 31">
            <a:extLst>
              <a:ext uri="{FF2B5EF4-FFF2-40B4-BE49-F238E27FC236}">
                <a16:creationId xmlns:a16="http://schemas.microsoft.com/office/drawing/2014/main" id="{0B311127-FC6F-1156-AFCD-4BC8E2C0EC81}"/>
              </a:ext>
            </a:extLst>
          </p:cNvPr>
          <p:cNvSpPr txBox="1"/>
          <p:nvPr/>
        </p:nvSpPr>
        <p:spPr>
          <a:xfrm>
            <a:off x="11683909" y="6361487"/>
            <a:ext cx="290286" cy="369332"/>
          </a:xfrm>
          <a:prstGeom prst="rect">
            <a:avLst/>
          </a:prstGeom>
          <a:noFill/>
        </p:spPr>
        <p:txBody>
          <a:bodyPr wrap="square" lIns="91440" tIns="45720" rIns="91440" bIns="45720" rtlCol="0" anchor="t">
            <a:spAutoFit/>
          </a:bodyPr>
          <a:lstStyle/>
          <a:p>
            <a:r>
              <a:rPr lang="en-IN" b="1">
                <a:solidFill>
                  <a:schemeClr val="tx1">
                    <a:lumMod val="65000"/>
                    <a:lumOff val="35000"/>
                  </a:schemeClr>
                </a:solidFill>
                <a:latin typeface="Vibur" panose="03000603000000000000" pitchFamily="66" charset="0"/>
              </a:rPr>
              <a:t>1</a:t>
            </a:r>
            <a:endParaRPr lang="en-IN" b="1" dirty="0">
              <a:solidFill>
                <a:schemeClr val="tx1">
                  <a:lumMod val="65000"/>
                  <a:lumOff val="35000"/>
                </a:schemeClr>
              </a:solidFill>
              <a:latin typeface="Vibur" panose="03000603000000000000" pitchFamily="66" charset="0"/>
            </a:endParaRPr>
          </a:p>
        </p:txBody>
      </p:sp>
      <p:sp>
        <p:nvSpPr>
          <p:cNvPr id="2" name="TextBox 1">
            <a:extLst>
              <a:ext uri="{FF2B5EF4-FFF2-40B4-BE49-F238E27FC236}">
                <a16:creationId xmlns:a16="http://schemas.microsoft.com/office/drawing/2014/main" id="{1CB48658-CBC0-2832-B81D-038C6EACF025}"/>
              </a:ext>
            </a:extLst>
          </p:cNvPr>
          <p:cNvSpPr txBox="1"/>
          <p:nvPr/>
        </p:nvSpPr>
        <p:spPr>
          <a:xfrm>
            <a:off x="779451" y="2739712"/>
            <a:ext cx="10010702"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6000" b="1">
                <a:solidFill>
                  <a:srgbClr val="000000"/>
                </a:solidFill>
                <a:latin typeface="Calibri"/>
                <a:ea typeface="Calibri"/>
                <a:cs typeface="Calibri"/>
              </a:rPr>
              <a:t>ILLUMINATING THE BLACKBOX</a:t>
            </a:r>
          </a:p>
        </p:txBody>
      </p:sp>
      <p:sp>
        <p:nvSpPr>
          <p:cNvPr id="3" name="TextBox 2">
            <a:extLst>
              <a:ext uri="{FF2B5EF4-FFF2-40B4-BE49-F238E27FC236}">
                <a16:creationId xmlns:a16="http://schemas.microsoft.com/office/drawing/2014/main" id="{E6D64A84-FF3F-E85C-814A-408F7B114AB1}"/>
              </a:ext>
            </a:extLst>
          </p:cNvPr>
          <p:cNvSpPr txBox="1"/>
          <p:nvPr/>
        </p:nvSpPr>
        <p:spPr>
          <a:xfrm>
            <a:off x="1116824" y="3897251"/>
            <a:ext cx="11633" cy="5118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4" name="TextBox 3">
            <a:extLst>
              <a:ext uri="{FF2B5EF4-FFF2-40B4-BE49-F238E27FC236}">
                <a16:creationId xmlns:a16="http://schemas.microsoft.com/office/drawing/2014/main" id="{F9DAECB8-7D1B-BE45-C96E-8389C2DC9383}"/>
              </a:ext>
            </a:extLst>
          </p:cNvPr>
          <p:cNvSpPr txBox="1"/>
          <p:nvPr/>
        </p:nvSpPr>
        <p:spPr>
          <a:xfrm>
            <a:off x="779449" y="3775099"/>
            <a:ext cx="3914702" cy="9349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b="1" dirty="0">
                <a:gradFill>
                  <a:gsLst>
                    <a:gs pos="0">
                      <a:srgbClr val="00CCFF"/>
                    </a:gs>
                    <a:gs pos="100000">
                      <a:srgbClr val="0000FF"/>
                    </a:gs>
                  </a:gsLst>
                  <a:lin ang="2700000" scaled="1"/>
                </a:gradFill>
                <a:latin typeface="Calibri"/>
                <a:ea typeface="Calibri"/>
                <a:cs typeface="Calibri"/>
              </a:rPr>
              <a:t>Explainable AI for Image Classification: A Comparative </a:t>
            </a:r>
            <a:r>
              <a:rPr lang="en-US" b="1">
                <a:gradFill>
                  <a:gsLst>
                    <a:gs pos="0">
                      <a:srgbClr val="00CCFF"/>
                    </a:gs>
                    <a:gs pos="100000">
                      <a:srgbClr val="0000FF"/>
                    </a:gs>
                  </a:gsLst>
                  <a:lin ang="2700000" scaled="1"/>
                </a:gradFill>
                <a:latin typeface="Calibri"/>
                <a:ea typeface="Calibri"/>
                <a:cs typeface="Calibri"/>
              </a:rPr>
              <a:t>Study of GRAD-CAM, LIME, and SHAP</a:t>
            </a:r>
            <a:endParaRPr lang="en-US" b="1" dirty="0">
              <a:gradFill>
                <a:gsLst>
                  <a:gs pos="0">
                    <a:srgbClr val="00CCFF"/>
                  </a:gs>
                  <a:gs pos="100000">
                    <a:srgbClr val="0000FF"/>
                  </a:gs>
                </a:gsLst>
                <a:lin ang="2700000" scaled="1"/>
              </a:gradFill>
              <a:latin typeface="Calibri"/>
              <a:ea typeface="Calibri"/>
              <a:cs typeface="Calibri"/>
            </a:endParaRPr>
          </a:p>
        </p:txBody>
      </p:sp>
      <p:sp>
        <p:nvSpPr>
          <p:cNvPr id="5" name="TextBox 4">
            <a:extLst>
              <a:ext uri="{FF2B5EF4-FFF2-40B4-BE49-F238E27FC236}">
                <a16:creationId xmlns:a16="http://schemas.microsoft.com/office/drawing/2014/main" id="{BDE6F992-6267-7AE2-F229-D1229774DF0F}"/>
              </a:ext>
            </a:extLst>
          </p:cNvPr>
          <p:cNvSpPr txBox="1"/>
          <p:nvPr/>
        </p:nvSpPr>
        <p:spPr>
          <a:xfrm>
            <a:off x="884153" y="5229298"/>
            <a:ext cx="2629190"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ea typeface="Calibri"/>
                <a:cs typeface="Calibri"/>
              </a:rPr>
              <a:t>Akhlak Ansari    </a:t>
            </a:r>
            <a:r>
              <a:rPr lang="en-US">
                <a:ea typeface="Calibri"/>
                <a:cs typeface="Calibri"/>
              </a:rPr>
              <a:t>Master of Technology(CS) </a:t>
            </a:r>
          </a:p>
          <a:p>
            <a:r>
              <a:rPr lang="en-US">
                <a:ea typeface="Calibri"/>
                <a:cs typeface="Calibri"/>
              </a:rPr>
              <a:t>Roll No: 2403601</a:t>
            </a:r>
          </a:p>
          <a:p>
            <a:r>
              <a:rPr lang="en-US">
                <a:ea typeface="Calibri"/>
                <a:cs typeface="Calibri"/>
              </a:rPr>
              <a:t>Session: 2024-26</a:t>
            </a:r>
          </a:p>
        </p:txBody>
      </p:sp>
      <p:pic>
        <p:nvPicPr>
          <p:cNvPr id="7" name="Picture 6" descr="A blue logo with text&#10;&#10;AI-generated content may be incorrect.">
            <a:extLst>
              <a:ext uri="{FF2B5EF4-FFF2-40B4-BE49-F238E27FC236}">
                <a16:creationId xmlns:a16="http://schemas.microsoft.com/office/drawing/2014/main" id="{77D25EDD-5A51-DE29-EC5E-52314E056A7C}"/>
              </a:ext>
            </a:extLst>
          </p:cNvPr>
          <p:cNvPicPr>
            <a:picLocks noChangeAspect="1"/>
          </p:cNvPicPr>
          <p:nvPr/>
        </p:nvPicPr>
        <p:blipFill>
          <a:blip r:embed="rId2"/>
          <a:stretch>
            <a:fillRect/>
          </a:stretch>
        </p:blipFill>
        <p:spPr>
          <a:xfrm>
            <a:off x="9111349" y="681874"/>
            <a:ext cx="972722" cy="1887839"/>
          </a:xfrm>
          <a:prstGeom prst="rect">
            <a:avLst/>
          </a:prstGeom>
        </p:spPr>
      </p:pic>
      <p:sp>
        <p:nvSpPr>
          <p:cNvPr id="10" name="TextBox 9">
            <a:extLst>
              <a:ext uri="{FF2B5EF4-FFF2-40B4-BE49-F238E27FC236}">
                <a16:creationId xmlns:a16="http://schemas.microsoft.com/office/drawing/2014/main" id="{133D7E5C-5315-14AC-C302-E8D60A23281B}"/>
              </a:ext>
            </a:extLst>
          </p:cNvPr>
          <p:cNvSpPr txBox="1"/>
          <p:nvPr/>
        </p:nvSpPr>
        <p:spPr>
          <a:xfrm>
            <a:off x="7412029" y="5228847"/>
            <a:ext cx="4268501"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Calibri"/>
                <a:cs typeface="Calibri"/>
              </a:rPr>
              <a:t>Supervisor: Dr. Manoj Kumar</a:t>
            </a:r>
            <a:endParaRPr lang="en-US"/>
          </a:p>
          <a:p>
            <a:r>
              <a:rPr lang="en-US">
                <a:ea typeface="Calibri"/>
                <a:cs typeface="Calibri"/>
              </a:rPr>
              <a:t>                     (</a:t>
            </a:r>
            <a:r>
              <a:rPr lang="en-US" sz="1400" b="1" i="1">
                <a:latin typeface="Calibri Light"/>
                <a:ea typeface="Calibri Light"/>
                <a:cs typeface="Calibri Light"/>
              </a:rPr>
              <a:t>Associate Professor</a:t>
            </a:r>
            <a:r>
              <a:rPr lang="en-US">
                <a:ea typeface="Calibri"/>
                <a:cs typeface="Calibri"/>
              </a:rPr>
              <a:t>)</a:t>
            </a:r>
          </a:p>
          <a:p>
            <a:r>
              <a:rPr lang="en-US" i="1">
                <a:ea typeface="Calibri"/>
                <a:cs typeface="Calibri"/>
              </a:rPr>
              <a:t>@</a:t>
            </a:r>
            <a:r>
              <a:rPr lang="en-US" sz="1600" i="1">
                <a:ea typeface="Calibri"/>
                <a:cs typeface="Calibri"/>
              </a:rPr>
              <a:t>Department of Computer Science</a:t>
            </a:r>
            <a:r>
              <a:rPr lang="en-US">
                <a:ea typeface="Calibri"/>
                <a:cs typeface="Calibri"/>
              </a:rPr>
              <a:t>  </a:t>
            </a:r>
          </a:p>
        </p:txBody>
      </p:sp>
      <p:sp>
        <p:nvSpPr>
          <p:cNvPr id="8" name="TextBox 7">
            <a:extLst>
              <a:ext uri="{FF2B5EF4-FFF2-40B4-BE49-F238E27FC236}">
                <a16:creationId xmlns:a16="http://schemas.microsoft.com/office/drawing/2014/main" id="{2F46F0FA-00E3-7C63-3058-E3AFEAC58154}"/>
              </a:ext>
            </a:extLst>
          </p:cNvPr>
          <p:cNvSpPr txBox="1"/>
          <p:nvPr/>
        </p:nvSpPr>
        <p:spPr>
          <a:xfrm>
            <a:off x="2757160" y="715465"/>
            <a:ext cx="6351938" cy="169706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lnSpc>
                <a:spcPct val="150000"/>
              </a:lnSpc>
            </a:pPr>
            <a:r>
              <a:rPr lang="en-US" sz="2400" b="1">
                <a:ea typeface="Calibri"/>
                <a:cs typeface="Calibri"/>
              </a:rPr>
              <a:t>BABSAHEB BHIMRAO AMBEDKAR UNIVERSITY</a:t>
            </a:r>
            <a:endParaRPr lang="en-US"/>
          </a:p>
          <a:p>
            <a:pPr algn="ctr">
              <a:lnSpc>
                <a:spcPct val="150000"/>
              </a:lnSpc>
            </a:pPr>
            <a:r>
              <a:rPr lang="en-US" sz="2400" b="1">
                <a:ea typeface="Calibri"/>
                <a:cs typeface="Calibri"/>
              </a:rPr>
              <a:t>LUCKNOW</a:t>
            </a:r>
          </a:p>
          <a:p>
            <a:pPr algn="ctr">
              <a:lnSpc>
                <a:spcPct val="150000"/>
              </a:lnSpc>
            </a:pPr>
            <a:r>
              <a:rPr lang="en-US" sz="2400" b="1">
                <a:ea typeface="Calibri"/>
                <a:cs typeface="Calibri"/>
              </a:rPr>
              <a:t>DEPARTMENT OF COMPUTER SCIENCE</a:t>
            </a:r>
            <a:endParaRPr lang="en-US" sz="2400" b="1" dirty="0">
              <a:ea typeface="Calibri"/>
              <a:cs typeface="Calibri"/>
            </a:endParaRPr>
          </a:p>
        </p:txBody>
      </p:sp>
    </p:spTree>
    <p:extLst>
      <p:ext uri="{BB962C8B-B14F-4D97-AF65-F5344CB8AC3E}">
        <p14:creationId xmlns:p14="http://schemas.microsoft.com/office/powerpoint/2010/main" val="18069418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BECF0"/>
        </a:solidFill>
        <a:effectLst/>
      </p:bgPr>
    </p:bg>
    <p:spTree>
      <p:nvGrpSpPr>
        <p:cNvPr id="1" name="">
          <a:extLst>
            <a:ext uri="{FF2B5EF4-FFF2-40B4-BE49-F238E27FC236}">
              <a16:creationId xmlns:a16="http://schemas.microsoft.com/office/drawing/2014/main" id="{B681951E-5D7E-3124-A11B-7BBEC093CCB5}"/>
            </a:ext>
          </a:extLst>
        </p:cNvPr>
        <p:cNvGrpSpPr/>
        <p:nvPr/>
      </p:nvGrpSpPr>
      <p:grpSpPr>
        <a:xfrm>
          <a:off x="0" y="0"/>
          <a:ext cx="0" cy="0"/>
          <a:chOff x="0" y="0"/>
          <a:chExt cx="0" cy="0"/>
        </a:xfrm>
      </p:grpSpPr>
      <p:grpSp>
        <p:nvGrpSpPr>
          <p:cNvPr id="59" name="Group 58">
            <a:extLst>
              <a:ext uri="{FF2B5EF4-FFF2-40B4-BE49-F238E27FC236}">
                <a16:creationId xmlns:a16="http://schemas.microsoft.com/office/drawing/2014/main" id="{40B19219-EE78-4525-76B3-363705EF4234}"/>
              </a:ext>
            </a:extLst>
          </p:cNvPr>
          <p:cNvGrpSpPr/>
          <p:nvPr/>
        </p:nvGrpSpPr>
        <p:grpSpPr>
          <a:xfrm>
            <a:off x="618906" y="243821"/>
            <a:ext cx="10334494" cy="6446716"/>
            <a:chOff x="1162348" y="1677368"/>
            <a:chExt cx="3266778" cy="3266778"/>
          </a:xfrm>
        </p:grpSpPr>
        <p:sp>
          <p:nvSpPr>
            <p:cNvPr id="60" name="Oval 34">
              <a:extLst>
                <a:ext uri="{FF2B5EF4-FFF2-40B4-BE49-F238E27FC236}">
                  <a16:creationId xmlns:a16="http://schemas.microsoft.com/office/drawing/2014/main" id="{372DAFEF-4EAF-6D86-F8EE-9627637722C0}"/>
                </a:ext>
              </a:extLst>
            </p:cNvPr>
            <p:cNvSpPr/>
            <p:nvPr/>
          </p:nvSpPr>
          <p:spPr>
            <a:xfrm>
              <a:off x="1162348" y="1677368"/>
              <a:ext cx="3266778" cy="3266778"/>
            </a:xfrm>
            <a:prstGeom prst="roundRect">
              <a:avLst/>
            </a:prstGeom>
            <a:solidFill>
              <a:srgbClr val="EBECF0"/>
            </a:solidFill>
            <a:ln>
              <a:noFill/>
            </a:ln>
            <a:effectLst>
              <a:outerShdw blurRad="177800" dist="114300" dir="2700000" algn="tl" rotWithShape="0">
                <a:srgbClr val="ACB0C0">
                  <a:alpha val="4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1" name="Oval 35">
              <a:extLst>
                <a:ext uri="{FF2B5EF4-FFF2-40B4-BE49-F238E27FC236}">
                  <a16:creationId xmlns:a16="http://schemas.microsoft.com/office/drawing/2014/main" id="{F7F9CF9A-B8EE-88F6-6341-1E56A0593C4B}"/>
                </a:ext>
              </a:extLst>
            </p:cNvPr>
            <p:cNvSpPr/>
            <p:nvPr/>
          </p:nvSpPr>
          <p:spPr>
            <a:xfrm>
              <a:off x="1162348" y="1677368"/>
              <a:ext cx="3266778" cy="3266778"/>
            </a:xfrm>
            <a:prstGeom prst="roundRect">
              <a:avLst>
                <a:gd name="adj" fmla="val 6541"/>
              </a:avLst>
            </a:prstGeom>
            <a:solidFill>
              <a:srgbClr val="EBECF0"/>
            </a:solidFill>
            <a:ln>
              <a:noFill/>
            </a:ln>
            <a:effectLst>
              <a:outerShdw blurRad="114300" dist="114300" dir="13500000" algn="br" rotWithShape="0">
                <a:srgbClr val="FFFFFF">
                  <a:alpha val="5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48" name="Freeform: Shape 47">
            <a:extLst>
              <a:ext uri="{FF2B5EF4-FFF2-40B4-BE49-F238E27FC236}">
                <a16:creationId xmlns:a16="http://schemas.microsoft.com/office/drawing/2014/main" id="{E87E951D-69AC-0497-F75A-E87398AEE42E}"/>
              </a:ext>
            </a:extLst>
          </p:cNvPr>
          <p:cNvSpPr/>
          <p:nvPr/>
        </p:nvSpPr>
        <p:spPr>
          <a:xfrm>
            <a:off x="11398434" y="1"/>
            <a:ext cx="793566" cy="993711"/>
          </a:xfrm>
          <a:custGeom>
            <a:avLst/>
            <a:gdLst>
              <a:gd name="connsiteX0" fmla="*/ 74242 w 793566"/>
              <a:gd name="connsiteY0" fmla="*/ 0 h 993711"/>
              <a:gd name="connsiteX1" fmla="*/ 793566 w 793566"/>
              <a:gd name="connsiteY1" fmla="*/ 0 h 993711"/>
              <a:gd name="connsiteX2" fmla="*/ 793566 w 793566"/>
              <a:gd name="connsiteY2" fmla="*/ 983129 h 993711"/>
              <a:gd name="connsiteX3" fmla="*/ 688594 w 793566"/>
              <a:gd name="connsiteY3" fmla="*/ 993711 h 993711"/>
              <a:gd name="connsiteX4" fmla="*/ 0 w 793566"/>
              <a:gd name="connsiteY4" fmla="*/ 305117 h 993711"/>
              <a:gd name="connsiteX5" fmla="*/ 54113 w 793566"/>
              <a:gd name="connsiteY5" fmla="*/ 37085 h 993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93566" h="993711">
                <a:moveTo>
                  <a:pt x="74242" y="0"/>
                </a:moveTo>
                <a:lnTo>
                  <a:pt x="793566" y="0"/>
                </a:lnTo>
                <a:lnTo>
                  <a:pt x="793566" y="983129"/>
                </a:lnTo>
                <a:lnTo>
                  <a:pt x="688594" y="993711"/>
                </a:lnTo>
                <a:cubicBezTo>
                  <a:pt x="308294" y="993711"/>
                  <a:pt x="0" y="685417"/>
                  <a:pt x="0" y="305117"/>
                </a:cubicBezTo>
                <a:cubicBezTo>
                  <a:pt x="0" y="210042"/>
                  <a:pt x="19268" y="119467"/>
                  <a:pt x="54113" y="37085"/>
                </a:cubicBezTo>
                <a:close/>
              </a:path>
            </a:pathLst>
          </a:custGeom>
          <a:gradFill>
            <a:gsLst>
              <a:gs pos="0">
                <a:srgbClr val="00CCFF"/>
              </a:gs>
              <a:gs pos="100000">
                <a:srgbClr val="0000FF"/>
              </a:gs>
            </a:gsLst>
            <a:lin ang="0" scaled="1"/>
          </a:gradFill>
          <a:ln w="38100">
            <a:gradFill flip="none" rotWithShape="1">
              <a:gsLst>
                <a:gs pos="0">
                  <a:srgbClr val="00CCFF"/>
                </a:gs>
                <a:gs pos="100000">
                  <a:srgbClr val="0000FF"/>
                </a:gs>
              </a:gsLst>
              <a:lin ang="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9" name="Oval 48">
            <a:extLst>
              <a:ext uri="{FF2B5EF4-FFF2-40B4-BE49-F238E27FC236}">
                <a16:creationId xmlns:a16="http://schemas.microsoft.com/office/drawing/2014/main" id="{FCBE7952-9F42-DB79-043F-122BA3954137}"/>
              </a:ext>
            </a:extLst>
          </p:cNvPr>
          <p:cNvSpPr/>
          <p:nvPr/>
        </p:nvSpPr>
        <p:spPr>
          <a:xfrm>
            <a:off x="10227818" y="681912"/>
            <a:ext cx="1377188" cy="1377188"/>
          </a:xfrm>
          <a:prstGeom prst="ellipse">
            <a:avLst/>
          </a:prstGeom>
          <a:gradFill>
            <a:gsLst>
              <a:gs pos="0">
                <a:srgbClr val="00CCFF"/>
              </a:gs>
              <a:gs pos="100000">
                <a:srgbClr val="0000FF"/>
              </a:gs>
            </a:gsLst>
            <a:lin ang="0" scaled="1"/>
          </a:gradFill>
          <a:ln w="38100">
            <a:gradFill flip="none" rotWithShape="1">
              <a:gsLst>
                <a:gs pos="0">
                  <a:srgbClr val="00CCFF"/>
                </a:gs>
                <a:gs pos="100000">
                  <a:srgbClr val="0000FF"/>
                </a:gs>
              </a:gsLst>
              <a:lin ang="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0" name="Freeform: Shape 49">
            <a:extLst>
              <a:ext uri="{FF2B5EF4-FFF2-40B4-BE49-F238E27FC236}">
                <a16:creationId xmlns:a16="http://schemas.microsoft.com/office/drawing/2014/main" id="{977D8112-D3E8-7F96-DE7A-EB8149528414}"/>
              </a:ext>
            </a:extLst>
          </p:cNvPr>
          <p:cNvSpPr/>
          <p:nvPr/>
        </p:nvSpPr>
        <p:spPr>
          <a:xfrm>
            <a:off x="11718200" y="1112145"/>
            <a:ext cx="473800" cy="1302014"/>
          </a:xfrm>
          <a:custGeom>
            <a:avLst/>
            <a:gdLst>
              <a:gd name="connsiteX0" fmla="*/ 473800 w 473800"/>
              <a:gd name="connsiteY0" fmla="*/ 0 h 1302014"/>
              <a:gd name="connsiteX1" fmla="*/ 473800 w 473800"/>
              <a:gd name="connsiteY1" fmla="*/ 1302014 h 1302014"/>
              <a:gd name="connsiteX2" fmla="*/ 420562 w 473800"/>
              <a:gd name="connsiteY2" fmla="*/ 1285488 h 1302014"/>
              <a:gd name="connsiteX3" fmla="*/ 0 w 473800"/>
              <a:gd name="connsiteY3" fmla="*/ 651007 h 1302014"/>
              <a:gd name="connsiteX4" fmla="*/ 420562 w 473800"/>
              <a:gd name="connsiteY4" fmla="*/ 16526 h 13020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3800" h="1302014">
                <a:moveTo>
                  <a:pt x="473800" y="0"/>
                </a:moveTo>
                <a:lnTo>
                  <a:pt x="473800" y="1302014"/>
                </a:lnTo>
                <a:lnTo>
                  <a:pt x="420562" y="1285488"/>
                </a:lnTo>
                <a:cubicBezTo>
                  <a:pt x="173415" y="1180954"/>
                  <a:pt x="0" y="936232"/>
                  <a:pt x="0" y="651007"/>
                </a:cubicBezTo>
                <a:cubicBezTo>
                  <a:pt x="0" y="365782"/>
                  <a:pt x="173415" y="121061"/>
                  <a:pt x="420562" y="16526"/>
                </a:cubicBezTo>
                <a:close/>
              </a:path>
            </a:pathLst>
          </a:custGeom>
          <a:gradFill>
            <a:gsLst>
              <a:gs pos="0">
                <a:srgbClr val="00CCFF"/>
              </a:gs>
              <a:gs pos="100000">
                <a:srgbClr val="0000FF"/>
              </a:gs>
            </a:gsLst>
            <a:lin ang="0" scaled="1"/>
          </a:gradFill>
          <a:ln w="38100">
            <a:gradFill flip="none" rotWithShape="1">
              <a:gsLst>
                <a:gs pos="0">
                  <a:srgbClr val="00CCFF"/>
                </a:gs>
                <a:gs pos="100000">
                  <a:srgbClr val="0000FF"/>
                </a:gs>
              </a:gsLst>
              <a:lin ang="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nvGrpSpPr>
          <p:cNvPr id="29" name="Group 28">
            <a:extLst>
              <a:ext uri="{FF2B5EF4-FFF2-40B4-BE49-F238E27FC236}">
                <a16:creationId xmlns:a16="http://schemas.microsoft.com/office/drawing/2014/main" id="{C75D1B8F-C061-2C3B-3DCA-5FFED1467F2B}"/>
              </a:ext>
            </a:extLst>
          </p:cNvPr>
          <p:cNvGrpSpPr/>
          <p:nvPr/>
        </p:nvGrpSpPr>
        <p:grpSpPr>
          <a:xfrm rot="5400000">
            <a:off x="11487150" y="6153150"/>
            <a:ext cx="704850" cy="704850"/>
            <a:chOff x="10538072" y="528484"/>
            <a:chExt cx="1029600" cy="1029600"/>
          </a:xfrm>
          <a:gradFill flip="none" rotWithShape="1">
            <a:gsLst>
              <a:gs pos="0">
                <a:srgbClr val="00CCFF"/>
              </a:gs>
              <a:gs pos="100000">
                <a:srgbClr val="0000FF"/>
              </a:gs>
            </a:gsLst>
            <a:lin ang="2700000" scaled="1"/>
            <a:tileRect/>
          </a:gradFill>
        </p:grpSpPr>
        <p:sp>
          <p:nvSpPr>
            <p:cNvPr id="30" name="Oval 22">
              <a:extLst>
                <a:ext uri="{FF2B5EF4-FFF2-40B4-BE49-F238E27FC236}">
                  <a16:creationId xmlns:a16="http://schemas.microsoft.com/office/drawing/2014/main" id="{75BCDE38-4DAD-3286-9EF5-539A87EC2E03}"/>
                </a:ext>
              </a:extLst>
            </p:cNvPr>
            <p:cNvSpPr/>
            <p:nvPr/>
          </p:nvSpPr>
          <p:spPr>
            <a:xfrm>
              <a:off x="10538072" y="528484"/>
              <a:ext cx="1029600" cy="1029600"/>
            </a:xfrm>
            <a:prstGeom prst="frame">
              <a:avLst/>
            </a:prstGeom>
            <a:grpFill/>
            <a:ln>
              <a:noFill/>
            </a:ln>
            <a:effectLst>
              <a:outerShdw blurRad="177800" dist="114300" dir="2700000" algn="tl" rotWithShape="0">
                <a:srgbClr val="ACB0C0">
                  <a:alpha val="4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1" name="Oval 23">
              <a:extLst>
                <a:ext uri="{FF2B5EF4-FFF2-40B4-BE49-F238E27FC236}">
                  <a16:creationId xmlns:a16="http://schemas.microsoft.com/office/drawing/2014/main" id="{AABC0F8B-00C3-A135-4518-E586D4138806}"/>
                </a:ext>
              </a:extLst>
            </p:cNvPr>
            <p:cNvSpPr/>
            <p:nvPr/>
          </p:nvSpPr>
          <p:spPr>
            <a:xfrm>
              <a:off x="10538337" y="528749"/>
              <a:ext cx="1029071" cy="1029071"/>
            </a:xfrm>
            <a:prstGeom prst="frame">
              <a:avLst/>
            </a:prstGeom>
            <a:grpFill/>
            <a:ln>
              <a:noFill/>
            </a:ln>
            <a:effectLst>
              <a:outerShdw blurRad="114300" dist="114300" dir="13500000" algn="br" rotWithShape="0">
                <a:srgbClr val="FFFFFF">
                  <a:alpha val="5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32" name="TextBox 31">
            <a:extLst>
              <a:ext uri="{FF2B5EF4-FFF2-40B4-BE49-F238E27FC236}">
                <a16:creationId xmlns:a16="http://schemas.microsoft.com/office/drawing/2014/main" id="{6A947686-7853-C4AC-CF39-021DBF1242A9}"/>
              </a:ext>
            </a:extLst>
          </p:cNvPr>
          <p:cNvSpPr txBox="1"/>
          <p:nvPr/>
        </p:nvSpPr>
        <p:spPr>
          <a:xfrm>
            <a:off x="11683909" y="6361487"/>
            <a:ext cx="290286" cy="369332"/>
          </a:xfrm>
          <a:prstGeom prst="rect">
            <a:avLst/>
          </a:prstGeom>
          <a:noFill/>
        </p:spPr>
        <p:txBody>
          <a:bodyPr wrap="square" lIns="91440" tIns="45720" rIns="91440" bIns="45720" rtlCol="0" anchor="t">
            <a:spAutoFit/>
          </a:bodyPr>
          <a:lstStyle/>
          <a:p>
            <a:r>
              <a:rPr lang="en-IN" b="1">
                <a:solidFill>
                  <a:schemeClr val="tx1">
                    <a:lumMod val="65000"/>
                    <a:lumOff val="35000"/>
                  </a:schemeClr>
                </a:solidFill>
                <a:latin typeface="Vibur" panose="03000603000000000000" pitchFamily="66" charset="0"/>
              </a:rPr>
              <a:t>2</a:t>
            </a:r>
            <a:endParaRPr lang="en-IN" b="1" dirty="0">
              <a:solidFill>
                <a:schemeClr val="tx1">
                  <a:lumMod val="65000"/>
                  <a:lumOff val="35000"/>
                </a:schemeClr>
              </a:solidFill>
              <a:latin typeface="Vibur" panose="03000603000000000000" pitchFamily="66" charset="0"/>
            </a:endParaRPr>
          </a:p>
        </p:txBody>
      </p:sp>
      <p:sp>
        <p:nvSpPr>
          <p:cNvPr id="3" name="TextBox 2">
            <a:extLst>
              <a:ext uri="{FF2B5EF4-FFF2-40B4-BE49-F238E27FC236}">
                <a16:creationId xmlns:a16="http://schemas.microsoft.com/office/drawing/2014/main" id="{A5E7BE02-BE0C-776A-DFFC-1034B4196AD3}"/>
              </a:ext>
            </a:extLst>
          </p:cNvPr>
          <p:cNvSpPr txBox="1"/>
          <p:nvPr/>
        </p:nvSpPr>
        <p:spPr>
          <a:xfrm>
            <a:off x="1116824" y="3897251"/>
            <a:ext cx="11633" cy="5118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pic>
        <p:nvPicPr>
          <p:cNvPr id="7" name="Picture 6" descr="A blue logo with text&#10;&#10;AI-generated content may be incorrect.">
            <a:extLst>
              <a:ext uri="{FF2B5EF4-FFF2-40B4-BE49-F238E27FC236}">
                <a16:creationId xmlns:a16="http://schemas.microsoft.com/office/drawing/2014/main" id="{1A086716-FD11-E39C-26C4-0164FD4664CA}"/>
              </a:ext>
            </a:extLst>
          </p:cNvPr>
          <p:cNvPicPr>
            <a:picLocks noChangeAspect="1"/>
          </p:cNvPicPr>
          <p:nvPr/>
        </p:nvPicPr>
        <p:blipFill>
          <a:blip r:embed="rId2"/>
          <a:stretch>
            <a:fillRect/>
          </a:stretch>
        </p:blipFill>
        <p:spPr>
          <a:xfrm>
            <a:off x="10228173" y="5806469"/>
            <a:ext cx="356142" cy="689580"/>
          </a:xfrm>
          <a:prstGeom prst="rect">
            <a:avLst/>
          </a:prstGeom>
        </p:spPr>
      </p:pic>
      <p:sp>
        <p:nvSpPr>
          <p:cNvPr id="2" name="TextBox 1">
            <a:extLst>
              <a:ext uri="{FF2B5EF4-FFF2-40B4-BE49-F238E27FC236}">
                <a16:creationId xmlns:a16="http://schemas.microsoft.com/office/drawing/2014/main" id="{786D6DD7-7E95-FDB7-857B-15A256F4C98C}"/>
              </a:ext>
            </a:extLst>
          </p:cNvPr>
          <p:cNvSpPr txBox="1"/>
          <p:nvPr/>
        </p:nvSpPr>
        <p:spPr>
          <a:xfrm>
            <a:off x="3390617" y="680113"/>
            <a:ext cx="4791972"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ea typeface="Calibri"/>
                <a:cs typeface="Calibri"/>
              </a:rPr>
              <a:t>Introduction &amp; Motivation</a:t>
            </a:r>
          </a:p>
        </p:txBody>
      </p:sp>
      <p:sp>
        <p:nvSpPr>
          <p:cNvPr id="4" name="TextBox 3">
            <a:extLst>
              <a:ext uri="{FF2B5EF4-FFF2-40B4-BE49-F238E27FC236}">
                <a16:creationId xmlns:a16="http://schemas.microsoft.com/office/drawing/2014/main" id="{00EB14A2-0B13-2B92-A6EA-BFB9BBB2C83E}"/>
              </a:ext>
            </a:extLst>
          </p:cNvPr>
          <p:cNvSpPr txBox="1"/>
          <p:nvPr/>
        </p:nvSpPr>
        <p:spPr>
          <a:xfrm>
            <a:off x="1126901" y="1566930"/>
            <a:ext cx="9105986" cy="545085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50000"/>
              </a:lnSpc>
            </a:pPr>
            <a:r>
              <a:rPr lang="en-US" b="1"/>
              <a:t>Introduction</a:t>
            </a:r>
            <a:endParaRPr lang="en-US" b="1">
              <a:ea typeface="Calibri"/>
              <a:cs typeface="Calibri"/>
            </a:endParaRPr>
          </a:p>
          <a:p>
            <a:pPr algn="just">
              <a:lnSpc>
                <a:spcPct val="150000"/>
              </a:lnSpc>
            </a:pPr>
            <a:r>
              <a:rPr lang="en-US">
                <a:ea typeface="+mn-lt"/>
                <a:cs typeface="+mn-lt"/>
              </a:rPr>
              <a:t>Deep Convolutional Neural Networks (CNNs) have achieved remarkable success in image classification tasks. Despite their high predictive performance, these models often behave as "black boxes," making it difficult to understand how decisions are made.</a:t>
            </a:r>
            <a:endParaRPr lang="en-US">
              <a:ea typeface="Calibri"/>
              <a:cs typeface="Calibri"/>
            </a:endParaRPr>
          </a:p>
          <a:p>
            <a:pPr>
              <a:lnSpc>
                <a:spcPct val="150000"/>
              </a:lnSpc>
            </a:pPr>
            <a:endParaRPr lang="en-US" dirty="0"/>
          </a:p>
          <a:p>
            <a:pPr>
              <a:lnSpc>
                <a:spcPct val="150000"/>
              </a:lnSpc>
            </a:pPr>
            <a:r>
              <a:rPr lang="en-US" b="1"/>
              <a:t>Motivation</a:t>
            </a:r>
            <a:endParaRPr lang="en-US" b="1">
              <a:ea typeface="Calibri"/>
              <a:cs typeface="Calibri"/>
            </a:endParaRPr>
          </a:p>
          <a:p>
            <a:pPr marL="285750" indent="-285750" algn="just">
              <a:lnSpc>
                <a:spcPct val="150000"/>
              </a:lnSpc>
              <a:buFont typeface="Arial"/>
              <a:buChar char="•"/>
            </a:pPr>
            <a:r>
              <a:rPr lang="en-US">
                <a:ea typeface="+mn-lt"/>
                <a:cs typeface="+mn-lt"/>
              </a:rPr>
              <a:t>High accuracy does not guarantee trust.</a:t>
            </a:r>
            <a:endParaRPr lang="en-US">
              <a:ea typeface="Calibri"/>
              <a:cs typeface="Calibri"/>
            </a:endParaRPr>
          </a:p>
          <a:p>
            <a:pPr marL="285750" indent="-285750" algn="just">
              <a:lnSpc>
                <a:spcPct val="150000"/>
              </a:lnSpc>
              <a:buFont typeface="Arial"/>
              <a:buChar char="•"/>
            </a:pPr>
            <a:r>
              <a:rPr lang="en-US">
                <a:ea typeface="+mn-lt"/>
                <a:cs typeface="+mn-lt"/>
              </a:rPr>
              <a:t>Critical domains require transparent decisions.</a:t>
            </a:r>
          </a:p>
          <a:p>
            <a:pPr marL="285750" indent="-285750" algn="just">
              <a:lnSpc>
                <a:spcPct val="150000"/>
              </a:lnSpc>
              <a:buFont typeface="Arial"/>
              <a:buChar char="•"/>
            </a:pPr>
            <a:r>
              <a:rPr lang="en-US">
                <a:ea typeface="+mn-lt"/>
                <a:cs typeface="+mn-lt"/>
              </a:rPr>
              <a:t>Explainability improves reliability and user confidence.</a:t>
            </a:r>
            <a:endParaRPr lang="en-US">
              <a:ea typeface="Calibri"/>
              <a:cs typeface="Calibri"/>
            </a:endParaRPr>
          </a:p>
          <a:p>
            <a:pPr marL="285750" indent="-285750" algn="just">
              <a:lnSpc>
                <a:spcPct val="150000"/>
              </a:lnSpc>
              <a:buFont typeface="Arial"/>
              <a:buChar char="•"/>
            </a:pPr>
            <a:r>
              <a:rPr lang="en-US" dirty="0">
                <a:ea typeface="+mn-lt"/>
                <a:cs typeface="+mn-lt"/>
              </a:rPr>
              <a:t>Understanding model behavior helps identify biases and errors.</a:t>
            </a:r>
            <a:endParaRPr lang="en-US" dirty="0">
              <a:ea typeface="Calibri"/>
              <a:cs typeface="Calibri"/>
            </a:endParaRPr>
          </a:p>
          <a:p>
            <a:pPr>
              <a:lnSpc>
                <a:spcPct val="150000"/>
              </a:lnSpc>
            </a:pPr>
            <a:endParaRPr lang="en-US" dirty="0">
              <a:ea typeface="Calibri"/>
              <a:cs typeface="Calibri"/>
            </a:endParaRPr>
          </a:p>
          <a:p>
            <a:pPr>
              <a:lnSpc>
                <a:spcPct val="150000"/>
              </a:lnSpc>
            </a:pPr>
            <a:endParaRPr lang="en-US" dirty="0">
              <a:ea typeface="Calibri"/>
              <a:cs typeface="Calibri"/>
            </a:endParaRPr>
          </a:p>
          <a:p>
            <a:pPr algn="ctr">
              <a:lnSpc>
                <a:spcPct val="150000"/>
              </a:lnSpc>
            </a:pPr>
            <a:endParaRPr lang="en-US" dirty="0">
              <a:ea typeface="Calibri"/>
              <a:cs typeface="Calibri"/>
            </a:endParaRPr>
          </a:p>
        </p:txBody>
      </p:sp>
    </p:spTree>
    <p:extLst>
      <p:ext uri="{BB962C8B-B14F-4D97-AF65-F5344CB8AC3E}">
        <p14:creationId xmlns:p14="http://schemas.microsoft.com/office/powerpoint/2010/main" val="39155114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BECF0"/>
        </a:solidFill>
        <a:effectLst/>
      </p:bgPr>
    </p:bg>
    <p:spTree>
      <p:nvGrpSpPr>
        <p:cNvPr id="1" name="">
          <a:extLst>
            <a:ext uri="{FF2B5EF4-FFF2-40B4-BE49-F238E27FC236}">
              <a16:creationId xmlns:a16="http://schemas.microsoft.com/office/drawing/2014/main" id="{7D864B71-1708-B403-51D2-609999D540A1}"/>
            </a:ext>
          </a:extLst>
        </p:cNvPr>
        <p:cNvGrpSpPr/>
        <p:nvPr/>
      </p:nvGrpSpPr>
      <p:grpSpPr>
        <a:xfrm>
          <a:off x="0" y="0"/>
          <a:ext cx="0" cy="0"/>
          <a:chOff x="0" y="0"/>
          <a:chExt cx="0" cy="0"/>
        </a:xfrm>
      </p:grpSpPr>
      <p:grpSp>
        <p:nvGrpSpPr>
          <p:cNvPr id="59" name="Group 58">
            <a:extLst>
              <a:ext uri="{FF2B5EF4-FFF2-40B4-BE49-F238E27FC236}">
                <a16:creationId xmlns:a16="http://schemas.microsoft.com/office/drawing/2014/main" id="{9FDBC5F7-23B9-3360-FEC4-E92164B4C313}"/>
              </a:ext>
            </a:extLst>
          </p:cNvPr>
          <p:cNvGrpSpPr/>
          <p:nvPr/>
        </p:nvGrpSpPr>
        <p:grpSpPr>
          <a:xfrm>
            <a:off x="618906" y="243821"/>
            <a:ext cx="10334494" cy="6446716"/>
            <a:chOff x="1162348" y="1677368"/>
            <a:chExt cx="3266778" cy="3266778"/>
          </a:xfrm>
        </p:grpSpPr>
        <p:sp>
          <p:nvSpPr>
            <p:cNvPr id="60" name="Oval 34">
              <a:extLst>
                <a:ext uri="{FF2B5EF4-FFF2-40B4-BE49-F238E27FC236}">
                  <a16:creationId xmlns:a16="http://schemas.microsoft.com/office/drawing/2014/main" id="{48313A2B-0140-0D6D-FD3B-276598434462}"/>
                </a:ext>
              </a:extLst>
            </p:cNvPr>
            <p:cNvSpPr/>
            <p:nvPr/>
          </p:nvSpPr>
          <p:spPr>
            <a:xfrm>
              <a:off x="1162348" y="1677368"/>
              <a:ext cx="3266778" cy="3266778"/>
            </a:xfrm>
            <a:prstGeom prst="roundRect">
              <a:avLst/>
            </a:prstGeom>
            <a:solidFill>
              <a:srgbClr val="EBECF0"/>
            </a:solidFill>
            <a:ln>
              <a:noFill/>
            </a:ln>
            <a:effectLst>
              <a:outerShdw blurRad="177800" dist="114300" dir="2700000" algn="tl" rotWithShape="0">
                <a:srgbClr val="ACB0C0">
                  <a:alpha val="4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1" name="Oval 35">
              <a:extLst>
                <a:ext uri="{FF2B5EF4-FFF2-40B4-BE49-F238E27FC236}">
                  <a16:creationId xmlns:a16="http://schemas.microsoft.com/office/drawing/2014/main" id="{0BD0E127-7827-C46B-E82E-667E9E4A088D}"/>
                </a:ext>
              </a:extLst>
            </p:cNvPr>
            <p:cNvSpPr/>
            <p:nvPr/>
          </p:nvSpPr>
          <p:spPr>
            <a:xfrm>
              <a:off x="1162348" y="1677368"/>
              <a:ext cx="3266778" cy="3266778"/>
            </a:xfrm>
            <a:prstGeom prst="roundRect">
              <a:avLst>
                <a:gd name="adj" fmla="val 6541"/>
              </a:avLst>
            </a:prstGeom>
            <a:solidFill>
              <a:srgbClr val="EBECF0"/>
            </a:solidFill>
            <a:ln>
              <a:noFill/>
            </a:ln>
            <a:effectLst>
              <a:outerShdw blurRad="114300" dist="114300" dir="13500000" algn="br" rotWithShape="0">
                <a:srgbClr val="FFFFFF">
                  <a:alpha val="5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48" name="Freeform: Shape 47">
            <a:extLst>
              <a:ext uri="{FF2B5EF4-FFF2-40B4-BE49-F238E27FC236}">
                <a16:creationId xmlns:a16="http://schemas.microsoft.com/office/drawing/2014/main" id="{9BB441E9-F0B0-0D65-251B-C87A2E41FBCA}"/>
              </a:ext>
            </a:extLst>
          </p:cNvPr>
          <p:cNvSpPr/>
          <p:nvPr/>
        </p:nvSpPr>
        <p:spPr>
          <a:xfrm>
            <a:off x="11398434" y="1"/>
            <a:ext cx="793566" cy="993711"/>
          </a:xfrm>
          <a:custGeom>
            <a:avLst/>
            <a:gdLst>
              <a:gd name="connsiteX0" fmla="*/ 74242 w 793566"/>
              <a:gd name="connsiteY0" fmla="*/ 0 h 993711"/>
              <a:gd name="connsiteX1" fmla="*/ 793566 w 793566"/>
              <a:gd name="connsiteY1" fmla="*/ 0 h 993711"/>
              <a:gd name="connsiteX2" fmla="*/ 793566 w 793566"/>
              <a:gd name="connsiteY2" fmla="*/ 983129 h 993711"/>
              <a:gd name="connsiteX3" fmla="*/ 688594 w 793566"/>
              <a:gd name="connsiteY3" fmla="*/ 993711 h 993711"/>
              <a:gd name="connsiteX4" fmla="*/ 0 w 793566"/>
              <a:gd name="connsiteY4" fmla="*/ 305117 h 993711"/>
              <a:gd name="connsiteX5" fmla="*/ 54113 w 793566"/>
              <a:gd name="connsiteY5" fmla="*/ 37085 h 993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93566" h="993711">
                <a:moveTo>
                  <a:pt x="74242" y="0"/>
                </a:moveTo>
                <a:lnTo>
                  <a:pt x="793566" y="0"/>
                </a:lnTo>
                <a:lnTo>
                  <a:pt x="793566" y="983129"/>
                </a:lnTo>
                <a:lnTo>
                  <a:pt x="688594" y="993711"/>
                </a:lnTo>
                <a:cubicBezTo>
                  <a:pt x="308294" y="993711"/>
                  <a:pt x="0" y="685417"/>
                  <a:pt x="0" y="305117"/>
                </a:cubicBezTo>
                <a:cubicBezTo>
                  <a:pt x="0" y="210042"/>
                  <a:pt x="19268" y="119467"/>
                  <a:pt x="54113" y="37085"/>
                </a:cubicBezTo>
                <a:close/>
              </a:path>
            </a:pathLst>
          </a:custGeom>
          <a:gradFill>
            <a:gsLst>
              <a:gs pos="0">
                <a:srgbClr val="00CCFF"/>
              </a:gs>
              <a:gs pos="100000">
                <a:srgbClr val="0000FF"/>
              </a:gs>
            </a:gsLst>
            <a:lin ang="0" scaled="1"/>
          </a:gradFill>
          <a:ln w="38100">
            <a:gradFill flip="none" rotWithShape="1">
              <a:gsLst>
                <a:gs pos="0">
                  <a:srgbClr val="00CCFF"/>
                </a:gs>
                <a:gs pos="100000">
                  <a:srgbClr val="0000FF"/>
                </a:gs>
              </a:gsLst>
              <a:lin ang="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9" name="Oval 48">
            <a:extLst>
              <a:ext uri="{FF2B5EF4-FFF2-40B4-BE49-F238E27FC236}">
                <a16:creationId xmlns:a16="http://schemas.microsoft.com/office/drawing/2014/main" id="{F4EB8C65-FDF1-5F6F-E40C-A9B26035DCF0}"/>
              </a:ext>
            </a:extLst>
          </p:cNvPr>
          <p:cNvSpPr/>
          <p:nvPr/>
        </p:nvSpPr>
        <p:spPr>
          <a:xfrm>
            <a:off x="10227818" y="681912"/>
            <a:ext cx="1377188" cy="1377188"/>
          </a:xfrm>
          <a:prstGeom prst="ellipse">
            <a:avLst/>
          </a:prstGeom>
          <a:gradFill>
            <a:gsLst>
              <a:gs pos="0">
                <a:srgbClr val="00CCFF"/>
              </a:gs>
              <a:gs pos="100000">
                <a:srgbClr val="0000FF"/>
              </a:gs>
            </a:gsLst>
            <a:lin ang="0" scaled="1"/>
          </a:gradFill>
          <a:ln w="38100">
            <a:gradFill flip="none" rotWithShape="1">
              <a:gsLst>
                <a:gs pos="0">
                  <a:srgbClr val="00CCFF"/>
                </a:gs>
                <a:gs pos="100000">
                  <a:srgbClr val="0000FF"/>
                </a:gs>
              </a:gsLst>
              <a:lin ang="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0" name="Freeform: Shape 49">
            <a:extLst>
              <a:ext uri="{FF2B5EF4-FFF2-40B4-BE49-F238E27FC236}">
                <a16:creationId xmlns:a16="http://schemas.microsoft.com/office/drawing/2014/main" id="{62F7B2E6-9970-BF74-C157-9D881F31E566}"/>
              </a:ext>
            </a:extLst>
          </p:cNvPr>
          <p:cNvSpPr/>
          <p:nvPr/>
        </p:nvSpPr>
        <p:spPr>
          <a:xfrm>
            <a:off x="11718200" y="1112145"/>
            <a:ext cx="473800" cy="1302014"/>
          </a:xfrm>
          <a:custGeom>
            <a:avLst/>
            <a:gdLst>
              <a:gd name="connsiteX0" fmla="*/ 473800 w 473800"/>
              <a:gd name="connsiteY0" fmla="*/ 0 h 1302014"/>
              <a:gd name="connsiteX1" fmla="*/ 473800 w 473800"/>
              <a:gd name="connsiteY1" fmla="*/ 1302014 h 1302014"/>
              <a:gd name="connsiteX2" fmla="*/ 420562 w 473800"/>
              <a:gd name="connsiteY2" fmla="*/ 1285488 h 1302014"/>
              <a:gd name="connsiteX3" fmla="*/ 0 w 473800"/>
              <a:gd name="connsiteY3" fmla="*/ 651007 h 1302014"/>
              <a:gd name="connsiteX4" fmla="*/ 420562 w 473800"/>
              <a:gd name="connsiteY4" fmla="*/ 16526 h 13020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3800" h="1302014">
                <a:moveTo>
                  <a:pt x="473800" y="0"/>
                </a:moveTo>
                <a:lnTo>
                  <a:pt x="473800" y="1302014"/>
                </a:lnTo>
                <a:lnTo>
                  <a:pt x="420562" y="1285488"/>
                </a:lnTo>
                <a:cubicBezTo>
                  <a:pt x="173415" y="1180954"/>
                  <a:pt x="0" y="936232"/>
                  <a:pt x="0" y="651007"/>
                </a:cubicBezTo>
                <a:cubicBezTo>
                  <a:pt x="0" y="365782"/>
                  <a:pt x="173415" y="121061"/>
                  <a:pt x="420562" y="16526"/>
                </a:cubicBezTo>
                <a:close/>
              </a:path>
            </a:pathLst>
          </a:custGeom>
          <a:gradFill>
            <a:gsLst>
              <a:gs pos="0">
                <a:srgbClr val="00CCFF"/>
              </a:gs>
              <a:gs pos="100000">
                <a:srgbClr val="0000FF"/>
              </a:gs>
            </a:gsLst>
            <a:lin ang="0" scaled="1"/>
          </a:gradFill>
          <a:ln w="38100">
            <a:gradFill flip="none" rotWithShape="1">
              <a:gsLst>
                <a:gs pos="0">
                  <a:srgbClr val="00CCFF"/>
                </a:gs>
                <a:gs pos="100000">
                  <a:srgbClr val="0000FF"/>
                </a:gs>
              </a:gsLst>
              <a:lin ang="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nvGrpSpPr>
          <p:cNvPr id="29" name="Group 28">
            <a:extLst>
              <a:ext uri="{FF2B5EF4-FFF2-40B4-BE49-F238E27FC236}">
                <a16:creationId xmlns:a16="http://schemas.microsoft.com/office/drawing/2014/main" id="{A3FC21A6-AF8E-AB38-9EE3-2B178126FA85}"/>
              </a:ext>
            </a:extLst>
          </p:cNvPr>
          <p:cNvGrpSpPr/>
          <p:nvPr/>
        </p:nvGrpSpPr>
        <p:grpSpPr>
          <a:xfrm rot="5400000">
            <a:off x="11487150" y="6153150"/>
            <a:ext cx="704850" cy="704850"/>
            <a:chOff x="10538072" y="528484"/>
            <a:chExt cx="1029600" cy="1029600"/>
          </a:xfrm>
          <a:gradFill flip="none" rotWithShape="1">
            <a:gsLst>
              <a:gs pos="0">
                <a:srgbClr val="00CCFF"/>
              </a:gs>
              <a:gs pos="100000">
                <a:srgbClr val="0000FF"/>
              </a:gs>
            </a:gsLst>
            <a:lin ang="2700000" scaled="1"/>
            <a:tileRect/>
          </a:gradFill>
        </p:grpSpPr>
        <p:sp>
          <p:nvSpPr>
            <p:cNvPr id="30" name="Oval 22">
              <a:extLst>
                <a:ext uri="{FF2B5EF4-FFF2-40B4-BE49-F238E27FC236}">
                  <a16:creationId xmlns:a16="http://schemas.microsoft.com/office/drawing/2014/main" id="{3540F685-8CC6-777A-B1B0-C38F053A2698}"/>
                </a:ext>
              </a:extLst>
            </p:cNvPr>
            <p:cNvSpPr/>
            <p:nvPr/>
          </p:nvSpPr>
          <p:spPr>
            <a:xfrm>
              <a:off x="10538072" y="528484"/>
              <a:ext cx="1029600" cy="1029600"/>
            </a:xfrm>
            <a:prstGeom prst="frame">
              <a:avLst/>
            </a:prstGeom>
            <a:grpFill/>
            <a:ln>
              <a:noFill/>
            </a:ln>
            <a:effectLst>
              <a:outerShdw blurRad="177800" dist="114300" dir="2700000" algn="tl" rotWithShape="0">
                <a:srgbClr val="ACB0C0">
                  <a:alpha val="4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1" name="Oval 23">
              <a:extLst>
                <a:ext uri="{FF2B5EF4-FFF2-40B4-BE49-F238E27FC236}">
                  <a16:creationId xmlns:a16="http://schemas.microsoft.com/office/drawing/2014/main" id="{7C1FA0E5-715C-C93C-F8D3-C21F9A06B9E0}"/>
                </a:ext>
              </a:extLst>
            </p:cNvPr>
            <p:cNvSpPr/>
            <p:nvPr/>
          </p:nvSpPr>
          <p:spPr>
            <a:xfrm>
              <a:off x="10538337" y="528749"/>
              <a:ext cx="1029071" cy="1029071"/>
            </a:xfrm>
            <a:prstGeom prst="frame">
              <a:avLst/>
            </a:prstGeom>
            <a:grpFill/>
            <a:ln>
              <a:noFill/>
            </a:ln>
            <a:effectLst>
              <a:outerShdw blurRad="114300" dist="114300" dir="13500000" algn="br" rotWithShape="0">
                <a:srgbClr val="FFFFFF">
                  <a:alpha val="5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32" name="TextBox 31">
            <a:extLst>
              <a:ext uri="{FF2B5EF4-FFF2-40B4-BE49-F238E27FC236}">
                <a16:creationId xmlns:a16="http://schemas.microsoft.com/office/drawing/2014/main" id="{96936069-36D0-D142-084C-9CA779A7F005}"/>
              </a:ext>
            </a:extLst>
          </p:cNvPr>
          <p:cNvSpPr txBox="1"/>
          <p:nvPr/>
        </p:nvSpPr>
        <p:spPr>
          <a:xfrm>
            <a:off x="11683909" y="6361487"/>
            <a:ext cx="290286" cy="369332"/>
          </a:xfrm>
          <a:prstGeom prst="rect">
            <a:avLst/>
          </a:prstGeom>
          <a:noFill/>
        </p:spPr>
        <p:txBody>
          <a:bodyPr wrap="square" lIns="91440" tIns="45720" rIns="91440" bIns="45720" rtlCol="0" anchor="t">
            <a:spAutoFit/>
          </a:bodyPr>
          <a:lstStyle/>
          <a:p>
            <a:r>
              <a:rPr lang="en-IN" b="1">
                <a:solidFill>
                  <a:schemeClr val="tx1">
                    <a:lumMod val="65000"/>
                    <a:lumOff val="35000"/>
                  </a:schemeClr>
                </a:solidFill>
                <a:latin typeface="Vibur" panose="03000603000000000000" pitchFamily="66" charset="0"/>
              </a:rPr>
              <a:t>3</a:t>
            </a:r>
            <a:endParaRPr lang="en-IN" b="1" dirty="0">
              <a:solidFill>
                <a:schemeClr val="tx1">
                  <a:lumMod val="65000"/>
                  <a:lumOff val="35000"/>
                </a:schemeClr>
              </a:solidFill>
              <a:latin typeface="Vibur" panose="03000603000000000000" pitchFamily="66" charset="0"/>
            </a:endParaRPr>
          </a:p>
        </p:txBody>
      </p:sp>
      <p:sp>
        <p:nvSpPr>
          <p:cNvPr id="3" name="TextBox 2">
            <a:extLst>
              <a:ext uri="{FF2B5EF4-FFF2-40B4-BE49-F238E27FC236}">
                <a16:creationId xmlns:a16="http://schemas.microsoft.com/office/drawing/2014/main" id="{E351E6A8-E259-26E5-BA81-ED38F04CE00C}"/>
              </a:ext>
            </a:extLst>
          </p:cNvPr>
          <p:cNvSpPr txBox="1"/>
          <p:nvPr/>
        </p:nvSpPr>
        <p:spPr>
          <a:xfrm>
            <a:off x="1116824" y="3897251"/>
            <a:ext cx="11633" cy="5118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pic>
        <p:nvPicPr>
          <p:cNvPr id="7" name="Picture 6" descr="A blue logo with text&#10;&#10;AI-generated content may be incorrect.">
            <a:extLst>
              <a:ext uri="{FF2B5EF4-FFF2-40B4-BE49-F238E27FC236}">
                <a16:creationId xmlns:a16="http://schemas.microsoft.com/office/drawing/2014/main" id="{A80C0F03-673D-2D4E-CD6A-1331853E4DB9}"/>
              </a:ext>
            </a:extLst>
          </p:cNvPr>
          <p:cNvPicPr>
            <a:picLocks noChangeAspect="1"/>
          </p:cNvPicPr>
          <p:nvPr/>
        </p:nvPicPr>
        <p:blipFill>
          <a:blip r:embed="rId2"/>
          <a:stretch>
            <a:fillRect/>
          </a:stretch>
        </p:blipFill>
        <p:spPr>
          <a:xfrm>
            <a:off x="10228173" y="5806469"/>
            <a:ext cx="356142" cy="689580"/>
          </a:xfrm>
          <a:prstGeom prst="rect">
            <a:avLst/>
          </a:prstGeom>
        </p:spPr>
      </p:pic>
      <p:sp>
        <p:nvSpPr>
          <p:cNvPr id="4" name="TextBox 3">
            <a:extLst>
              <a:ext uri="{FF2B5EF4-FFF2-40B4-BE49-F238E27FC236}">
                <a16:creationId xmlns:a16="http://schemas.microsoft.com/office/drawing/2014/main" id="{696013EA-2AD8-A6CF-240A-79DB1CD48E0A}"/>
              </a:ext>
            </a:extLst>
          </p:cNvPr>
          <p:cNvSpPr txBox="1"/>
          <p:nvPr/>
        </p:nvSpPr>
        <p:spPr>
          <a:xfrm>
            <a:off x="3297548" y="680113"/>
            <a:ext cx="5594689"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a:ea typeface="Calibri"/>
                <a:cs typeface="Calibri"/>
              </a:rPr>
              <a:t>Problem Statement &amp; </a:t>
            </a:r>
            <a:r>
              <a:rPr lang="en-US" sz="2800" b="1">
                <a:ea typeface="Calibri"/>
                <a:cs typeface="Calibri"/>
              </a:rPr>
              <a:t>Research Gap</a:t>
            </a:r>
            <a:endParaRPr lang="en-US" sz="2800" b="1" dirty="0">
              <a:ea typeface="Calibri"/>
              <a:cs typeface="Calibri"/>
            </a:endParaRPr>
          </a:p>
        </p:txBody>
      </p:sp>
      <p:sp>
        <p:nvSpPr>
          <p:cNvPr id="10" name="TextBox 9">
            <a:extLst>
              <a:ext uri="{FF2B5EF4-FFF2-40B4-BE49-F238E27FC236}">
                <a16:creationId xmlns:a16="http://schemas.microsoft.com/office/drawing/2014/main" id="{63E1EC43-B813-2277-41BD-7DD857597B06}"/>
              </a:ext>
            </a:extLst>
          </p:cNvPr>
          <p:cNvSpPr txBox="1"/>
          <p:nvPr/>
        </p:nvSpPr>
        <p:spPr>
          <a:xfrm>
            <a:off x="1122640" y="1381489"/>
            <a:ext cx="9271970" cy="503535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50000"/>
              </a:lnSpc>
            </a:pPr>
            <a:r>
              <a:rPr lang="en-US" b="1"/>
              <a:t>Problem Statement</a:t>
            </a:r>
            <a:endParaRPr lang="en-US" b="1">
              <a:ea typeface="Calibri"/>
              <a:cs typeface="Calibri"/>
            </a:endParaRPr>
          </a:p>
          <a:p>
            <a:pPr algn="just">
              <a:lnSpc>
                <a:spcPct val="150000"/>
              </a:lnSpc>
            </a:pPr>
            <a:r>
              <a:rPr lang="en-US" dirty="0"/>
              <a:t>Deep learning models provide accurate predictions but lack interpretability. Different Explainable AI techniques often generate different explanations for the same prediction.</a:t>
            </a:r>
            <a:endParaRPr lang="en-US" dirty="0">
              <a:ea typeface="Calibri"/>
              <a:cs typeface="Calibri"/>
            </a:endParaRPr>
          </a:p>
          <a:p>
            <a:pPr algn="just">
              <a:lnSpc>
                <a:spcPct val="150000"/>
              </a:lnSpc>
            </a:pPr>
            <a:r>
              <a:rPr lang="en-US" b="1"/>
              <a:t>Research Gap</a:t>
            </a:r>
            <a:endParaRPr lang="en-US" b="1">
              <a:ea typeface="Calibri"/>
              <a:cs typeface="Calibri"/>
            </a:endParaRPr>
          </a:p>
          <a:p>
            <a:pPr algn="just">
              <a:lnSpc>
                <a:spcPct val="150000"/>
              </a:lnSpc>
            </a:pPr>
            <a:r>
              <a:rPr lang="en-US"/>
              <a:t>Existing studies:</a:t>
            </a:r>
            <a:endParaRPr lang="en-US" dirty="0">
              <a:ea typeface="Calibri"/>
              <a:cs typeface="Calibri"/>
            </a:endParaRPr>
          </a:p>
          <a:p>
            <a:pPr algn="just">
              <a:lnSpc>
                <a:spcPct val="150000"/>
              </a:lnSpc>
              <a:buFont typeface=""/>
              <a:buChar char="•"/>
            </a:pPr>
            <a:r>
              <a:rPr lang="en-US"/>
              <a:t>Evaluate individual XAI methods separately.</a:t>
            </a:r>
            <a:endParaRPr lang="en-US" dirty="0">
              <a:ea typeface="Calibri"/>
              <a:cs typeface="Calibri"/>
            </a:endParaRPr>
          </a:p>
          <a:p>
            <a:pPr algn="just">
              <a:lnSpc>
                <a:spcPct val="150000"/>
              </a:lnSpc>
              <a:buFont typeface=""/>
              <a:buChar char="•"/>
            </a:pPr>
            <a:r>
              <a:rPr lang="en-US"/>
              <a:t>Use different datasets and architectures.</a:t>
            </a:r>
            <a:endParaRPr lang="en-US" dirty="0">
              <a:ea typeface="Calibri"/>
              <a:cs typeface="Calibri"/>
            </a:endParaRPr>
          </a:p>
          <a:p>
            <a:pPr algn="just">
              <a:lnSpc>
                <a:spcPct val="150000"/>
              </a:lnSpc>
              <a:buFont typeface=""/>
              <a:buChar char="•"/>
            </a:pPr>
            <a:r>
              <a:rPr lang="en-US"/>
              <a:t>Lack standardized evaluation criteria.</a:t>
            </a:r>
            <a:endParaRPr lang="en-US" dirty="0">
              <a:ea typeface="Calibri"/>
              <a:cs typeface="Calibri"/>
            </a:endParaRPr>
          </a:p>
          <a:p>
            <a:pPr algn="just">
              <a:lnSpc>
                <a:spcPct val="150000"/>
              </a:lnSpc>
              <a:buFont typeface=""/>
              <a:buChar char="•"/>
            </a:pPr>
            <a:r>
              <a:rPr lang="en-US"/>
              <a:t>Rarely compare methods under identical conditions.</a:t>
            </a:r>
            <a:endParaRPr lang="en-US" dirty="0">
              <a:ea typeface="Calibri"/>
              <a:cs typeface="Calibri"/>
            </a:endParaRPr>
          </a:p>
          <a:p>
            <a:pPr algn="just">
              <a:lnSpc>
                <a:spcPct val="150000"/>
              </a:lnSpc>
            </a:pPr>
            <a:r>
              <a:rPr lang="en-US" b="1"/>
              <a:t>Research Goal</a:t>
            </a:r>
            <a:endParaRPr lang="en-US" b="1">
              <a:ea typeface="Calibri"/>
              <a:cs typeface="Calibri"/>
            </a:endParaRPr>
          </a:p>
          <a:p>
            <a:pPr algn="just">
              <a:lnSpc>
                <a:spcPct val="150000"/>
              </a:lnSpc>
            </a:pPr>
            <a:r>
              <a:rPr lang="en-US" dirty="0"/>
              <a:t>To systematically compare Grad-CAM, LIME, and SHAP using a unified </a:t>
            </a:r>
            <a:r>
              <a:rPr lang="en-US"/>
              <a:t>framework</a:t>
            </a:r>
            <a:endParaRPr lang="en-US" dirty="0" err="1">
              <a:ea typeface="Calibri"/>
              <a:cs typeface="Calibri"/>
            </a:endParaRPr>
          </a:p>
          <a:p>
            <a:pPr algn="ctr">
              <a:lnSpc>
                <a:spcPct val="150000"/>
              </a:lnSpc>
            </a:pPr>
            <a:endParaRPr lang="en-US" dirty="0">
              <a:ea typeface="Calibri"/>
              <a:cs typeface="Calibri"/>
            </a:endParaRPr>
          </a:p>
        </p:txBody>
      </p:sp>
    </p:spTree>
    <p:extLst>
      <p:ext uri="{BB962C8B-B14F-4D97-AF65-F5344CB8AC3E}">
        <p14:creationId xmlns:p14="http://schemas.microsoft.com/office/powerpoint/2010/main" val="37429477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BECF0"/>
        </a:solidFill>
        <a:effectLst/>
      </p:bgPr>
    </p:bg>
    <p:spTree>
      <p:nvGrpSpPr>
        <p:cNvPr id="1" name="">
          <a:extLst>
            <a:ext uri="{FF2B5EF4-FFF2-40B4-BE49-F238E27FC236}">
              <a16:creationId xmlns:a16="http://schemas.microsoft.com/office/drawing/2014/main" id="{36956481-B07F-6137-D5ED-FE46716B2C6D}"/>
            </a:ext>
          </a:extLst>
        </p:cNvPr>
        <p:cNvGrpSpPr/>
        <p:nvPr/>
      </p:nvGrpSpPr>
      <p:grpSpPr>
        <a:xfrm>
          <a:off x="0" y="0"/>
          <a:ext cx="0" cy="0"/>
          <a:chOff x="0" y="0"/>
          <a:chExt cx="0" cy="0"/>
        </a:xfrm>
      </p:grpSpPr>
      <p:grpSp>
        <p:nvGrpSpPr>
          <p:cNvPr id="59" name="Group 58">
            <a:extLst>
              <a:ext uri="{FF2B5EF4-FFF2-40B4-BE49-F238E27FC236}">
                <a16:creationId xmlns:a16="http://schemas.microsoft.com/office/drawing/2014/main" id="{9257211E-9740-3E74-EE30-F63A1469A1B0}"/>
              </a:ext>
            </a:extLst>
          </p:cNvPr>
          <p:cNvGrpSpPr/>
          <p:nvPr/>
        </p:nvGrpSpPr>
        <p:grpSpPr>
          <a:xfrm>
            <a:off x="618906" y="243821"/>
            <a:ext cx="10334494" cy="6446716"/>
            <a:chOff x="1162348" y="1677368"/>
            <a:chExt cx="3266778" cy="3266778"/>
          </a:xfrm>
        </p:grpSpPr>
        <p:sp>
          <p:nvSpPr>
            <p:cNvPr id="60" name="Oval 34">
              <a:extLst>
                <a:ext uri="{FF2B5EF4-FFF2-40B4-BE49-F238E27FC236}">
                  <a16:creationId xmlns:a16="http://schemas.microsoft.com/office/drawing/2014/main" id="{B3133F23-4954-D017-084E-678FD59C8871}"/>
                </a:ext>
              </a:extLst>
            </p:cNvPr>
            <p:cNvSpPr/>
            <p:nvPr/>
          </p:nvSpPr>
          <p:spPr>
            <a:xfrm>
              <a:off x="1162348" y="1677368"/>
              <a:ext cx="3266778" cy="3266778"/>
            </a:xfrm>
            <a:prstGeom prst="roundRect">
              <a:avLst/>
            </a:prstGeom>
            <a:solidFill>
              <a:srgbClr val="EBECF0"/>
            </a:solidFill>
            <a:ln>
              <a:noFill/>
            </a:ln>
            <a:effectLst>
              <a:outerShdw blurRad="177800" dist="114300" dir="2700000" algn="tl" rotWithShape="0">
                <a:srgbClr val="ACB0C0">
                  <a:alpha val="4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1" name="Oval 35">
              <a:extLst>
                <a:ext uri="{FF2B5EF4-FFF2-40B4-BE49-F238E27FC236}">
                  <a16:creationId xmlns:a16="http://schemas.microsoft.com/office/drawing/2014/main" id="{2AD38424-5EDE-45CB-9F63-20B71E05185C}"/>
                </a:ext>
              </a:extLst>
            </p:cNvPr>
            <p:cNvSpPr/>
            <p:nvPr/>
          </p:nvSpPr>
          <p:spPr>
            <a:xfrm>
              <a:off x="1162348" y="1677368"/>
              <a:ext cx="3266778" cy="3266778"/>
            </a:xfrm>
            <a:prstGeom prst="roundRect">
              <a:avLst>
                <a:gd name="adj" fmla="val 6541"/>
              </a:avLst>
            </a:prstGeom>
            <a:solidFill>
              <a:srgbClr val="EBECF0"/>
            </a:solidFill>
            <a:ln>
              <a:noFill/>
            </a:ln>
            <a:effectLst>
              <a:outerShdw blurRad="114300" dist="114300" dir="13500000" algn="br" rotWithShape="0">
                <a:srgbClr val="FFFFFF">
                  <a:alpha val="5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48" name="Freeform: Shape 47">
            <a:extLst>
              <a:ext uri="{FF2B5EF4-FFF2-40B4-BE49-F238E27FC236}">
                <a16:creationId xmlns:a16="http://schemas.microsoft.com/office/drawing/2014/main" id="{B7630060-4265-AD8E-A224-AB9444B2526E}"/>
              </a:ext>
            </a:extLst>
          </p:cNvPr>
          <p:cNvSpPr/>
          <p:nvPr/>
        </p:nvSpPr>
        <p:spPr>
          <a:xfrm>
            <a:off x="11398434" y="1"/>
            <a:ext cx="793566" cy="993711"/>
          </a:xfrm>
          <a:custGeom>
            <a:avLst/>
            <a:gdLst>
              <a:gd name="connsiteX0" fmla="*/ 74242 w 793566"/>
              <a:gd name="connsiteY0" fmla="*/ 0 h 993711"/>
              <a:gd name="connsiteX1" fmla="*/ 793566 w 793566"/>
              <a:gd name="connsiteY1" fmla="*/ 0 h 993711"/>
              <a:gd name="connsiteX2" fmla="*/ 793566 w 793566"/>
              <a:gd name="connsiteY2" fmla="*/ 983129 h 993711"/>
              <a:gd name="connsiteX3" fmla="*/ 688594 w 793566"/>
              <a:gd name="connsiteY3" fmla="*/ 993711 h 993711"/>
              <a:gd name="connsiteX4" fmla="*/ 0 w 793566"/>
              <a:gd name="connsiteY4" fmla="*/ 305117 h 993711"/>
              <a:gd name="connsiteX5" fmla="*/ 54113 w 793566"/>
              <a:gd name="connsiteY5" fmla="*/ 37085 h 993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93566" h="993711">
                <a:moveTo>
                  <a:pt x="74242" y="0"/>
                </a:moveTo>
                <a:lnTo>
                  <a:pt x="793566" y="0"/>
                </a:lnTo>
                <a:lnTo>
                  <a:pt x="793566" y="983129"/>
                </a:lnTo>
                <a:lnTo>
                  <a:pt x="688594" y="993711"/>
                </a:lnTo>
                <a:cubicBezTo>
                  <a:pt x="308294" y="993711"/>
                  <a:pt x="0" y="685417"/>
                  <a:pt x="0" y="305117"/>
                </a:cubicBezTo>
                <a:cubicBezTo>
                  <a:pt x="0" y="210042"/>
                  <a:pt x="19268" y="119467"/>
                  <a:pt x="54113" y="37085"/>
                </a:cubicBezTo>
                <a:close/>
              </a:path>
            </a:pathLst>
          </a:custGeom>
          <a:gradFill>
            <a:gsLst>
              <a:gs pos="0">
                <a:srgbClr val="00CCFF"/>
              </a:gs>
              <a:gs pos="100000">
                <a:srgbClr val="0000FF"/>
              </a:gs>
            </a:gsLst>
            <a:lin ang="0" scaled="1"/>
          </a:gradFill>
          <a:ln w="38100">
            <a:gradFill flip="none" rotWithShape="1">
              <a:gsLst>
                <a:gs pos="0">
                  <a:srgbClr val="00CCFF"/>
                </a:gs>
                <a:gs pos="100000">
                  <a:srgbClr val="0000FF"/>
                </a:gs>
              </a:gsLst>
              <a:lin ang="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9" name="Oval 48">
            <a:extLst>
              <a:ext uri="{FF2B5EF4-FFF2-40B4-BE49-F238E27FC236}">
                <a16:creationId xmlns:a16="http://schemas.microsoft.com/office/drawing/2014/main" id="{BA0114B1-E916-E31A-2EA4-74F99F681C1C}"/>
              </a:ext>
            </a:extLst>
          </p:cNvPr>
          <p:cNvSpPr/>
          <p:nvPr/>
        </p:nvSpPr>
        <p:spPr>
          <a:xfrm>
            <a:off x="10227818" y="681912"/>
            <a:ext cx="1377188" cy="1377188"/>
          </a:xfrm>
          <a:prstGeom prst="ellipse">
            <a:avLst/>
          </a:prstGeom>
          <a:gradFill>
            <a:gsLst>
              <a:gs pos="0">
                <a:srgbClr val="00CCFF"/>
              </a:gs>
              <a:gs pos="100000">
                <a:srgbClr val="0000FF"/>
              </a:gs>
            </a:gsLst>
            <a:lin ang="0" scaled="1"/>
          </a:gradFill>
          <a:ln w="38100">
            <a:gradFill flip="none" rotWithShape="1">
              <a:gsLst>
                <a:gs pos="0">
                  <a:srgbClr val="00CCFF"/>
                </a:gs>
                <a:gs pos="100000">
                  <a:srgbClr val="0000FF"/>
                </a:gs>
              </a:gsLst>
              <a:lin ang="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0" name="Freeform: Shape 49">
            <a:extLst>
              <a:ext uri="{FF2B5EF4-FFF2-40B4-BE49-F238E27FC236}">
                <a16:creationId xmlns:a16="http://schemas.microsoft.com/office/drawing/2014/main" id="{63DE3390-6FD7-96E1-1596-632351FE2325}"/>
              </a:ext>
            </a:extLst>
          </p:cNvPr>
          <p:cNvSpPr/>
          <p:nvPr/>
        </p:nvSpPr>
        <p:spPr>
          <a:xfrm>
            <a:off x="11718200" y="1112145"/>
            <a:ext cx="473800" cy="1302014"/>
          </a:xfrm>
          <a:custGeom>
            <a:avLst/>
            <a:gdLst>
              <a:gd name="connsiteX0" fmla="*/ 473800 w 473800"/>
              <a:gd name="connsiteY0" fmla="*/ 0 h 1302014"/>
              <a:gd name="connsiteX1" fmla="*/ 473800 w 473800"/>
              <a:gd name="connsiteY1" fmla="*/ 1302014 h 1302014"/>
              <a:gd name="connsiteX2" fmla="*/ 420562 w 473800"/>
              <a:gd name="connsiteY2" fmla="*/ 1285488 h 1302014"/>
              <a:gd name="connsiteX3" fmla="*/ 0 w 473800"/>
              <a:gd name="connsiteY3" fmla="*/ 651007 h 1302014"/>
              <a:gd name="connsiteX4" fmla="*/ 420562 w 473800"/>
              <a:gd name="connsiteY4" fmla="*/ 16526 h 13020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3800" h="1302014">
                <a:moveTo>
                  <a:pt x="473800" y="0"/>
                </a:moveTo>
                <a:lnTo>
                  <a:pt x="473800" y="1302014"/>
                </a:lnTo>
                <a:lnTo>
                  <a:pt x="420562" y="1285488"/>
                </a:lnTo>
                <a:cubicBezTo>
                  <a:pt x="173415" y="1180954"/>
                  <a:pt x="0" y="936232"/>
                  <a:pt x="0" y="651007"/>
                </a:cubicBezTo>
                <a:cubicBezTo>
                  <a:pt x="0" y="365782"/>
                  <a:pt x="173415" y="121061"/>
                  <a:pt x="420562" y="16526"/>
                </a:cubicBezTo>
                <a:close/>
              </a:path>
            </a:pathLst>
          </a:custGeom>
          <a:gradFill>
            <a:gsLst>
              <a:gs pos="0">
                <a:srgbClr val="00CCFF"/>
              </a:gs>
              <a:gs pos="100000">
                <a:srgbClr val="0000FF"/>
              </a:gs>
            </a:gsLst>
            <a:lin ang="0" scaled="1"/>
          </a:gradFill>
          <a:ln w="38100">
            <a:gradFill flip="none" rotWithShape="1">
              <a:gsLst>
                <a:gs pos="0">
                  <a:srgbClr val="00CCFF"/>
                </a:gs>
                <a:gs pos="100000">
                  <a:srgbClr val="0000FF"/>
                </a:gs>
              </a:gsLst>
              <a:lin ang="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nvGrpSpPr>
          <p:cNvPr id="29" name="Group 28">
            <a:extLst>
              <a:ext uri="{FF2B5EF4-FFF2-40B4-BE49-F238E27FC236}">
                <a16:creationId xmlns:a16="http://schemas.microsoft.com/office/drawing/2014/main" id="{0AC0D921-9418-0096-86E9-EBE2F40E0C79}"/>
              </a:ext>
            </a:extLst>
          </p:cNvPr>
          <p:cNvGrpSpPr/>
          <p:nvPr/>
        </p:nvGrpSpPr>
        <p:grpSpPr>
          <a:xfrm rot="5400000">
            <a:off x="11487150" y="6153150"/>
            <a:ext cx="704850" cy="704850"/>
            <a:chOff x="10538072" y="528484"/>
            <a:chExt cx="1029600" cy="1029600"/>
          </a:xfrm>
          <a:gradFill flip="none" rotWithShape="1">
            <a:gsLst>
              <a:gs pos="0">
                <a:srgbClr val="00CCFF"/>
              </a:gs>
              <a:gs pos="100000">
                <a:srgbClr val="0000FF"/>
              </a:gs>
            </a:gsLst>
            <a:lin ang="2700000" scaled="1"/>
            <a:tileRect/>
          </a:gradFill>
        </p:grpSpPr>
        <p:sp>
          <p:nvSpPr>
            <p:cNvPr id="30" name="Oval 22">
              <a:extLst>
                <a:ext uri="{FF2B5EF4-FFF2-40B4-BE49-F238E27FC236}">
                  <a16:creationId xmlns:a16="http://schemas.microsoft.com/office/drawing/2014/main" id="{08476586-22AB-7262-E84F-A69246404855}"/>
                </a:ext>
              </a:extLst>
            </p:cNvPr>
            <p:cNvSpPr/>
            <p:nvPr/>
          </p:nvSpPr>
          <p:spPr>
            <a:xfrm>
              <a:off x="10538072" y="528484"/>
              <a:ext cx="1029600" cy="1029600"/>
            </a:xfrm>
            <a:prstGeom prst="frame">
              <a:avLst/>
            </a:prstGeom>
            <a:grpFill/>
            <a:ln>
              <a:noFill/>
            </a:ln>
            <a:effectLst>
              <a:outerShdw blurRad="177800" dist="114300" dir="2700000" algn="tl" rotWithShape="0">
                <a:srgbClr val="ACB0C0">
                  <a:alpha val="4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1" name="Oval 23">
              <a:extLst>
                <a:ext uri="{FF2B5EF4-FFF2-40B4-BE49-F238E27FC236}">
                  <a16:creationId xmlns:a16="http://schemas.microsoft.com/office/drawing/2014/main" id="{DA56FA55-BDD7-5B1F-2157-3A653A462051}"/>
                </a:ext>
              </a:extLst>
            </p:cNvPr>
            <p:cNvSpPr/>
            <p:nvPr/>
          </p:nvSpPr>
          <p:spPr>
            <a:xfrm>
              <a:off x="10538337" y="528749"/>
              <a:ext cx="1029071" cy="1029071"/>
            </a:xfrm>
            <a:prstGeom prst="frame">
              <a:avLst/>
            </a:prstGeom>
            <a:grpFill/>
            <a:ln>
              <a:noFill/>
            </a:ln>
            <a:effectLst>
              <a:outerShdw blurRad="114300" dist="114300" dir="13500000" algn="br" rotWithShape="0">
                <a:srgbClr val="FFFFFF">
                  <a:alpha val="5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32" name="TextBox 31">
            <a:extLst>
              <a:ext uri="{FF2B5EF4-FFF2-40B4-BE49-F238E27FC236}">
                <a16:creationId xmlns:a16="http://schemas.microsoft.com/office/drawing/2014/main" id="{6DEBFB37-556D-FA00-32A5-035CD244D7E0}"/>
              </a:ext>
            </a:extLst>
          </p:cNvPr>
          <p:cNvSpPr txBox="1"/>
          <p:nvPr/>
        </p:nvSpPr>
        <p:spPr>
          <a:xfrm>
            <a:off x="11683909" y="6361487"/>
            <a:ext cx="290286" cy="369332"/>
          </a:xfrm>
          <a:prstGeom prst="rect">
            <a:avLst/>
          </a:prstGeom>
          <a:noFill/>
        </p:spPr>
        <p:txBody>
          <a:bodyPr wrap="square" lIns="91440" tIns="45720" rIns="91440" bIns="45720" rtlCol="0" anchor="t">
            <a:spAutoFit/>
          </a:bodyPr>
          <a:lstStyle/>
          <a:p>
            <a:r>
              <a:rPr lang="en-IN" b="1">
                <a:solidFill>
                  <a:schemeClr val="tx1">
                    <a:lumMod val="65000"/>
                    <a:lumOff val="35000"/>
                  </a:schemeClr>
                </a:solidFill>
                <a:latin typeface="Vibur" panose="03000603000000000000" pitchFamily="66" charset="0"/>
              </a:rPr>
              <a:t>4</a:t>
            </a:r>
            <a:endParaRPr lang="en-IN" b="1" dirty="0">
              <a:solidFill>
                <a:schemeClr val="tx1">
                  <a:lumMod val="65000"/>
                  <a:lumOff val="35000"/>
                </a:schemeClr>
              </a:solidFill>
              <a:latin typeface="Vibur" panose="03000603000000000000" pitchFamily="66" charset="0"/>
            </a:endParaRPr>
          </a:p>
        </p:txBody>
      </p:sp>
      <p:sp>
        <p:nvSpPr>
          <p:cNvPr id="3" name="TextBox 2">
            <a:extLst>
              <a:ext uri="{FF2B5EF4-FFF2-40B4-BE49-F238E27FC236}">
                <a16:creationId xmlns:a16="http://schemas.microsoft.com/office/drawing/2014/main" id="{55C37E24-88BD-2599-9283-705CEF5F8728}"/>
              </a:ext>
            </a:extLst>
          </p:cNvPr>
          <p:cNvSpPr txBox="1"/>
          <p:nvPr/>
        </p:nvSpPr>
        <p:spPr>
          <a:xfrm>
            <a:off x="1116824" y="3897251"/>
            <a:ext cx="11633" cy="5118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pic>
        <p:nvPicPr>
          <p:cNvPr id="7" name="Picture 6" descr="A blue logo with text&#10;&#10;AI-generated content may be incorrect.">
            <a:extLst>
              <a:ext uri="{FF2B5EF4-FFF2-40B4-BE49-F238E27FC236}">
                <a16:creationId xmlns:a16="http://schemas.microsoft.com/office/drawing/2014/main" id="{33FD0CD5-D192-D8C5-177E-900E5BD1467C}"/>
              </a:ext>
            </a:extLst>
          </p:cNvPr>
          <p:cNvPicPr>
            <a:picLocks noChangeAspect="1"/>
          </p:cNvPicPr>
          <p:nvPr/>
        </p:nvPicPr>
        <p:blipFill>
          <a:blip r:embed="rId2"/>
          <a:stretch>
            <a:fillRect/>
          </a:stretch>
        </p:blipFill>
        <p:spPr>
          <a:xfrm>
            <a:off x="10228173" y="5806469"/>
            <a:ext cx="356142" cy="689580"/>
          </a:xfrm>
          <a:prstGeom prst="rect">
            <a:avLst/>
          </a:prstGeom>
        </p:spPr>
      </p:pic>
      <p:sp>
        <p:nvSpPr>
          <p:cNvPr id="5" name="TextBox 4">
            <a:extLst>
              <a:ext uri="{FF2B5EF4-FFF2-40B4-BE49-F238E27FC236}">
                <a16:creationId xmlns:a16="http://schemas.microsoft.com/office/drawing/2014/main" id="{F690C5F7-4BBA-DC5A-3F42-0E52751A1CC8}"/>
              </a:ext>
            </a:extLst>
          </p:cNvPr>
          <p:cNvSpPr txBox="1"/>
          <p:nvPr/>
        </p:nvSpPr>
        <p:spPr>
          <a:xfrm>
            <a:off x="3941492" y="680113"/>
            <a:ext cx="3695056"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a:ea typeface="Calibri"/>
                <a:cs typeface="Calibri"/>
              </a:rPr>
              <a:t> </a:t>
            </a:r>
            <a:r>
              <a:rPr lang="en-US" sz="2800" b="1">
                <a:ea typeface="Calibri"/>
                <a:cs typeface="Calibri"/>
              </a:rPr>
              <a:t>Research Objectives</a:t>
            </a:r>
            <a:endParaRPr lang="en-US" sz="2800" b="1" dirty="0">
              <a:ea typeface="Calibri"/>
              <a:cs typeface="Calibri"/>
            </a:endParaRPr>
          </a:p>
        </p:txBody>
      </p:sp>
      <p:sp>
        <p:nvSpPr>
          <p:cNvPr id="6" name="TextBox 5">
            <a:extLst>
              <a:ext uri="{FF2B5EF4-FFF2-40B4-BE49-F238E27FC236}">
                <a16:creationId xmlns:a16="http://schemas.microsoft.com/office/drawing/2014/main" id="{A40E82BA-E504-2184-AE7F-92C07F00D0C8}"/>
              </a:ext>
            </a:extLst>
          </p:cNvPr>
          <p:cNvSpPr txBox="1"/>
          <p:nvPr/>
        </p:nvSpPr>
        <p:spPr>
          <a:xfrm>
            <a:off x="1126901" y="1373746"/>
            <a:ext cx="8923985" cy="503535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50000"/>
              </a:lnSpc>
            </a:pPr>
            <a:r>
              <a:rPr lang="en-US" b="1"/>
              <a:t>Main Objective</a:t>
            </a:r>
            <a:endParaRPr lang="en-US" b="1">
              <a:ea typeface="Calibri"/>
              <a:cs typeface="Calibri"/>
            </a:endParaRPr>
          </a:p>
          <a:p>
            <a:pPr>
              <a:lnSpc>
                <a:spcPct val="150000"/>
              </a:lnSpc>
            </a:pPr>
            <a:r>
              <a:rPr lang="en-US"/>
              <a:t>Develop an explainable image classification framework and evaluate major XAI techniques.</a:t>
            </a:r>
            <a:endParaRPr lang="en-US" dirty="0">
              <a:ea typeface="Calibri"/>
              <a:cs typeface="Calibri"/>
            </a:endParaRPr>
          </a:p>
          <a:p>
            <a:pPr>
              <a:lnSpc>
                <a:spcPct val="150000"/>
              </a:lnSpc>
            </a:pPr>
            <a:r>
              <a:rPr lang="en-US" b="1"/>
              <a:t>Specific Objectives</a:t>
            </a:r>
            <a:endParaRPr lang="en-US" b="1">
              <a:ea typeface="Calibri"/>
              <a:cs typeface="Calibri"/>
            </a:endParaRPr>
          </a:p>
          <a:p>
            <a:pPr>
              <a:lnSpc>
                <a:spcPct val="150000"/>
              </a:lnSpc>
              <a:buFont typeface=""/>
              <a:buChar char="•"/>
            </a:pPr>
            <a:r>
              <a:rPr lang="en-US"/>
              <a:t> Train a ResNet-18 image classifier.</a:t>
            </a:r>
            <a:endParaRPr lang="en-US" dirty="0">
              <a:ea typeface="Calibri"/>
              <a:cs typeface="Calibri"/>
            </a:endParaRPr>
          </a:p>
          <a:p>
            <a:pPr>
              <a:lnSpc>
                <a:spcPct val="150000"/>
              </a:lnSpc>
              <a:buFont typeface=""/>
              <a:buChar char="•"/>
            </a:pPr>
            <a:r>
              <a:rPr lang="en-US"/>
              <a:t> Generate explanations using Grad-CAM.</a:t>
            </a:r>
            <a:endParaRPr lang="en-US" dirty="0">
              <a:ea typeface="Calibri"/>
              <a:cs typeface="Calibri"/>
            </a:endParaRPr>
          </a:p>
          <a:p>
            <a:pPr>
              <a:lnSpc>
                <a:spcPct val="150000"/>
              </a:lnSpc>
              <a:buFont typeface=""/>
              <a:buChar char="•"/>
            </a:pPr>
            <a:r>
              <a:rPr lang="en-US"/>
              <a:t> Generate explanations using LIME.</a:t>
            </a:r>
            <a:endParaRPr lang="en-US" dirty="0">
              <a:ea typeface="Calibri"/>
              <a:cs typeface="Calibri"/>
            </a:endParaRPr>
          </a:p>
          <a:p>
            <a:pPr>
              <a:lnSpc>
                <a:spcPct val="150000"/>
              </a:lnSpc>
              <a:buFont typeface=""/>
              <a:buChar char="•"/>
            </a:pPr>
            <a:r>
              <a:rPr lang="en-US"/>
              <a:t> Generate explanations using SHAP.</a:t>
            </a:r>
            <a:endParaRPr lang="en-US" dirty="0">
              <a:ea typeface="Calibri"/>
              <a:cs typeface="Calibri"/>
            </a:endParaRPr>
          </a:p>
          <a:p>
            <a:pPr>
              <a:lnSpc>
                <a:spcPct val="150000"/>
              </a:lnSpc>
              <a:buFont typeface=""/>
              <a:buChar char="•"/>
            </a:pPr>
            <a:r>
              <a:rPr lang="en-US"/>
              <a:t> Evaluate explanation quality using multiple metrics.</a:t>
            </a:r>
            <a:endParaRPr lang="en-US" dirty="0">
              <a:ea typeface="Calibri"/>
              <a:cs typeface="Calibri"/>
            </a:endParaRPr>
          </a:p>
          <a:p>
            <a:pPr>
              <a:lnSpc>
                <a:spcPct val="150000"/>
              </a:lnSpc>
              <a:buFont typeface=""/>
              <a:buChar char="•"/>
            </a:pPr>
            <a:r>
              <a:rPr lang="en-US" dirty="0"/>
              <a:t> Identify strengths and limitations of each method.</a:t>
            </a:r>
            <a:endParaRPr lang="en-US" dirty="0">
              <a:ea typeface="Calibri"/>
              <a:cs typeface="Calibri"/>
            </a:endParaRPr>
          </a:p>
          <a:p>
            <a:pPr>
              <a:lnSpc>
                <a:spcPct val="150000"/>
              </a:lnSpc>
            </a:pPr>
            <a:r>
              <a:rPr lang="en-US" b="1"/>
              <a:t>Simple objective flow diagram</a:t>
            </a:r>
            <a:endParaRPr lang="en-US" b="1" dirty="0">
              <a:ea typeface="Calibri"/>
              <a:cs typeface="Calibri"/>
            </a:endParaRPr>
          </a:p>
          <a:p>
            <a:pPr>
              <a:lnSpc>
                <a:spcPct val="150000"/>
              </a:lnSpc>
            </a:pPr>
            <a:r>
              <a:rPr lang="en-US"/>
              <a:t>Objectives → Training → Explanation → Evaluation</a:t>
            </a:r>
            <a:endParaRPr lang="en-US" dirty="0">
              <a:ea typeface="Calibri"/>
              <a:cs typeface="Calibri"/>
            </a:endParaRPr>
          </a:p>
          <a:p>
            <a:pPr algn="ctr">
              <a:lnSpc>
                <a:spcPct val="150000"/>
              </a:lnSpc>
            </a:pPr>
            <a:endParaRPr lang="en-US" dirty="0">
              <a:ea typeface="Calibri"/>
              <a:cs typeface="Calibri"/>
            </a:endParaRPr>
          </a:p>
        </p:txBody>
      </p:sp>
    </p:spTree>
    <p:extLst>
      <p:ext uri="{BB962C8B-B14F-4D97-AF65-F5344CB8AC3E}">
        <p14:creationId xmlns:p14="http://schemas.microsoft.com/office/powerpoint/2010/main" val="20719768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BECF0"/>
        </a:solidFill>
        <a:effectLst/>
      </p:bgPr>
    </p:bg>
    <p:spTree>
      <p:nvGrpSpPr>
        <p:cNvPr id="1" name="">
          <a:extLst>
            <a:ext uri="{FF2B5EF4-FFF2-40B4-BE49-F238E27FC236}">
              <a16:creationId xmlns:a16="http://schemas.microsoft.com/office/drawing/2014/main" id="{FAF4DCEB-0BD0-D168-FE00-0E6EFAC48E49}"/>
            </a:ext>
          </a:extLst>
        </p:cNvPr>
        <p:cNvGrpSpPr/>
        <p:nvPr/>
      </p:nvGrpSpPr>
      <p:grpSpPr>
        <a:xfrm>
          <a:off x="0" y="0"/>
          <a:ext cx="0" cy="0"/>
          <a:chOff x="0" y="0"/>
          <a:chExt cx="0" cy="0"/>
        </a:xfrm>
      </p:grpSpPr>
      <p:grpSp>
        <p:nvGrpSpPr>
          <p:cNvPr id="59" name="Group 58">
            <a:extLst>
              <a:ext uri="{FF2B5EF4-FFF2-40B4-BE49-F238E27FC236}">
                <a16:creationId xmlns:a16="http://schemas.microsoft.com/office/drawing/2014/main" id="{1F9F0D84-F9E8-D09B-1B0A-701B9C0E9C95}"/>
              </a:ext>
            </a:extLst>
          </p:cNvPr>
          <p:cNvGrpSpPr/>
          <p:nvPr/>
        </p:nvGrpSpPr>
        <p:grpSpPr>
          <a:xfrm>
            <a:off x="618906" y="243821"/>
            <a:ext cx="10334494" cy="6446716"/>
            <a:chOff x="1162348" y="1677368"/>
            <a:chExt cx="3266778" cy="3266778"/>
          </a:xfrm>
        </p:grpSpPr>
        <p:sp>
          <p:nvSpPr>
            <p:cNvPr id="60" name="Oval 34">
              <a:extLst>
                <a:ext uri="{FF2B5EF4-FFF2-40B4-BE49-F238E27FC236}">
                  <a16:creationId xmlns:a16="http://schemas.microsoft.com/office/drawing/2014/main" id="{04974141-CB34-4776-BCFE-C2F12DEC0ED1}"/>
                </a:ext>
              </a:extLst>
            </p:cNvPr>
            <p:cNvSpPr/>
            <p:nvPr/>
          </p:nvSpPr>
          <p:spPr>
            <a:xfrm>
              <a:off x="1162348" y="1677368"/>
              <a:ext cx="3266778" cy="3266778"/>
            </a:xfrm>
            <a:prstGeom prst="roundRect">
              <a:avLst/>
            </a:prstGeom>
            <a:solidFill>
              <a:srgbClr val="EBECF0"/>
            </a:solidFill>
            <a:ln>
              <a:noFill/>
            </a:ln>
            <a:effectLst>
              <a:outerShdw blurRad="177800" dist="114300" dir="2700000" algn="tl" rotWithShape="0">
                <a:srgbClr val="ACB0C0">
                  <a:alpha val="4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1" name="Oval 35">
              <a:extLst>
                <a:ext uri="{FF2B5EF4-FFF2-40B4-BE49-F238E27FC236}">
                  <a16:creationId xmlns:a16="http://schemas.microsoft.com/office/drawing/2014/main" id="{937AA68B-C756-3CAE-C67B-70BC5F714D30}"/>
                </a:ext>
              </a:extLst>
            </p:cNvPr>
            <p:cNvSpPr/>
            <p:nvPr/>
          </p:nvSpPr>
          <p:spPr>
            <a:xfrm>
              <a:off x="1162348" y="1677368"/>
              <a:ext cx="3266778" cy="3266778"/>
            </a:xfrm>
            <a:prstGeom prst="roundRect">
              <a:avLst>
                <a:gd name="adj" fmla="val 6541"/>
              </a:avLst>
            </a:prstGeom>
            <a:solidFill>
              <a:srgbClr val="EBECF0"/>
            </a:solidFill>
            <a:ln>
              <a:noFill/>
            </a:ln>
            <a:effectLst>
              <a:outerShdw blurRad="114300" dist="114300" dir="13500000" algn="br" rotWithShape="0">
                <a:srgbClr val="FFFFFF">
                  <a:alpha val="5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48" name="Freeform: Shape 47">
            <a:extLst>
              <a:ext uri="{FF2B5EF4-FFF2-40B4-BE49-F238E27FC236}">
                <a16:creationId xmlns:a16="http://schemas.microsoft.com/office/drawing/2014/main" id="{5663F8E0-7865-047E-996C-70E44738DBF3}"/>
              </a:ext>
            </a:extLst>
          </p:cNvPr>
          <p:cNvSpPr/>
          <p:nvPr/>
        </p:nvSpPr>
        <p:spPr>
          <a:xfrm>
            <a:off x="11398434" y="1"/>
            <a:ext cx="793566" cy="993711"/>
          </a:xfrm>
          <a:custGeom>
            <a:avLst/>
            <a:gdLst>
              <a:gd name="connsiteX0" fmla="*/ 74242 w 793566"/>
              <a:gd name="connsiteY0" fmla="*/ 0 h 993711"/>
              <a:gd name="connsiteX1" fmla="*/ 793566 w 793566"/>
              <a:gd name="connsiteY1" fmla="*/ 0 h 993711"/>
              <a:gd name="connsiteX2" fmla="*/ 793566 w 793566"/>
              <a:gd name="connsiteY2" fmla="*/ 983129 h 993711"/>
              <a:gd name="connsiteX3" fmla="*/ 688594 w 793566"/>
              <a:gd name="connsiteY3" fmla="*/ 993711 h 993711"/>
              <a:gd name="connsiteX4" fmla="*/ 0 w 793566"/>
              <a:gd name="connsiteY4" fmla="*/ 305117 h 993711"/>
              <a:gd name="connsiteX5" fmla="*/ 54113 w 793566"/>
              <a:gd name="connsiteY5" fmla="*/ 37085 h 993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93566" h="993711">
                <a:moveTo>
                  <a:pt x="74242" y="0"/>
                </a:moveTo>
                <a:lnTo>
                  <a:pt x="793566" y="0"/>
                </a:lnTo>
                <a:lnTo>
                  <a:pt x="793566" y="983129"/>
                </a:lnTo>
                <a:lnTo>
                  <a:pt x="688594" y="993711"/>
                </a:lnTo>
                <a:cubicBezTo>
                  <a:pt x="308294" y="993711"/>
                  <a:pt x="0" y="685417"/>
                  <a:pt x="0" y="305117"/>
                </a:cubicBezTo>
                <a:cubicBezTo>
                  <a:pt x="0" y="210042"/>
                  <a:pt x="19268" y="119467"/>
                  <a:pt x="54113" y="37085"/>
                </a:cubicBezTo>
                <a:close/>
              </a:path>
            </a:pathLst>
          </a:custGeom>
          <a:gradFill>
            <a:gsLst>
              <a:gs pos="0">
                <a:srgbClr val="00CCFF"/>
              </a:gs>
              <a:gs pos="100000">
                <a:srgbClr val="0000FF"/>
              </a:gs>
            </a:gsLst>
            <a:lin ang="0" scaled="1"/>
          </a:gradFill>
          <a:ln w="38100">
            <a:gradFill flip="none" rotWithShape="1">
              <a:gsLst>
                <a:gs pos="0">
                  <a:srgbClr val="00CCFF"/>
                </a:gs>
                <a:gs pos="100000">
                  <a:srgbClr val="0000FF"/>
                </a:gs>
              </a:gsLst>
              <a:lin ang="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9" name="Oval 48">
            <a:extLst>
              <a:ext uri="{FF2B5EF4-FFF2-40B4-BE49-F238E27FC236}">
                <a16:creationId xmlns:a16="http://schemas.microsoft.com/office/drawing/2014/main" id="{12A1B5B1-B1B4-B3DF-6C1D-E04DDBDC0B77}"/>
              </a:ext>
            </a:extLst>
          </p:cNvPr>
          <p:cNvSpPr/>
          <p:nvPr/>
        </p:nvSpPr>
        <p:spPr>
          <a:xfrm>
            <a:off x="10227818" y="681912"/>
            <a:ext cx="1377188" cy="1377188"/>
          </a:xfrm>
          <a:prstGeom prst="ellipse">
            <a:avLst/>
          </a:prstGeom>
          <a:gradFill>
            <a:gsLst>
              <a:gs pos="0">
                <a:srgbClr val="00CCFF"/>
              </a:gs>
              <a:gs pos="100000">
                <a:srgbClr val="0000FF"/>
              </a:gs>
            </a:gsLst>
            <a:lin ang="0" scaled="1"/>
          </a:gradFill>
          <a:ln w="38100">
            <a:gradFill flip="none" rotWithShape="1">
              <a:gsLst>
                <a:gs pos="0">
                  <a:srgbClr val="00CCFF"/>
                </a:gs>
                <a:gs pos="100000">
                  <a:srgbClr val="0000FF"/>
                </a:gs>
              </a:gsLst>
              <a:lin ang="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0" name="Freeform: Shape 49">
            <a:extLst>
              <a:ext uri="{FF2B5EF4-FFF2-40B4-BE49-F238E27FC236}">
                <a16:creationId xmlns:a16="http://schemas.microsoft.com/office/drawing/2014/main" id="{06CE67F4-0FF8-FD7C-5733-5FB87962871C}"/>
              </a:ext>
            </a:extLst>
          </p:cNvPr>
          <p:cNvSpPr/>
          <p:nvPr/>
        </p:nvSpPr>
        <p:spPr>
          <a:xfrm>
            <a:off x="11718200" y="1112145"/>
            <a:ext cx="473800" cy="1302014"/>
          </a:xfrm>
          <a:custGeom>
            <a:avLst/>
            <a:gdLst>
              <a:gd name="connsiteX0" fmla="*/ 473800 w 473800"/>
              <a:gd name="connsiteY0" fmla="*/ 0 h 1302014"/>
              <a:gd name="connsiteX1" fmla="*/ 473800 w 473800"/>
              <a:gd name="connsiteY1" fmla="*/ 1302014 h 1302014"/>
              <a:gd name="connsiteX2" fmla="*/ 420562 w 473800"/>
              <a:gd name="connsiteY2" fmla="*/ 1285488 h 1302014"/>
              <a:gd name="connsiteX3" fmla="*/ 0 w 473800"/>
              <a:gd name="connsiteY3" fmla="*/ 651007 h 1302014"/>
              <a:gd name="connsiteX4" fmla="*/ 420562 w 473800"/>
              <a:gd name="connsiteY4" fmla="*/ 16526 h 13020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3800" h="1302014">
                <a:moveTo>
                  <a:pt x="473800" y="0"/>
                </a:moveTo>
                <a:lnTo>
                  <a:pt x="473800" y="1302014"/>
                </a:lnTo>
                <a:lnTo>
                  <a:pt x="420562" y="1285488"/>
                </a:lnTo>
                <a:cubicBezTo>
                  <a:pt x="173415" y="1180954"/>
                  <a:pt x="0" y="936232"/>
                  <a:pt x="0" y="651007"/>
                </a:cubicBezTo>
                <a:cubicBezTo>
                  <a:pt x="0" y="365782"/>
                  <a:pt x="173415" y="121061"/>
                  <a:pt x="420562" y="16526"/>
                </a:cubicBezTo>
                <a:close/>
              </a:path>
            </a:pathLst>
          </a:custGeom>
          <a:gradFill>
            <a:gsLst>
              <a:gs pos="0">
                <a:srgbClr val="00CCFF"/>
              </a:gs>
              <a:gs pos="100000">
                <a:srgbClr val="0000FF"/>
              </a:gs>
            </a:gsLst>
            <a:lin ang="0" scaled="1"/>
          </a:gradFill>
          <a:ln w="38100">
            <a:gradFill flip="none" rotWithShape="1">
              <a:gsLst>
                <a:gs pos="0">
                  <a:srgbClr val="00CCFF"/>
                </a:gs>
                <a:gs pos="100000">
                  <a:srgbClr val="0000FF"/>
                </a:gs>
              </a:gsLst>
              <a:lin ang="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nvGrpSpPr>
          <p:cNvPr id="29" name="Group 28">
            <a:extLst>
              <a:ext uri="{FF2B5EF4-FFF2-40B4-BE49-F238E27FC236}">
                <a16:creationId xmlns:a16="http://schemas.microsoft.com/office/drawing/2014/main" id="{940A85EC-9480-252F-C324-54EE48D13A4D}"/>
              </a:ext>
            </a:extLst>
          </p:cNvPr>
          <p:cNvGrpSpPr/>
          <p:nvPr/>
        </p:nvGrpSpPr>
        <p:grpSpPr>
          <a:xfrm rot="5400000">
            <a:off x="11487150" y="6153150"/>
            <a:ext cx="704850" cy="704850"/>
            <a:chOff x="10538072" y="528484"/>
            <a:chExt cx="1029600" cy="1029600"/>
          </a:xfrm>
          <a:gradFill flip="none" rotWithShape="1">
            <a:gsLst>
              <a:gs pos="0">
                <a:srgbClr val="00CCFF"/>
              </a:gs>
              <a:gs pos="100000">
                <a:srgbClr val="0000FF"/>
              </a:gs>
            </a:gsLst>
            <a:lin ang="2700000" scaled="1"/>
            <a:tileRect/>
          </a:gradFill>
        </p:grpSpPr>
        <p:sp>
          <p:nvSpPr>
            <p:cNvPr id="30" name="Oval 22">
              <a:extLst>
                <a:ext uri="{FF2B5EF4-FFF2-40B4-BE49-F238E27FC236}">
                  <a16:creationId xmlns:a16="http://schemas.microsoft.com/office/drawing/2014/main" id="{7E3054BE-4C60-F726-F7D4-FEC0C2EC5FC2}"/>
                </a:ext>
              </a:extLst>
            </p:cNvPr>
            <p:cNvSpPr/>
            <p:nvPr/>
          </p:nvSpPr>
          <p:spPr>
            <a:xfrm>
              <a:off x="10538072" y="528484"/>
              <a:ext cx="1029600" cy="1029600"/>
            </a:xfrm>
            <a:prstGeom prst="frame">
              <a:avLst/>
            </a:prstGeom>
            <a:grpFill/>
            <a:ln>
              <a:noFill/>
            </a:ln>
            <a:effectLst>
              <a:outerShdw blurRad="177800" dist="114300" dir="2700000" algn="tl" rotWithShape="0">
                <a:srgbClr val="ACB0C0">
                  <a:alpha val="4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1" name="Oval 23">
              <a:extLst>
                <a:ext uri="{FF2B5EF4-FFF2-40B4-BE49-F238E27FC236}">
                  <a16:creationId xmlns:a16="http://schemas.microsoft.com/office/drawing/2014/main" id="{A8B5981A-5A06-86E7-D6C7-C3D20FC806AA}"/>
                </a:ext>
              </a:extLst>
            </p:cNvPr>
            <p:cNvSpPr/>
            <p:nvPr/>
          </p:nvSpPr>
          <p:spPr>
            <a:xfrm>
              <a:off x="10538337" y="528749"/>
              <a:ext cx="1029071" cy="1029071"/>
            </a:xfrm>
            <a:prstGeom prst="frame">
              <a:avLst/>
            </a:prstGeom>
            <a:grpFill/>
            <a:ln>
              <a:noFill/>
            </a:ln>
            <a:effectLst>
              <a:outerShdw blurRad="114300" dist="114300" dir="13500000" algn="br" rotWithShape="0">
                <a:srgbClr val="FFFFFF">
                  <a:alpha val="5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32" name="TextBox 31">
            <a:extLst>
              <a:ext uri="{FF2B5EF4-FFF2-40B4-BE49-F238E27FC236}">
                <a16:creationId xmlns:a16="http://schemas.microsoft.com/office/drawing/2014/main" id="{F5F2623F-7FE2-4035-D652-BF44EB5B2E12}"/>
              </a:ext>
            </a:extLst>
          </p:cNvPr>
          <p:cNvSpPr txBox="1"/>
          <p:nvPr/>
        </p:nvSpPr>
        <p:spPr>
          <a:xfrm>
            <a:off x="11683909" y="6361487"/>
            <a:ext cx="290286" cy="369332"/>
          </a:xfrm>
          <a:prstGeom prst="rect">
            <a:avLst/>
          </a:prstGeom>
          <a:noFill/>
        </p:spPr>
        <p:txBody>
          <a:bodyPr wrap="square" lIns="91440" tIns="45720" rIns="91440" bIns="45720" rtlCol="0" anchor="t">
            <a:spAutoFit/>
          </a:bodyPr>
          <a:lstStyle/>
          <a:p>
            <a:r>
              <a:rPr lang="en-IN" b="1">
                <a:solidFill>
                  <a:schemeClr val="tx1">
                    <a:lumMod val="65000"/>
                    <a:lumOff val="35000"/>
                  </a:schemeClr>
                </a:solidFill>
                <a:latin typeface="Vibur" panose="03000603000000000000" pitchFamily="66" charset="0"/>
              </a:rPr>
              <a:t>5</a:t>
            </a:r>
            <a:endParaRPr lang="en-IN" b="1" dirty="0">
              <a:solidFill>
                <a:schemeClr val="tx1">
                  <a:lumMod val="65000"/>
                  <a:lumOff val="35000"/>
                </a:schemeClr>
              </a:solidFill>
              <a:latin typeface="Vibur" panose="03000603000000000000" pitchFamily="66" charset="0"/>
            </a:endParaRPr>
          </a:p>
        </p:txBody>
      </p:sp>
      <p:sp>
        <p:nvSpPr>
          <p:cNvPr id="3" name="TextBox 2">
            <a:extLst>
              <a:ext uri="{FF2B5EF4-FFF2-40B4-BE49-F238E27FC236}">
                <a16:creationId xmlns:a16="http://schemas.microsoft.com/office/drawing/2014/main" id="{5F3DBC6E-88D3-19B0-F814-859640BF8001}"/>
              </a:ext>
            </a:extLst>
          </p:cNvPr>
          <p:cNvSpPr txBox="1"/>
          <p:nvPr/>
        </p:nvSpPr>
        <p:spPr>
          <a:xfrm>
            <a:off x="1116824" y="3897251"/>
            <a:ext cx="11633" cy="5118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pic>
        <p:nvPicPr>
          <p:cNvPr id="7" name="Picture 6" descr="A blue logo with text&#10;&#10;AI-generated content may be incorrect.">
            <a:extLst>
              <a:ext uri="{FF2B5EF4-FFF2-40B4-BE49-F238E27FC236}">
                <a16:creationId xmlns:a16="http://schemas.microsoft.com/office/drawing/2014/main" id="{C0A43626-B0B4-A86F-BFB5-0EABE0BB90A3}"/>
              </a:ext>
            </a:extLst>
          </p:cNvPr>
          <p:cNvPicPr>
            <a:picLocks noChangeAspect="1"/>
          </p:cNvPicPr>
          <p:nvPr/>
        </p:nvPicPr>
        <p:blipFill>
          <a:blip r:embed="rId2"/>
          <a:stretch>
            <a:fillRect/>
          </a:stretch>
        </p:blipFill>
        <p:spPr>
          <a:xfrm>
            <a:off x="10228173" y="5806469"/>
            <a:ext cx="356142" cy="689580"/>
          </a:xfrm>
          <a:prstGeom prst="rect">
            <a:avLst/>
          </a:prstGeom>
        </p:spPr>
      </p:pic>
      <p:sp>
        <p:nvSpPr>
          <p:cNvPr id="4" name="TextBox 3">
            <a:extLst>
              <a:ext uri="{FF2B5EF4-FFF2-40B4-BE49-F238E27FC236}">
                <a16:creationId xmlns:a16="http://schemas.microsoft.com/office/drawing/2014/main" id="{49899CA2-079E-42D0-DB8D-8BEDDE839F06}"/>
              </a:ext>
            </a:extLst>
          </p:cNvPr>
          <p:cNvSpPr txBox="1"/>
          <p:nvPr/>
        </p:nvSpPr>
        <p:spPr>
          <a:xfrm>
            <a:off x="3941492" y="680113"/>
            <a:ext cx="3024281"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ea typeface="Calibri"/>
                <a:cs typeface="Calibri"/>
              </a:rPr>
              <a:t> Literature Review</a:t>
            </a:r>
          </a:p>
        </p:txBody>
      </p:sp>
      <p:sp>
        <p:nvSpPr>
          <p:cNvPr id="5" name="TextBox 4">
            <a:extLst>
              <a:ext uri="{FF2B5EF4-FFF2-40B4-BE49-F238E27FC236}">
                <a16:creationId xmlns:a16="http://schemas.microsoft.com/office/drawing/2014/main" id="{84A1568D-4201-45D9-C503-1FE64CA7B562}"/>
              </a:ext>
            </a:extLst>
          </p:cNvPr>
          <p:cNvSpPr txBox="1"/>
          <p:nvPr/>
        </p:nvSpPr>
        <p:spPr>
          <a:xfrm>
            <a:off x="1126901" y="1405944"/>
            <a:ext cx="7979534" cy="545085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50000"/>
              </a:lnSpc>
            </a:pPr>
            <a:r>
              <a:rPr lang="en-US" b="1"/>
              <a:t>Evolution of CNN Architectures</a:t>
            </a:r>
            <a:endParaRPr lang="en-US" b="1">
              <a:ea typeface="Calibri"/>
              <a:cs typeface="Calibri"/>
            </a:endParaRPr>
          </a:p>
          <a:p>
            <a:pPr>
              <a:lnSpc>
                <a:spcPct val="150000"/>
              </a:lnSpc>
              <a:buFont typeface=""/>
              <a:buChar char="•"/>
            </a:pPr>
            <a:r>
              <a:rPr lang="en-US" dirty="0"/>
              <a:t> </a:t>
            </a:r>
            <a:r>
              <a:rPr lang="en-US" dirty="0" err="1"/>
              <a:t>AlexNet</a:t>
            </a:r>
            <a:r>
              <a:rPr lang="en-US" dirty="0"/>
              <a:t> introduced deep CNNs.</a:t>
            </a:r>
            <a:endParaRPr lang="en-US" dirty="0">
              <a:ea typeface="Calibri"/>
              <a:cs typeface="Calibri"/>
            </a:endParaRPr>
          </a:p>
          <a:p>
            <a:pPr>
              <a:lnSpc>
                <a:spcPct val="150000"/>
              </a:lnSpc>
              <a:buFont typeface=""/>
              <a:buChar char="•"/>
            </a:pPr>
            <a:r>
              <a:rPr lang="en-US"/>
              <a:t> VGG improved feature extraction depth.</a:t>
            </a:r>
            <a:endParaRPr lang="en-US" dirty="0">
              <a:ea typeface="Calibri"/>
              <a:cs typeface="Calibri"/>
            </a:endParaRPr>
          </a:p>
          <a:p>
            <a:pPr>
              <a:lnSpc>
                <a:spcPct val="150000"/>
              </a:lnSpc>
              <a:buFont typeface=""/>
              <a:buChar char="•"/>
            </a:pPr>
            <a:r>
              <a:rPr lang="en-US"/>
              <a:t> Inception increased computational efficiency.</a:t>
            </a:r>
            <a:endParaRPr lang="en-US" dirty="0">
              <a:ea typeface="Calibri"/>
              <a:cs typeface="Calibri"/>
            </a:endParaRPr>
          </a:p>
          <a:p>
            <a:pPr>
              <a:lnSpc>
                <a:spcPct val="150000"/>
              </a:lnSpc>
              <a:buFont typeface=""/>
              <a:buChar char="•"/>
            </a:pPr>
            <a:r>
              <a:rPr lang="en-US" dirty="0"/>
              <a:t> </a:t>
            </a:r>
            <a:r>
              <a:rPr lang="en-US" dirty="0" err="1"/>
              <a:t>ResNet</a:t>
            </a:r>
            <a:r>
              <a:rPr lang="en-US" dirty="0"/>
              <a:t> solved vanishing gradient problems using residual learning.</a:t>
            </a:r>
            <a:endParaRPr lang="en-US" dirty="0">
              <a:ea typeface="Calibri"/>
              <a:cs typeface="Calibri"/>
            </a:endParaRPr>
          </a:p>
          <a:p>
            <a:pPr>
              <a:lnSpc>
                <a:spcPct val="150000"/>
              </a:lnSpc>
            </a:pPr>
            <a:r>
              <a:rPr lang="en-US" b="1"/>
              <a:t>Evolution of Explainability</a:t>
            </a:r>
            <a:endParaRPr lang="en-US" b="1">
              <a:ea typeface="Calibri"/>
              <a:cs typeface="Calibri"/>
            </a:endParaRPr>
          </a:p>
          <a:p>
            <a:pPr>
              <a:lnSpc>
                <a:spcPct val="150000"/>
              </a:lnSpc>
              <a:buFont typeface=""/>
              <a:buChar char="•"/>
            </a:pPr>
            <a:r>
              <a:rPr lang="en-US"/>
              <a:t> Saliency Maps</a:t>
            </a:r>
            <a:endParaRPr lang="en-US" dirty="0">
              <a:ea typeface="Calibri"/>
              <a:cs typeface="Calibri"/>
            </a:endParaRPr>
          </a:p>
          <a:p>
            <a:pPr>
              <a:lnSpc>
                <a:spcPct val="150000"/>
              </a:lnSpc>
              <a:buFont typeface=""/>
              <a:buChar char="•"/>
            </a:pPr>
            <a:r>
              <a:rPr lang="en-US"/>
              <a:t> Grad-CAM</a:t>
            </a:r>
            <a:endParaRPr lang="en-US" dirty="0">
              <a:ea typeface="Calibri"/>
              <a:cs typeface="Calibri"/>
            </a:endParaRPr>
          </a:p>
          <a:p>
            <a:pPr>
              <a:lnSpc>
                <a:spcPct val="150000"/>
              </a:lnSpc>
              <a:buFont typeface=""/>
              <a:buChar char="•"/>
            </a:pPr>
            <a:r>
              <a:rPr lang="en-US"/>
              <a:t> LIME</a:t>
            </a:r>
            <a:endParaRPr lang="en-US" dirty="0">
              <a:ea typeface="Calibri"/>
              <a:cs typeface="Calibri"/>
            </a:endParaRPr>
          </a:p>
          <a:p>
            <a:pPr>
              <a:lnSpc>
                <a:spcPct val="150000"/>
              </a:lnSpc>
              <a:buFont typeface=""/>
              <a:buChar char="•"/>
            </a:pPr>
            <a:r>
              <a:rPr lang="en-US"/>
              <a:t> SHAP</a:t>
            </a:r>
            <a:endParaRPr lang="en-US" dirty="0">
              <a:ea typeface="Calibri"/>
              <a:cs typeface="Calibri"/>
            </a:endParaRPr>
          </a:p>
          <a:p>
            <a:pPr>
              <a:lnSpc>
                <a:spcPct val="150000"/>
              </a:lnSpc>
              <a:buFont typeface=""/>
              <a:buChar char="•"/>
            </a:pPr>
            <a:r>
              <a:rPr lang="en-US"/>
              <a:t> Integrated Gradients</a:t>
            </a:r>
            <a:endParaRPr lang="en-US" dirty="0">
              <a:ea typeface="Calibri"/>
              <a:cs typeface="Calibri"/>
            </a:endParaRPr>
          </a:p>
          <a:p>
            <a:pPr>
              <a:lnSpc>
                <a:spcPct val="150000"/>
              </a:lnSpc>
            </a:pPr>
            <a:endParaRPr lang="en-US" b="1" dirty="0">
              <a:ea typeface="Calibri"/>
              <a:cs typeface="Calibri"/>
            </a:endParaRPr>
          </a:p>
          <a:p>
            <a:pPr algn="ctr">
              <a:lnSpc>
                <a:spcPct val="150000"/>
              </a:lnSpc>
            </a:pPr>
            <a:endParaRPr lang="en-US" dirty="0">
              <a:ea typeface="Calibri"/>
              <a:cs typeface="Calibri"/>
            </a:endParaRPr>
          </a:p>
        </p:txBody>
      </p:sp>
    </p:spTree>
    <p:extLst>
      <p:ext uri="{BB962C8B-B14F-4D97-AF65-F5344CB8AC3E}">
        <p14:creationId xmlns:p14="http://schemas.microsoft.com/office/powerpoint/2010/main" val="12896012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BECF0"/>
        </a:solidFill>
        <a:effectLst/>
      </p:bgPr>
    </p:bg>
    <p:spTree>
      <p:nvGrpSpPr>
        <p:cNvPr id="1" name="">
          <a:extLst>
            <a:ext uri="{FF2B5EF4-FFF2-40B4-BE49-F238E27FC236}">
              <a16:creationId xmlns:a16="http://schemas.microsoft.com/office/drawing/2014/main" id="{B6805FE8-7B8A-495D-E6F9-424E3A6CD510}"/>
            </a:ext>
          </a:extLst>
        </p:cNvPr>
        <p:cNvGrpSpPr/>
        <p:nvPr/>
      </p:nvGrpSpPr>
      <p:grpSpPr>
        <a:xfrm>
          <a:off x="0" y="0"/>
          <a:ext cx="0" cy="0"/>
          <a:chOff x="0" y="0"/>
          <a:chExt cx="0" cy="0"/>
        </a:xfrm>
      </p:grpSpPr>
      <p:grpSp>
        <p:nvGrpSpPr>
          <p:cNvPr id="59" name="Group 58">
            <a:extLst>
              <a:ext uri="{FF2B5EF4-FFF2-40B4-BE49-F238E27FC236}">
                <a16:creationId xmlns:a16="http://schemas.microsoft.com/office/drawing/2014/main" id="{FDCE09E8-6BC4-4B9B-33EF-F27B6BFA2494}"/>
              </a:ext>
            </a:extLst>
          </p:cNvPr>
          <p:cNvGrpSpPr/>
          <p:nvPr/>
        </p:nvGrpSpPr>
        <p:grpSpPr>
          <a:xfrm>
            <a:off x="618906" y="243821"/>
            <a:ext cx="10334494" cy="6446716"/>
            <a:chOff x="1162348" y="1677368"/>
            <a:chExt cx="3266778" cy="3266778"/>
          </a:xfrm>
        </p:grpSpPr>
        <p:sp>
          <p:nvSpPr>
            <p:cNvPr id="60" name="Oval 34">
              <a:extLst>
                <a:ext uri="{FF2B5EF4-FFF2-40B4-BE49-F238E27FC236}">
                  <a16:creationId xmlns:a16="http://schemas.microsoft.com/office/drawing/2014/main" id="{69E5C45F-6B15-117A-9FAE-50F71A7AF1AB}"/>
                </a:ext>
              </a:extLst>
            </p:cNvPr>
            <p:cNvSpPr/>
            <p:nvPr/>
          </p:nvSpPr>
          <p:spPr>
            <a:xfrm>
              <a:off x="1162348" y="1677368"/>
              <a:ext cx="3266778" cy="3266778"/>
            </a:xfrm>
            <a:prstGeom prst="roundRect">
              <a:avLst/>
            </a:prstGeom>
            <a:solidFill>
              <a:srgbClr val="EBECF0"/>
            </a:solidFill>
            <a:ln>
              <a:noFill/>
            </a:ln>
            <a:effectLst>
              <a:outerShdw blurRad="177800" dist="114300" dir="2700000" algn="tl" rotWithShape="0">
                <a:srgbClr val="ACB0C0">
                  <a:alpha val="4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1" name="Oval 35">
              <a:extLst>
                <a:ext uri="{FF2B5EF4-FFF2-40B4-BE49-F238E27FC236}">
                  <a16:creationId xmlns:a16="http://schemas.microsoft.com/office/drawing/2014/main" id="{538D42ED-C8C6-5CC3-D04E-B4307E22ED1C}"/>
                </a:ext>
              </a:extLst>
            </p:cNvPr>
            <p:cNvSpPr/>
            <p:nvPr/>
          </p:nvSpPr>
          <p:spPr>
            <a:xfrm>
              <a:off x="1162348" y="1677368"/>
              <a:ext cx="3266778" cy="3266778"/>
            </a:xfrm>
            <a:prstGeom prst="roundRect">
              <a:avLst>
                <a:gd name="adj" fmla="val 6541"/>
              </a:avLst>
            </a:prstGeom>
            <a:solidFill>
              <a:srgbClr val="EBECF0"/>
            </a:solidFill>
            <a:ln>
              <a:noFill/>
            </a:ln>
            <a:effectLst>
              <a:outerShdw blurRad="114300" dist="114300" dir="13500000" algn="br" rotWithShape="0">
                <a:srgbClr val="FFFFFF">
                  <a:alpha val="5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48" name="Freeform: Shape 47">
            <a:extLst>
              <a:ext uri="{FF2B5EF4-FFF2-40B4-BE49-F238E27FC236}">
                <a16:creationId xmlns:a16="http://schemas.microsoft.com/office/drawing/2014/main" id="{97930B0D-3E15-14D9-EA55-B899FB0A0676}"/>
              </a:ext>
            </a:extLst>
          </p:cNvPr>
          <p:cNvSpPr/>
          <p:nvPr/>
        </p:nvSpPr>
        <p:spPr>
          <a:xfrm>
            <a:off x="11398434" y="1"/>
            <a:ext cx="793566" cy="993711"/>
          </a:xfrm>
          <a:custGeom>
            <a:avLst/>
            <a:gdLst>
              <a:gd name="connsiteX0" fmla="*/ 74242 w 793566"/>
              <a:gd name="connsiteY0" fmla="*/ 0 h 993711"/>
              <a:gd name="connsiteX1" fmla="*/ 793566 w 793566"/>
              <a:gd name="connsiteY1" fmla="*/ 0 h 993711"/>
              <a:gd name="connsiteX2" fmla="*/ 793566 w 793566"/>
              <a:gd name="connsiteY2" fmla="*/ 983129 h 993711"/>
              <a:gd name="connsiteX3" fmla="*/ 688594 w 793566"/>
              <a:gd name="connsiteY3" fmla="*/ 993711 h 993711"/>
              <a:gd name="connsiteX4" fmla="*/ 0 w 793566"/>
              <a:gd name="connsiteY4" fmla="*/ 305117 h 993711"/>
              <a:gd name="connsiteX5" fmla="*/ 54113 w 793566"/>
              <a:gd name="connsiteY5" fmla="*/ 37085 h 993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93566" h="993711">
                <a:moveTo>
                  <a:pt x="74242" y="0"/>
                </a:moveTo>
                <a:lnTo>
                  <a:pt x="793566" y="0"/>
                </a:lnTo>
                <a:lnTo>
                  <a:pt x="793566" y="983129"/>
                </a:lnTo>
                <a:lnTo>
                  <a:pt x="688594" y="993711"/>
                </a:lnTo>
                <a:cubicBezTo>
                  <a:pt x="308294" y="993711"/>
                  <a:pt x="0" y="685417"/>
                  <a:pt x="0" y="305117"/>
                </a:cubicBezTo>
                <a:cubicBezTo>
                  <a:pt x="0" y="210042"/>
                  <a:pt x="19268" y="119467"/>
                  <a:pt x="54113" y="37085"/>
                </a:cubicBezTo>
                <a:close/>
              </a:path>
            </a:pathLst>
          </a:custGeom>
          <a:gradFill>
            <a:gsLst>
              <a:gs pos="0">
                <a:srgbClr val="00CCFF"/>
              </a:gs>
              <a:gs pos="100000">
                <a:srgbClr val="0000FF"/>
              </a:gs>
            </a:gsLst>
            <a:lin ang="0" scaled="1"/>
          </a:gradFill>
          <a:ln w="38100">
            <a:gradFill flip="none" rotWithShape="1">
              <a:gsLst>
                <a:gs pos="0">
                  <a:srgbClr val="00CCFF"/>
                </a:gs>
                <a:gs pos="100000">
                  <a:srgbClr val="0000FF"/>
                </a:gs>
              </a:gsLst>
              <a:lin ang="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9" name="Oval 48">
            <a:extLst>
              <a:ext uri="{FF2B5EF4-FFF2-40B4-BE49-F238E27FC236}">
                <a16:creationId xmlns:a16="http://schemas.microsoft.com/office/drawing/2014/main" id="{2FCF72DB-3546-676F-0906-C4ECC1892B6C}"/>
              </a:ext>
            </a:extLst>
          </p:cNvPr>
          <p:cNvSpPr/>
          <p:nvPr/>
        </p:nvSpPr>
        <p:spPr>
          <a:xfrm>
            <a:off x="10227818" y="681912"/>
            <a:ext cx="1377188" cy="1377188"/>
          </a:xfrm>
          <a:prstGeom prst="ellipse">
            <a:avLst/>
          </a:prstGeom>
          <a:gradFill>
            <a:gsLst>
              <a:gs pos="0">
                <a:srgbClr val="00CCFF"/>
              </a:gs>
              <a:gs pos="100000">
                <a:srgbClr val="0000FF"/>
              </a:gs>
            </a:gsLst>
            <a:lin ang="0" scaled="1"/>
          </a:gradFill>
          <a:ln w="38100">
            <a:gradFill flip="none" rotWithShape="1">
              <a:gsLst>
                <a:gs pos="0">
                  <a:srgbClr val="00CCFF"/>
                </a:gs>
                <a:gs pos="100000">
                  <a:srgbClr val="0000FF"/>
                </a:gs>
              </a:gsLst>
              <a:lin ang="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0" name="Freeform: Shape 49">
            <a:extLst>
              <a:ext uri="{FF2B5EF4-FFF2-40B4-BE49-F238E27FC236}">
                <a16:creationId xmlns:a16="http://schemas.microsoft.com/office/drawing/2014/main" id="{B1BAA24A-E959-F416-416E-BCA264504044}"/>
              </a:ext>
            </a:extLst>
          </p:cNvPr>
          <p:cNvSpPr/>
          <p:nvPr/>
        </p:nvSpPr>
        <p:spPr>
          <a:xfrm>
            <a:off x="11718200" y="1112145"/>
            <a:ext cx="473800" cy="1302014"/>
          </a:xfrm>
          <a:custGeom>
            <a:avLst/>
            <a:gdLst>
              <a:gd name="connsiteX0" fmla="*/ 473800 w 473800"/>
              <a:gd name="connsiteY0" fmla="*/ 0 h 1302014"/>
              <a:gd name="connsiteX1" fmla="*/ 473800 w 473800"/>
              <a:gd name="connsiteY1" fmla="*/ 1302014 h 1302014"/>
              <a:gd name="connsiteX2" fmla="*/ 420562 w 473800"/>
              <a:gd name="connsiteY2" fmla="*/ 1285488 h 1302014"/>
              <a:gd name="connsiteX3" fmla="*/ 0 w 473800"/>
              <a:gd name="connsiteY3" fmla="*/ 651007 h 1302014"/>
              <a:gd name="connsiteX4" fmla="*/ 420562 w 473800"/>
              <a:gd name="connsiteY4" fmla="*/ 16526 h 13020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3800" h="1302014">
                <a:moveTo>
                  <a:pt x="473800" y="0"/>
                </a:moveTo>
                <a:lnTo>
                  <a:pt x="473800" y="1302014"/>
                </a:lnTo>
                <a:lnTo>
                  <a:pt x="420562" y="1285488"/>
                </a:lnTo>
                <a:cubicBezTo>
                  <a:pt x="173415" y="1180954"/>
                  <a:pt x="0" y="936232"/>
                  <a:pt x="0" y="651007"/>
                </a:cubicBezTo>
                <a:cubicBezTo>
                  <a:pt x="0" y="365782"/>
                  <a:pt x="173415" y="121061"/>
                  <a:pt x="420562" y="16526"/>
                </a:cubicBezTo>
                <a:close/>
              </a:path>
            </a:pathLst>
          </a:custGeom>
          <a:gradFill>
            <a:gsLst>
              <a:gs pos="0">
                <a:srgbClr val="00CCFF"/>
              </a:gs>
              <a:gs pos="100000">
                <a:srgbClr val="0000FF"/>
              </a:gs>
            </a:gsLst>
            <a:lin ang="0" scaled="1"/>
          </a:gradFill>
          <a:ln w="38100">
            <a:gradFill flip="none" rotWithShape="1">
              <a:gsLst>
                <a:gs pos="0">
                  <a:srgbClr val="00CCFF"/>
                </a:gs>
                <a:gs pos="100000">
                  <a:srgbClr val="0000FF"/>
                </a:gs>
              </a:gsLst>
              <a:lin ang="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nvGrpSpPr>
          <p:cNvPr id="29" name="Group 28">
            <a:extLst>
              <a:ext uri="{FF2B5EF4-FFF2-40B4-BE49-F238E27FC236}">
                <a16:creationId xmlns:a16="http://schemas.microsoft.com/office/drawing/2014/main" id="{8D0BA5AB-0409-DBD5-ED5B-EB039459A5A3}"/>
              </a:ext>
            </a:extLst>
          </p:cNvPr>
          <p:cNvGrpSpPr/>
          <p:nvPr/>
        </p:nvGrpSpPr>
        <p:grpSpPr>
          <a:xfrm rot="5400000">
            <a:off x="11487150" y="6153150"/>
            <a:ext cx="704850" cy="704850"/>
            <a:chOff x="10538072" y="528484"/>
            <a:chExt cx="1029600" cy="1029600"/>
          </a:xfrm>
          <a:gradFill flip="none" rotWithShape="1">
            <a:gsLst>
              <a:gs pos="0">
                <a:srgbClr val="00CCFF"/>
              </a:gs>
              <a:gs pos="100000">
                <a:srgbClr val="0000FF"/>
              </a:gs>
            </a:gsLst>
            <a:lin ang="2700000" scaled="1"/>
            <a:tileRect/>
          </a:gradFill>
        </p:grpSpPr>
        <p:sp>
          <p:nvSpPr>
            <p:cNvPr id="30" name="Oval 22">
              <a:extLst>
                <a:ext uri="{FF2B5EF4-FFF2-40B4-BE49-F238E27FC236}">
                  <a16:creationId xmlns:a16="http://schemas.microsoft.com/office/drawing/2014/main" id="{7B8F5DB7-6471-B921-868E-3B28D6026AD5}"/>
                </a:ext>
              </a:extLst>
            </p:cNvPr>
            <p:cNvSpPr/>
            <p:nvPr/>
          </p:nvSpPr>
          <p:spPr>
            <a:xfrm>
              <a:off x="10538072" y="528484"/>
              <a:ext cx="1029600" cy="1029600"/>
            </a:xfrm>
            <a:prstGeom prst="frame">
              <a:avLst/>
            </a:prstGeom>
            <a:grpFill/>
            <a:ln>
              <a:noFill/>
            </a:ln>
            <a:effectLst>
              <a:outerShdw blurRad="177800" dist="114300" dir="2700000" algn="tl" rotWithShape="0">
                <a:srgbClr val="ACB0C0">
                  <a:alpha val="4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1" name="Oval 23">
              <a:extLst>
                <a:ext uri="{FF2B5EF4-FFF2-40B4-BE49-F238E27FC236}">
                  <a16:creationId xmlns:a16="http://schemas.microsoft.com/office/drawing/2014/main" id="{9FC4C69A-8004-175A-EEFF-BC4A50EC9A2D}"/>
                </a:ext>
              </a:extLst>
            </p:cNvPr>
            <p:cNvSpPr/>
            <p:nvPr/>
          </p:nvSpPr>
          <p:spPr>
            <a:xfrm>
              <a:off x="10538337" y="528749"/>
              <a:ext cx="1029071" cy="1029071"/>
            </a:xfrm>
            <a:prstGeom prst="frame">
              <a:avLst/>
            </a:prstGeom>
            <a:grpFill/>
            <a:ln>
              <a:noFill/>
            </a:ln>
            <a:effectLst>
              <a:outerShdw blurRad="114300" dist="114300" dir="13500000" algn="br" rotWithShape="0">
                <a:srgbClr val="FFFFFF">
                  <a:alpha val="5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32" name="TextBox 31">
            <a:extLst>
              <a:ext uri="{FF2B5EF4-FFF2-40B4-BE49-F238E27FC236}">
                <a16:creationId xmlns:a16="http://schemas.microsoft.com/office/drawing/2014/main" id="{68865D00-0CA7-0873-7B3F-332676D558DF}"/>
              </a:ext>
            </a:extLst>
          </p:cNvPr>
          <p:cNvSpPr txBox="1"/>
          <p:nvPr/>
        </p:nvSpPr>
        <p:spPr>
          <a:xfrm>
            <a:off x="11683909" y="6361487"/>
            <a:ext cx="290286" cy="369332"/>
          </a:xfrm>
          <a:prstGeom prst="rect">
            <a:avLst/>
          </a:prstGeom>
          <a:noFill/>
        </p:spPr>
        <p:txBody>
          <a:bodyPr wrap="square" lIns="91440" tIns="45720" rIns="91440" bIns="45720" rtlCol="0" anchor="t">
            <a:spAutoFit/>
          </a:bodyPr>
          <a:lstStyle/>
          <a:p>
            <a:r>
              <a:rPr lang="en-IN" b="1">
                <a:solidFill>
                  <a:schemeClr val="tx1">
                    <a:lumMod val="65000"/>
                    <a:lumOff val="35000"/>
                  </a:schemeClr>
                </a:solidFill>
                <a:latin typeface="Vibur" panose="03000603000000000000" pitchFamily="66" charset="0"/>
              </a:rPr>
              <a:t>6</a:t>
            </a:r>
            <a:endParaRPr lang="en-IN" b="1" dirty="0">
              <a:solidFill>
                <a:schemeClr val="tx1">
                  <a:lumMod val="65000"/>
                  <a:lumOff val="35000"/>
                </a:schemeClr>
              </a:solidFill>
              <a:latin typeface="Vibur" panose="03000603000000000000" pitchFamily="66" charset="0"/>
            </a:endParaRPr>
          </a:p>
        </p:txBody>
      </p:sp>
      <p:sp>
        <p:nvSpPr>
          <p:cNvPr id="3" name="TextBox 2">
            <a:extLst>
              <a:ext uri="{FF2B5EF4-FFF2-40B4-BE49-F238E27FC236}">
                <a16:creationId xmlns:a16="http://schemas.microsoft.com/office/drawing/2014/main" id="{6B805F58-BF6B-3F4C-23E5-5B71853FDAD7}"/>
              </a:ext>
            </a:extLst>
          </p:cNvPr>
          <p:cNvSpPr txBox="1"/>
          <p:nvPr/>
        </p:nvSpPr>
        <p:spPr>
          <a:xfrm>
            <a:off x="1116824" y="3897251"/>
            <a:ext cx="11633" cy="5118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pic>
        <p:nvPicPr>
          <p:cNvPr id="7" name="Picture 6" descr="A blue logo with text&#10;&#10;AI-generated content may be incorrect.">
            <a:extLst>
              <a:ext uri="{FF2B5EF4-FFF2-40B4-BE49-F238E27FC236}">
                <a16:creationId xmlns:a16="http://schemas.microsoft.com/office/drawing/2014/main" id="{627A53EE-4AF2-3AD2-963B-ACD1C044D891}"/>
              </a:ext>
            </a:extLst>
          </p:cNvPr>
          <p:cNvPicPr>
            <a:picLocks noChangeAspect="1"/>
          </p:cNvPicPr>
          <p:nvPr/>
        </p:nvPicPr>
        <p:blipFill>
          <a:blip r:embed="rId2"/>
          <a:stretch>
            <a:fillRect/>
          </a:stretch>
        </p:blipFill>
        <p:spPr>
          <a:xfrm>
            <a:off x="10228173" y="5806469"/>
            <a:ext cx="356142" cy="689580"/>
          </a:xfrm>
          <a:prstGeom prst="rect">
            <a:avLst/>
          </a:prstGeom>
        </p:spPr>
      </p:pic>
      <p:sp>
        <p:nvSpPr>
          <p:cNvPr id="4" name="TextBox 3">
            <a:extLst>
              <a:ext uri="{FF2B5EF4-FFF2-40B4-BE49-F238E27FC236}">
                <a16:creationId xmlns:a16="http://schemas.microsoft.com/office/drawing/2014/main" id="{FE0435A6-85EA-559F-9B92-89E427F422F5}"/>
              </a:ext>
            </a:extLst>
          </p:cNvPr>
          <p:cNvSpPr txBox="1"/>
          <p:nvPr/>
        </p:nvSpPr>
        <p:spPr>
          <a:xfrm>
            <a:off x="3941492" y="680113"/>
            <a:ext cx="320136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ea typeface="Calibri"/>
                <a:cs typeface="Calibri"/>
              </a:rPr>
              <a:t> Dataset Description</a:t>
            </a:r>
          </a:p>
        </p:txBody>
      </p:sp>
      <p:sp>
        <p:nvSpPr>
          <p:cNvPr id="5" name="TextBox 4">
            <a:extLst>
              <a:ext uri="{FF2B5EF4-FFF2-40B4-BE49-F238E27FC236}">
                <a16:creationId xmlns:a16="http://schemas.microsoft.com/office/drawing/2014/main" id="{D0894BBA-97E5-5B29-8738-67CA817E775B}"/>
              </a:ext>
            </a:extLst>
          </p:cNvPr>
          <p:cNvSpPr txBox="1"/>
          <p:nvPr/>
        </p:nvSpPr>
        <p:spPr>
          <a:xfrm>
            <a:off x="1126901" y="1282521"/>
            <a:ext cx="8848858" cy="129586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50000"/>
              </a:lnSpc>
            </a:pPr>
            <a:r>
              <a:rPr lang="en-US" b="1" dirty="0" err="1"/>
              <a:t>Cats</a:t>
            </a:r>
            <a:r>
              <a:rPr lang="en-US" b="1" dirty="0"/>
              <a:t> vs Dogs Dataset</a:t>
            </a:r>
            <a:endParaRPr lang="en-US" b="1" dirty="0">
              <a:ea typeface="Calibri"/>
              <a:cs typeface="Calibri"/>
            </a:endParaRPr>
          </a:p>
          <a:p>
            <a:pPr>
              <a:lnSpc>
                <a:spcPct val="150000"/>
              </a:lnSpc>
            </a:pPr>
            <a:r>
              <a:rPr lang="en-US" dirty="0"/>
              <a:t>The dataset contains images of cats and dogs collected for binary image classification.</a:t>
            </a:r>
            <a:endParaRPr lang="en-US" dirty="0">
              <a:ea typeface="Calibri"/>
              <a:cs typeface="Calibri"/>
            </a:endParaRPr>
          </a:p>
          <a:p>
            <a:pPr algn="ctr">
              <a:lnSpc>
                <a:spcPct val="150000"/>
              </a:lnSpc>
            </a:pPr>
            <a:endParaRPr lang="en-US" dirty="0">
              <a:ea typeface="Calibri"/>
              <a:cs typeface="Calibri"/>
            </a:endParaRPr>
          </a:p>
        </p:txBody>
      </p:sp>
      <p:graphicFrame>
        <p:nvGraphicFramePr>
          <p:cNvPr id="8" name="Table 7">
            <a:extLst>
              <a:ext uri="{FF2B5EF4-FFF2-40B4-BE49-F238E27FC236}">
                <a16:creationId xmlns:a16="http://schemas.microsoft.com/office/drawing/2014/main" id="{1A72CFF6-F15D-EC40-2BB8-3DC1542366E9}"/>
              </a:ext>
            </a:extLst>
          </p:cNvPr>
          <p:cNvGraphicFramePr>
            <a:graphicFrameLocks noGrp="1"/>
          </p:cNvGraphicFramePr>
          <p:nvPr>
            <p:extLst>
              <p:ext uri="{D42A27DB-BD31-4B8C-83A1-F6EECF244321}">
                <p14:modId xmlns:p14="http://schemas.microsoft.com/office/powerpoint/2010/main" val="2678292625"/>
              </p:ext>
            </p:extLst>
          </p:nvPr>
        </p:nvGraphicFramePr>
        <p:xfrm>
          <a:off x="1244957" y="2296732"/>
          <a:ext cx="7701396" cy="1463040"/>
        </p:xfrm>
        <a:graphic>
          <a:graphicData uri="http://schemas.openxmlformats.org/drawingml/2006/table">
            <a:tbl>
              <a:tblPr bandRow="1">
                <a:tableStyleId>{5C22544A-7EE6-4342-B048-85BDC9FD1C3A}</a:tableStyleId>
              </a:tblPr>
              <a:tblGrid>
                <a:gridCol w="3850698">
                  <a:extLst>
                    <a:ext uri="{9D8B030D-6E8A-4147-A177-3AD203B41FA5}">
                      <a16:colId xmlns:a16="http://schemas.microsoft.com/office/drawing/2014/main" val="759037254"/>
                    </a:ext>
                  </a:extLst>
                </a:gridCol>
                <a:gridCol w="3850698">
                  <a:extLst>
                    <a:ext uri="{9D8B030D-6E8A-4147-A177-3AD203B41FA5}">
                      <a16:colId xmlns:a16="http://schemas.microsoft.com/office/drawing/2014/main" val="820891177"/>
                    </a:ext>
                  </a:extLst>
                </a:gridCol>
              </a:tblGrid>
              <a:tr h="0">
                <a:tc>
                  <a:txBody>
                    <a:bodyPr/>
                    <a:lstStyle/>
                    <a:p>
                      <a:pPr>
                        <a:buNone/>
                      </a:pPr>
                      <a:r>
                        <a:rPr lang="en-US">
                          <a:solidFill>
                            <a:schemeClr val="tx1"/>
                          </a:solidFill>
                          <a:effectLst/>
                        </a:rPr>
                        <a:t>Category</a:t>
                      </a:r>
                    </a:p>
                  </a:txBody>
                  <a:tcPr anchor="ctr">
                    <a:lnL>
                      <a:noFill/>
                    </a:lnL>
                    <a:lnR>
                      <a:noFill/>
                    </a:lnR>
                    <a:lnT>
                      <a:noFill/>
                    </a:lnT>
                    <a:lnB>
                      <a:noFill/>
                    </a:lnB>
                    <a:noFill/>
                  </a:tcPr>
                </a:tc>
                <a:tc>
                  <a:txBody>
                    <a:bodyPr/>
                    <a:lstStyle/>
                    <a:p>
                      <a:pPr>
                        <a:buNone/>
                      </a:pPr>
                      <a:r>
                        <a:rPr lang="en-US">
                          <a:solidFill>
                            <a:schemeClr val="tx1"/>
                          </a:solidFill>
                          <a:effectLst/>
                        </a:rPr>
                        <a:t>Images</a:t>
                      </a:r>
                    </a:p>
                  </a:txBody>
                  <a:tcPr anchor="ctr">
                    <a:lnL>
                      <a:noFill/>
                    </a:lnL>
                    <a:lnR>
                      <a:noFill/>
                    </a:lnR>
                    <a:lnT>
                      <a:noFill/>
                    </a:lnT>
                    <a:lnB>
                      <a:noFill/>
                    </a:lnB>
                    <a:noFill/>
                  </a:tcPr>
                </a:tc>
                <a:extLst>
                  <a:ext uri="{0D108BD9-81ED-4DB2-BD59-A6C34878D82A}">
                    <a16:rowId xmlns:a16="http://schemas.microsoft.com/office/drawing/2014/main" val="1170937287"/>
                  </a:ext>
                </a:extLst>
              </a:tr>
              <a:tr h="0">
                <a:tc>
                  <a:txBody>
                    <a:bodyPr/>
                    <a:lstStyle/>
                    <a:p>
                      <a:pPr>
                        <a:buNone/>
                      </a:pPr>
                      <a:r>
                        <a:rPr lang="en-US">
                          <a:solidFill>
                            <a:schemeClr val="tx1"/>
                          </a:solidFill>
                          <a:effectLst/>
                        </a:rPr>
                        <a:t>Cats</a:t>
                      </a:r>
                    </a:p>
                  </a:txBody>
                  <a:tcPr anchor="ctr">
                    <a:lnL>
                      <a:noFill/>
                    </a:lnL>
                    <a:lnR>
                      <a:noFill/>
                    </a:lnR>
                    <a:lnT>
                      <a:noFill/>
                    </a:lnT>
                    <a:lnB>
                      <a:noFill/>
                    </a:lnB>
                    <a:noFill/>
                  </a:tcPr>
                </a:tc>
                <a:tc>
                  <a:txBody>
                    <a:bodyPr/>
                    <a:lstStyle/>
                    <a:p>
                      <a:pPr>
                        <a:buNone/>
                      </a:pPr>
                      <a:r>
                        <a:rPr lang="en-US">
                          <a:solidFill>
                            <a:schemeClr val="tx1"/>
                          </a:solidFill>
                          <a:effectLst/>
                        </a:rPr>
                        <a:t>2000</a:t>
                      </a:r>
                    </a:p>
                  </a:txBody>
                  <a:tcPr anchor="ctr">
                    <a:lnL>
                      <a:noFill/>
                    </a:lnL>
                    <a:lnR>
                      <a:noFill/>
                    </a:lnR>
                    <a:lnT>
                      <a:noFill/>
                    </a:lnT>
                    <a:lnB>
                      <a:noFill/>
                    </a:lnB>
                    <a:noFill/>
                  </a:tcPr>
                </a:tc>
                <a:extLst>
                  <a:ext uri="{0D108BD9-81ED-4DB2-BD59-A6C34878D82A}">
                    <a16:rowId xmlns:a16="http://schemas.microsoft.com/office/drawing/2014/main" val="590468798"/>
                  </a:ext>
                </a:extLst>
              </a:tr>
              <a:tr h="0">
                <a:tc>
                  <a:txBody>
                    <a:bodyPr/>
                    <a:lstStyle/>
                    <a:p>
                      <a:pPr>
                        <a:buNone/>
                      </a:pPr>
                      <a:r>
                        <a:rPr lang="en-US">
                          <a:solidFill>
                            <a:schemeClr val="tx1"/>
                          </a:solidFill>
                          <a:effectLst/>
                        </a:rPr>
                        <a:t>Dogs</a:t>
                      </a:r>
                    </a:p>
                  </a:txBody>
                  <a:tcPr anchor="ctr">
                    <a:lnL>
                      <a:noFill/>
                    </a:lnL>
                    <a:lnR>
                      <a:noFill/>
                    </a:lnR>
                    <a:lnT>
                      <a:noFill/>
                    </a:lnT>
                    <a:lnB>
                      <a:noFill/>
                    </a:lnB>
                    <a:noFill/>
                  </a:tcPr>
                </a:tc>
                <a:tc>
                  <a:txBody>
                    <a:bodyPr/>
                    <a:lstStyle/>
                    <a:p>
                      <a:pPr>
                        <a:buNone/>
                      </a:pPr>
                      <a:r>
                        <a:rPr lang="en-US">
                          <a:solidFill>
                            <a:schemeClr val="tx1"/>
                          </a:solidFill>
                          <a:effectLst/>
                        </a:rPr>
                        <a:t>2000</a:t>
                      </a:r>
                    </a:p>
                  </a:txBody>
                  <a:tcPr anchor="ctr">
                    <a:lnL>
                      <a:noFill/>
                    </a:lnL>
                    <a:lnR>
                      <a:noFill/>
                    </a:lnR>
                    <a:lnT>
                      <a:noFill/>
                    </a:lnT>
                    <a:lnB>
                      <a:noFill/>
                    </a:lnB>
                    <a:noFill/>
                  </a:tcPr>
                </a:tc>
                <a:extLst>
                  <a:ext uri="{0D108BD9-81ED-4DB2-BD59-A6C34878D82A}">
                    <a16:rowId xmlns:a16="http://schemas.microsoft.com/office/drawing/2014/main" val="1841419730"/>
                  </a:ext>
                </a:extLst>
              </a:tr>
              <a:tr h="0">
                <a:tc>
                  <a:txBody>
                    <a:bodyPr/>
                    <a:lstStyle/>
                    <a:p>
                      <a:pPr>
                        <a:buNone/>
                      </a:pPr>
                      <a:r>
                        <a:rPr lang="en-US">
                          <a:solidFill>
                            <a:schemeClr val="tx1"/>
                          </a:solidFill>
                          <a:effectLst/>
                        </a:rPr>
                        <a:t>Total</a:t>
                      </a:r>
                    </a:p>
                  </a:txBody>
                  <a:tcPr anchor="ctr">
                    <a:lnL>
                      <a:noFill/>
                    </a:lnL>
                    <a:lnR>
                      <a:noFill/>
                    </a:lnR>
                    <a:lnT>
                      <a:noFill/>
                    </a:lnT>
                    <a:lnB>
                      <a:noFill/>
                    </a:lnB>
                    <a:noFill/>
                  </a:tcPr>
                </a:tc>
                <a:tc>
                  <a:txBody>
                    <a:bodyPr/>
                    <a:lstStyle/>
                    <a:p>
                      <a:pPr>
                        <a:buNone/>
                      </a:pPr>
                      <a:r>
                        <a:rPr lang="en-US">
                          <a:solidFill>
                            <a:schemeClr val="tx1"/>
                          </a:solidFill>
                          <a:effectLst/>
                        </a:rPr>
                        <a:t>4000</a:t>
                      </a:r>
                    </a:p>
                  </a:txBody>
                  <a:tcPr anchor="ctr">
                    <a:lnL>
                      <a:noFill/>
                    </a:lnL>
                    <a:lnR>
                      <a:noFill/>
                    </a:lnR>
                    <a:lnT>
                      <a:noFill/>
                    </a:lnT>
                    <a:lnB>
                      <a:noFill/>
                    </a:lnB>
                    <a:noFill/>
                  </a:tcPr>
                </a:tc>
                <a:extLst>
                  <a:ext uri="{0D108BD9-81ED-4DB2-BD59-A6C34878D82A}">
                    <a16:rowId xmlns:a16="http://schemas.microsoft.com/office/drawing/2014/main" val="904252182"/>
                  </a:ext>
                </a:extLst>
              </a:tr>
            </a:tbl>
          </a:graphicData>
        </a:graphic>
      </p:graphicFrame>
      <p:sp>
        <p:nvSpPr>
          <p:cNvPr id="9" name="TextBox 8">
            <a:extLst>
              <a:ext uri="{FF2B5EF4-FFF2-40B4-BE49-F238E27FC236}">
                <a16:creationId xmlns:a16="http://schemas.microsoft.com/office/drawing/2014/main" id="{188D60F9-64EA-3DB2-3E40-861B5C4EB497}"/>
              </a:ext>
            </a:extLst>
          </p:cNvPr>
          <p:cNvSpPr txBox="1"/>
          <p:nvPr/>
        </p:nvSpPr>
        <p:spPr>
          <a:xfrm>
            <a:off x="1126901" y="3895859"/>
            <a:ext cx="6096000" cy="28623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50000"/>
              </a:lnSpc>
            </a:pPr>
            <a:r>
              <a:rPr lang="en-US" b="1"/>
              <a:t>Data Split</a:t>
            </a:r>
            <a:endParaRPr lang="en-US" b="1">
              <a:ea typeface="Calibri"/>
              <a:cs typeface="Calibri"/>
            </a:endParaRPr>
          </a:p>
          <a:p>
            <a:pPr>
              <a:lnSpc>
                <a:spcPct val="150000"/>
              </a:lnSpc>
              <a:buFont typeface=""/>
              <a:buChar char="•"/>
            </a:pPr>
            <a:r>
              <a:rPr lang="en-US"/>
              <a:t> Training Set: 70%</a:t>
            </a:r>
            <a:endParaRPr lang="en-US">
              <a:ea typeface="Calibri"/>
              <a:cs typeface="Calibri"/>
            </a:endParaRPr>
          </a:p>
          <a:p>
            <a:pPr>
              <a:lnSpc>
                <a:spcPct val="150000"/>
              </a:lnSpc>
              <a:buFont typeface=""/>
              <a:buChar char="•"/>
            </a:pPr>
            <a:r>
              <a:rPr lang="en-US"/>
              <a:t> Validation Set: 20%</a:t>
            </a:r>
            <a:endParaRPr lang="en-US">
              <a:ea typeface="Calibri"/>
              <a:cs typeface="Calibri"/>
            </a:endParaRPr>
          </a:p>
          <a:p>
            <a:pPr>
              <a:lnSpc>
                <a:spcPct val="150000"/>
              </a:lnSpc>
              <a:buFont typeface=""/>
              <a:buChar char="•"/>
            </a:pPr>
            <a:r>
              <a:rPr lang="en-US"/>
              <a:t> Test Set: 10%</a:t>
            </a:r>
            <a:endParaRPr lang="en-US">
              <a:ea typeface="Calibri"/>
              <a:cs typeface="Calibri"/>
            </a:endParaRPr>
          </a:p>
          <a:p>
            <a:pPr>
              <a:lnSpc>
                <a:spcPct val="150000"/>
              </a:lnSpc>
            </a:pPr>
            <a:r>
              <a:rPr lang="en-US" b="1"/>
              <a:t>Image Size</a:t>
            </a:r>
            <a:endParaRPr lang="en-US" b="1">
              <a:ea typeface="Calibri"/>
              <a:cs typeface="Calibri"/>
            </a:endParaRPr>
          </a:p>
          <a:p>
            <a:pPr>
              <a:lnSpc>
                <a:spcPct val="150000"/>
              </a:lnSpc>
            </a:pPr>
            <a:r>
              <a:rPr lang="en-US"/>
              <a:t>128 × 128 RGB</a:t>
            </a:r>
            <a:endParaRPr lang="en-US">
              <a:ea typeface="Calibri"/>
              <a:cs typeface="Calibri"/>
            </a:endParaRPr>
          </a:p>
          <a:p>
            <a:pPr algn="ctr"/>
            <a:endParaRPr lang="en-US"/>
          </a:p>
        </p:txBody>
      </p:sp>
    </p:spTree>
    <p:extLst>
      <p:ext uri="{BB962C8B-B14F-4D97-AF65-F5344CB8AC3E}">
        <p14:creationId xmlns:p14="http://schemas.microsoft.com/office/powerpoint/2010/main" val="14585816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BECF0"/>
        </a:solidFill>
        <a:effectLst/>
      </p:bgPr>
    </p:bg>
    <p:spTree>
      <p:nvGrpSpPr>
        <p:cNvPr id="1" name="">
          <a:extLst>
            <a:ext uri="{FF2B5EF4-FFF2-40B4-BE49-F238E27FC236}">
              <a16:creationId xmlns:a16="http://schemas.microsoft.com/office/drawing/2014/main" id="{0EB4DDDE-DA8C-C47E-DD98-F47285378CB7}"/>
            </a:ext>
          </a:extLst>
        </p:cNvPr>
        <p:cNvGrpSpPr/>
        <p:nvPr/>
      </p:nvGrpSpPr>
      <p:grpSpPr>
        <a:xfrm>
          <a:off x="0" y="0"/>
          <a:ext cx="0" cy="0"/>
          <a:chOff x="0" y="0"/>
          <a:chExt cx="0" cy="0"/>
        </a:xfrm>
      </p:grpSpPr>
      <p:grpSp>
        <p:nvGrpSpPr>
          <p:cNvPr id="59" name="Group 58">
            <a:extLst>
              <a:ext uri="{FF2B5EF4-FFF2-40B4-BE49-F238E27FC236}">
                <a16:creationId xmlns:a16="http://schemas.microsoft.com/office/drawing/2014/main" id="{24407EF2-1804-D67A-D225-8AE4BC7C483E}"/>
              </a:ext>
            </a:extLst>
          </p:cNvPr>
          <p:cNvGrpSpPr/>
          <p:nvPr/>
        </p:nvGrpSpPr>
        <p:grpSpPr>
          <a:xfrm>
            <a:off x="618906" y="243821"/>
            <a:ext cx="10334494" cy="6446716"/>
            <a:chOff x="1162348" y="1677368"/>
            <a:chExt cx="3266778" cy="3266778"/>
          </a:xfrm>
        </p:grpSpPr>
        <p:sp>
          <p:nvSpPr>
            <p:cNvPr id="60" name="Oval 34">
              <a:extLst>
                <a:ext uri="{FF2B5EF4-FFF2-40B4-BE49-F238E27FC236}">
                  <a16:creationId xmlns:a16="http://schemas.microsoft.com/office/drawing/2014/main" id="{58713E3A-7573-8891-A62C-64C02D39042D}"/>
                </a:ext>
              </a:extLst>
            </p:cNvPr>
            <p:cNvSpPr/>
            <p:nvPr/>
          </p:nvSpPr>
          <p:spPr>
            <a:xfrm>
              <a:off x="1162348" y="1677368"/>
              <a:ext cx="3266778" cy="3266778"/>
            </a:xfrm>
            <a:prstGeom prst="roundRect">
              <a:avLst/>
            </a:prstGeom>
            <a:solidFill>
              <a:srgbClr val="EBECF0"/>
            </a:solidFill>
            <a:ln>
              <a:noFill/>
            </a:ln>
            <a:effectLst>
              <a:outerShdw blurRad="177800" dist="114300" dir="2700000" algn="tl" rotWithShape="0">
                <a:srgbClr val="ACB0C0">
                  <a:alpha val="4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1" name="Oval 35">
              <a:extLst>
                <a:ext uri="{FF2B5EF4-FFF2-40B4-BE49-F238E27FC236}">
                  <a16:creationId xmlns:a16="http://schemas.microsoft.com/office/drawing/2014/main" id="{22C595ED-1674-3E88-3CA4-AA39923CEB36}"/>
                </a:ext>
              </a:extLst>
            </p:cNvPr>
            <p:cNvSpPr/>
            <p:nvPr/>
          </p:nvSpPr>
          <p:spPr>
            <a:xfrm>
              <a:off x="1162348" y="1677368"/>
              <a:ext cx="3266778" cy="3266778"/>
            </a:xfrm>
            <a:prstGeom prst="roundRect">
              <a:avLst>
                <a:gd name="adj" fmla="val 6541"/>
              </a:avLst>
            </a:prstGeom>
            <a:solidFill>
              <a:srgbClr val="EBECF0"/>
            </a:solidFill>
            <a:ln>
              <a:noFill/>
            </a:ln>
            <a:effectLst>
              <a:outerShdw blurRad="114300" dist="114300" dir="13500000" algn="br" rotWithShape="0">
                <a:srgbClr val="FFFFFF">
                  <a:alpha val="5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48" name="Freeform: Shape 47">
            <a:extLst>
              <a:ext uri="{FF2B5EF4-FFF2-40B4-BE49-F238E27FC236}">
                <a16:creationId xmlns:a16="http://schemas.microsoft.com/office/drawing/2014/main" id="{E81FDE38-2014-4A0C-A5D0-4455355FCA3D}"/>
              </a:ext>
            </a:extLst>
          </p:cNvPr>
          <p:cNvSpPr/>
          <p:nvPr/>
        </p:nvSpPr>
        <p:spPr>
          <a:xfrm>
            <a:off x="11398434" y="1"/>
            <a:ext cx="793566" cy="993711"/>
          </a:xfrm>
          <a:custGeom>
            <a:avLst/>
            <a:gdLst>
              <a:gd name="connsiteX0" fmla="*/ 74242 w 793566"/>
              <a:gd name="connsiteY0" fmla="*/ 0 h 993711"/>
              <a:gd name="connsiteX1" fmla="*/ 793566 w 793566"/>
              <a:gd name="connsiteY1" fmla="*/ 0 h 993711"/>
              <a:gd name="connsiteX2" fmla="*/ 793566 w 793566"/>
              <a:gd name="connsiteY2" fmla="*/ 983129 h 993711"/>
              <a:gd name="connsiteX3" fmla="*/ 688594 w 793566"/>
              <a:gd name="connsiteY3" fmla="*/ 993711 h 993711"/>
              <a:gd name="connsiteX4" fmla="*/ 0 w 793566"/>
              <a:gd name="connsiteY4" fmla="*/ 305117 h 993711"/>
              <a:gd name="connsiteX5" fmla="*/ 54113 w 793566"/>
              <a:gd name="connsiteY5" fmla="*/ 37085 h 993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93566" h="993711">
                <a:moveTo>
                  <a:pt x="74242" y="0"/>
                </a:moveTo>
                <a:lnTo>
                  <a:pt x="793566" y="0"/>
                </a:lnTo>
                <a:lnTo>
                  <a:pt x="793566" y="983129"/>
                </a:lnTo>
                <a:lnTo>
                  <a:pt x="688594" y="993711"/>
                </a:lnTo>
                <a:cubicBezTo>
                  <a:pt x="308294" y="993711"/>
                  <a:pt x="0" y="685417"/>
                  <a:pt x="0" y="305117"/>
                </a:cubicBezTo>
                <a:cubicBezTo>
                  <a:pt x="0" y="210042"/>
                  <a:pt x="19268" y="119467"/>
                  <a:pt x="54113" y="37085"/>
                </a:cubicBezTo>
                <a:close/>
              </a:path>
            </a:pathLst>
          </a:custGeom>
          <a:gradFill>
            <a:gsLst>
              <a:gs pos="0">
                <a:srgbClr val="00CCFF"/>
              </a:gs>
              <a:gs pos="100000">
                <a:srgbClr val="0000FF"/>
              </a:gs>
            </a:gsLst>
            <a:lin ang="0" scaled="1"/>
          </a:gradFill>
          <a:ln w="38100">
            <a:gradFill flip="none" rotWithShape="1">
              <a:gsLst>
                <a:gs pos="0">
                  <a:srgbClr val="00CCFF"/>
                </a:gs>
                <a:gs pos="100000">
                  <a:srgbClr val="0000FF"/>
                </a:gs>
              </a:gsLst>
              <a:lin ang="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9" name="Oval 48">
            <a:extLst>
              <a:ext uri="{FF2B5EF4-FFF2-40B4-BE49-F238E27FC236}">
                <a16:creationId xmlns:a16="http://schemas.microsoft.com/office/drawing/2014/main" id="{DA676BA8-9F2A-81D5-6097-B83874956C9A}"/>
              </a:ext>
            </a:extLst>
          </p:cNvPr>
          <p:cNvSpPr/>
          <p:nvPr/>
        </p:nvSpPr>
        <p:spPr>
          <a:xfrm>
            <a:off x="10227818" y="681912"/>
            <a:ext cx="1377188" cy="1377188"/>
          </a:xfrm>
          <a:prstGeom prst="ellipse">
            <a:avLst/>
          </a:prstGeom>
          <a:gradFill>
            <a:gsLst>
              <a:gs pos="0">
                <a:srgbClr val="00CCFF"/>
              </a:gs>
              <a:gs pos="100000">
                <a:srgbClr val="0000FF"/>
              </a:gs>
            </a:gsLst>
            <a:lin ang="0" scaled="1"/>
          </a:gradFill>
          <a:ln w="38100">
            <a:gradFill flip="none" rotWithShape="1">
              <a:gsLst>
                <a:gs pos="0">
                  <a:srgbClr val="00CCFF"/>
                </a:gs>
                <a:gs pos="100000">
                  <a:srgbClr val="0000FF"/>
                </a:gs>
              </a:gsLst>
              <a:lin ang="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0" name="Freeform: Shape 49">
            <a:extLst>
              <a:ext uri="{FF2B5EF4-FFF2-40B4-BE49-F238E27FC236}">
                <a16:creationId xmlns:a16="http://schemas.microsoft.com/office/drawing/2014/main" id="{0946720A-CF3E-9414-9DF1-D9C9277DBFD7}"/>
              </a:ext>
            </a:extLst>
          </p:cNvPr>
          <p:cNvSpPr/>
          <p:nvPr/>
        </p:nvSpPr>
        <p:spPr>
          <a:xfrm>
            <a:off x="11718200" y="1112145"/>
            <a:ext cx="473800" cy="1302014"/>
          </a:xfrm>
          <a:custGeom>
            <a:avLst/>
            <a:gdLst>
              <a:gd name="connsiteX0" fmla="*/ 473800 w 473800"/>
              <a:gd name="connsiteY0" fmla="*/ 0 h 1302014"/>
              <a:gd name="connsiteX1" fmla="*/ 473800 w 473800"/>
              <a:gd name="connsiteY1" fmla="*/ 1302014 h 1302014"/>
              <a:gd name="connsiteX2" fmla="*/ 420562 w 473800"/>
              <a:gd name="connsiteY2" fmla="*/ 1285488 h 1302014"/>
              <a:gd name="connsiteX3" fmla="*/ 0 w 473800"/>
              <a:gd name="connsiteY3" fmla="*/ 651007 h 1302014"/>
              <a:gd name="connsiteX4" fmla="*/ 420562 w 473800"/>
              <a:gd name="connsiteY4" fmla="*/ 16526 h 13020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3800" h="1302014">
                <a:moveTo>
                  <a:pt x="473800" y="0"/>
                </a:moveTo>
                <a:lnTo>
                  <a:pt x="473800" y="1302014"/>
                </a:lnTo>
                <a:lnTo>
                  <a:pt x="420562" y="1285488"/>
                </a:lnTo>
                <a:cubicBezTo>
                  <a:pt x="173415" y="1180954"/>
                  <a:pt x="0" y="936232"/>
                  <a:pt x="0" y="651007"/>
                </a:cubicBezTo>
                <a:cubicBezTo>
                  <a:pt x="0" y="365782"/>
                  <a:pt x="173415" y="121061"/>
                  <a:pt x="420562" y="16526"/>
                </a:cubicBezTo>
                <a:close/>
              </a:path>
            </a:pathLst>
          </a:custGeom>
          <a:gradFill>
            <a:gsLst>
              <a:gs pos="0">
                <a:srgbClr val="00CCFF"/>
              </a:gs>
              <a:gs pos="100000">
                <a:srgbClr val="0000FF"/>
              </a:gs>
            </a:gsLst>
            <a:lin ang="0" scaled="1"/>
          </a:gradFill>
          <a:ln w="38100">
            <a:gradFill flip="none" rotWithShape="1">
              <a:gsLst>
                <a:gs pos="0">
                  <a:srgbClr val="00CCFF"/>
                </a:gs>
                <a:gs pos="100000">
                  <a:srgbClr val="0000FF"/>
                </a:gs>
              </a:gsLst>
              <a:lin ang="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nvGrpSpPr>
          <p:cNvPr id="29" name="Group 28">
            <a:extLst>
              <a:ext uri="{FF2B5EF4-FFF2-40B4-BE49-F238E27FC236}">
                <a16:creationId xmlns:a16="http://schemas.microsoft.com/office/drawing/2014/main" id="{013A69EA-F8EF-45AD-35A0-B3A4D28670C1}"/>
              </a:ext>
            </a:extLst>
          </p:cNvPr>
          <p:cNvGrpSpPr/>
          <p:nvPr/>
        </p:nvGrpSpPr>
        <p:grpSpPr>
          <a:xfrm rot="5400000">
            <a:off x="11487150" y="6153150"/>
            <a:ext cx="704850" cy="704850"/>
            <a:chOff x="10538072" y="528484"/>
            <a:chExt cx="1029600" cy="1029600"/>
          </a:xfrm>
          <a:gradFill flip="none" rotWithShape="1">
            <a:gsLst>
              <a:gs pos="0">
                <a:srgbClr val="00CCFF"/>
              </a:gs>
              <a:gs pos="100000">
                <a:srgbClr val="0000FF"/>
              </a:gs>
            </a:gsLst>
            <a:lin ang="2700000" scaled="1"/>
            <a:tileRect/>
          </a:gradFill>
        </p:grpSpPr>
        <p:sp>
          <p:nvSpPr>
            <p:cNvPr id="30" name="Oval 22">
              <a:extLst>
                <a:ext uri="{FF2B5EF4-FFF2-40B4-BE49-F238E27FC236}">
                  <a16:creationId xmlns:a16="http://schemas.microsoft.com/office/drawing/2014/main" id="{3A70BE50-7111-306D-210A-306DDE39371E}"/>
                </a:ext>
              </a:extLst>
            </p:cNvPr>
            <p:cNvSpPr/>
            <p:nvPr/>
          </p:nvSpPr>
          <p:spPr>
            <a:xfrm>
              <a:off x="10538072" y="528484"/>
              <a:ext cx="1029600" cy="1029600"/>
            </a:xfrm>
            <a:prstGeom prst="frame">
              <a:avLst/>
            </a:prstGeom>
            <a:grpFill/>
            <a:ln>
              <a:noFill/>
            </a:ln>
            <a:effectLst>
              <a:outerShdw blurRad="177800" dist="114300" dir="2700000" algn="tl" rotWithShape="0">
                <a:srgbClr val="ACB0C0">
                  <a:alpha val="4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1" name="Oval 23">
              <a:extLst>
                <a:ext uri="{FF2B5EF4-FFF2-40B4-BE49-F238E27FC236}">
                  <a16:creationId xmlns:a16="http://schemas.microsoft.com/office/drawing/2014/main" id="{ACB8698E-7171-21E8-D306-69D8901C3BD3}"/>
                </a:ext>
              </a:extLst>
            </p:cNvPr>
            <p:cNvSpPr/>
            <p:nvPr/>
          </p:nvSpPr>
          <p:spPr>
            <a:xfrm>
              <a:off x="10538337" y="528749"/>
              <a:ext cx="1029071" cy="1029071"/>
            </a:xfrm>
            <a:prstGeom prst="frame">
              <a:avLst/>
            </a:prstGeom>
            <a:grpFill/>
            <a:ln>
              <a:noFill/>
            </a:ln>
            <a:effectLst>
              <a:outerShdw blurRad="114300" dist="114300" dir="13500000" algn="br" rotWithShape="0">
                <a:srgbClr val="FFFFFF">
                  <a:alpha val="5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32" name="TextBox 31">
            <a:extLst>
              <a:ext uri="{FF2B5EF4-FFF2-40B4-BE49-F238E27FC236}">
                <a16:creationId xmlns:a16="http://schemas.microsoft.com/office/drawing/2014/main" id="{7EF1556D-E491-C3D2-796C-9FAC63671902}"/>
              </a:ext>
            </a:extLst>
          </p:cNvPr>
          <p:cNvSpPr txBox="1"/>
          <p:nvPr/>
        </p:nvSpPr>
        <p:spPr>
          <a:xfrm>
            <a:off x="11683909" y="6361487"/>
            <a:ext cx="290286" cy="369332"/>
          </a:xfrm>
          <a:prstGeom prst="rect">
            <a:avLst/>
          </a:prstGeom>
          <a:noFill/>
        </p:spPr>
        <p:txBody>
          <a:bodyPr wrap="square" lIns="91440" tIns="45720" rIns="91440" bIns="45720" rtlCol="0" anchor="t">
            <a:spAutoFit/>
          </a:bodyPr>
          <a:lstStyle/>
          <a:p>
            <a:r>
              <a:rPr lang="en-IN" b="1">
                <a:solidFill>
                  <a:schemeClr val="tx1">
                    <a:lumMod val="65000"/>
                    <a:lumOff val="35000"/>
                  </a:schemeClr>
                </a:solidFill>
                <a:latin typeface="Vibur" panose="03000603000000000000" pitchFamily="66" charset="0"/>
              </a:rPr>
              <a:t>7</a:t>
            </a:r>
            <a:endParaRPr lang="en-IN" b="1" dirty="0">
              <a:solidFill>
                <a:schemeClr val="tx1">
                  <a:lumMod val="65000"/>
                  <a:lumOff val="35000"/>
                </a:schemeClr>
              </a:solidFill>
              <a:latin typeface="Vibur" panose="03000603000000000000" pitchFamily="66" charset="0"/>
            </a:endParaRPr>
          </a:p>
        </p:txBody>
      </p:sp>
      <p:sp>
        <p:nvSpPr>
          <p:cNvPr id="3" name="TextBox 2">
            <a:extLst>
              <a:ext uri="{FF2B5EF4-FFF2-40B4-BE49-F238E27FC236}">
                <a16:creationId xmlns:a16="http://schemas.microsoft.com/office/drawing/2014/main" id="{9391279B-5013-5FF2-CD85-ADD3C5110833}"/>
              </a:ext>
            </a:extLst>
          </p:cNvPr>
          <p:cNvSpPr txBox="1"/>
          <p:nvPr/>
        </p:nvSpPr>
        <p:spPr>
          <a:xfrm>
            <a:off x="1116824" y="3897251"/>
            <a:ext cx="11633" cy="5118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pic>
        <p:nvPicPr>
          <p:cNvPr id="7" name="Picture 6" descr="A blue logo with text&#10;&#10;AI-generated content may be incorrect.">
            <a:extLst>
              <a:ext uri="{FF2B5EF4-FFF2-40B4-BE49-F238E27FC236}">
                <a16:creationId xmlns:a16="http://schemas.microsoft.com/office/drawing/2014/main" id="{1B73BF5A-3184-2FBD-818E-C65FFF8AF1A3}"/>
              </a:ext>
            </a:extLst>
          </p:cNvPr>
          <p:cNvPicPr>
            <a:picLocks noChangeAspect="1"/>
          </p:cNvPicPr>
          <p:nvPr/>
        </p:nvPicPr>
        <p:blipFill>
          <a:blip r:embed="rId2"/>
          <a:stretch>
            <a:fillRect/>
          </a:stretch>
        </p:blipFill>
        <p:spPr>
          <a:xfrm>
            <a:off x="10228173" y="5806469"/>
            <a:ext cx="356142" cy="689580"/>
          </a:xfrm>
          <a:prstGeom prst="rect">
            <a:avLst/>
          </a:prstGeom>
        </p:spPr>
      </p:pic>
      <p:sp>
        <p:nvSpPr>
          <p:cNvPr id="4" name="TextBox 3">
            <a:extLst>
              <a:ext uri="{FF2B5EF4-FFF2-40B4-BE49-F238E27FC236}">
                <a16:creationId xmlns:a16="http://schemas.microsoft.com/office/drawing/2014/main" id="{CC982819-9311-6002-D126-005FE26D1744}"/>
              </a:ext>
            </a:extLst>
          </p:cNvPr>
          <p:cNvSpPr txBox="1"/>
          <p:nvPr/>
        </p:nvSpPr>
        <p:spPr>
          <a:xfrm>
            <a:off x="3308281" y="680113"/>
            <a:ext cx="5573223"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a:ea typeface="Calibri" panose="020F0502020204030204"/>
                <a:cs typeface="Calibri" panose="020F0502020204030204"/>
              </a:rPr>
              <a:t>Propo</a:t>
            </a:r>
            <a:r>
              <a:rPr lang="en-US" sz="2800" b="1">
                <a:ea typeface="Calibri" panose="020F0502020204030204"/>
                <a:cs typeface="Calibri" panose="020F0502020204030204"/>
              </a:rPr>
              <a:t>sed System Architecture</a:t>
            </a:r>
            <a:endParaRPr lang="en-US" sz="2800" b="1" dirty="0">
              <a:ea typeface="Calibri" panose="020F0502020204030204"/>
              <a:cs typeface="Calibri" panose="020F0502020204030204"/>
            </a:endParaRPr>
          </a:p>
        </p:txBody>
      </p:sp>
      <p:sp>
        <p:nvSpPr>
          <p:cNvPr id="5" name="TextBox 4">
            <a:extLst>
              <a:ext uri="{FF2B5EF4-FFF2-40B4-BE49-F238E27FC236}">
                <a16:creationId xmlns:a16="http://schemas.microsoft.com/office/drawing/2014/main" id="{7E2C0182-D893-EDA9-B825-D96A4F27DD39}"/>
              </a:ext>
            </a:extLst>
          </p:cNvPr>
          <p:cNvSpPr txBox="1"/>
          <p:nvPr/>
        </p:nvSpPr>
        <p:spPr>
          <a:xfrm>
            <a:off x="1126901" y="1346915"/>
            <a:ext cx="7469746" cy="46198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50000"/>
              </a:lnSpc>
            </a:pPr>
            <a:r>
              <a:rPr lang="en-US" b="1"/>
              <a:t>Framework Overview</a:t>
            </a:r>
            <a:endParaRPr lang="en-US" b="1">
              <a:ea typeface="Calibri"/>
              <a:cs typeface="Calibri"/>
            </a:endParaRPr>
          </a:p>
          <a:p>
            <a:pPr>
              <a:lnSpc>
                <a:spcPct val="150000"/>
              </a:lnSpc>
            </a:pPr>
            <a:r>
              <a:rPr lang="en-US"/>
              <a:t>The proposed framework consists of:</a:t>
            </a:r>
            <a:endParaRPr lang="en-US">
              <a:ea typeface="Calibri"/>
              <a:cs typeface="Calibri"/>
            </a:endParaRPr>
          </a:p>
          <a:p>
            <a:pPr>
              <a:lnSpc>
                <a:spcPct val="150000"/>
              </a:lnSpc>
              <a:buFont typeface=""/>
              <a:buAutoNum type="arabicPeriod"/>
            </a:pPr>
            <a:r>
              <a:rPr lang="en-US"/>
              <a:t>Dataset Collection</a:t>
            </a:r>
            <a:endParaRPr lang="en-US">
              <a:ea typeface="Calibri"/>
              <a:cs typeface="Calibri"/>
            </a:endParaRPr>
          </a:p>
          <a:p>
            <a:pPr>
              <a:lnSpc>
                <a:spcPct val="150000"/>
              </a:lnSpc>
              <a:buFont typeface=""/>
              <a:buAutoNum type="arabicPeriod"/>
            </a:pPr>
            <a:r>
              <a:rPr lang="en-US"/>
              <a:t>Image Preprocessing</a:t>
            </a:r>
            <a:endParaRPr lang="en-US">
              <a:ea typeface="Calibri"/>
              <a:cs typeface="Calibri"/>
            </a:endParaRPr>
          </a:p>
          <a:p>
            <a:pPr>
              <a:lnSpc>
                <a:spcPct val="150000"/>
              </a:lnSpc>
              <a:buFont typeface=""/>
              <a:buAutoNum type="arabicPeriod"/>
            </a:pPr>
            <a:r>
              <a:rPr lang="en-US"/>
              <a:t>CNN Training</a:t>
            </a:r>
            <a:endParaRPr lang="en-US">
              <a:ea typeface="Calibri"/>
              <a:cs typeface="Calibri"/>
            </a:endParaRPr>
          </a:p>
          <a:p>
            <a:pPr>
              <a:lnSpc>
                <a:spcPct val="150000"/>
              </a:lnSpc>
              <a:buFont typeface=""/>
              <a:buAutoNum type="arabicPeriod"/>
            </a:pPr>
            <a:r>
              <a:rPr lang="en-US"/>
              <a:t>Prediction Generation</a:t>
            </a:r>
            <a:endParaRPr lang="en-US">
              <a:ea typeface="Calibri"/>
              <a:cs typeface="Calibri"/>
            </a:endParaRPr>
          </a:p>
          <a:p>
            <a:pPr>
              <a:lnSpc>
                <a:spcPct val="150000"/>
              </a:lnSpc>
              <a:buFont typeface=""/>
              <a:buAutoNum type="arabicPeriod"/>
            </a:pPr>
            <a:r>
              <a:rPr lang="en-US"/>
              <a:t>Explanation Generation</a:t>
            </a:r>
            <a:endParaRPr lang="en-US">
              <a:ea typeface="Calibri"/>
              <a:cs typeface="Calibri"/>
            </a:endParaRPr>
          </a:p>
          <a:p>
            <a:pPr>
              <a:lnSpc>
                <a:spcPct val="150000"/>
              </a:lnSpc>
              <a:buFont typeface=""/>
              <a:buAutoNum type="arabicPeriod"/>
            </a:pPr>
            <a:r>
              <a:rPr lang="en-US"/>
              <a:t>Quantitative Evaluation</a:t>
            </a:r>
            <a:endParaRPr lang="en-US">
              <a:ea typeface="Calibri"/>
              <a:cs typeface="Calibri"/>
            </a:endParaRPr>
          </a:p>
          <a:p>
            <a:pPr>
              <a:lnSpc>
                <a:spcPct val="150000"/>
              </a:lnSpc>
              <a:buFont typeface=""/>
              <a:buAutoNum type="arabicPeriod"/>
            </a:pPr>
            <a:r>
              <a:rPr lang="en-US"/>
              <a:t>Comparative Analysis</a:t>
            </a:r>
            <a:endParaRPr lang="en-US">
              <a:ea typeface="Calibri"/>
              <a:cs typeface="Calibri"/>
            </a:endParaRPr>
          </a:p>
          <a:p>
            <a:pPr>
              <a:lnSpc>
                <a:spcPct val="150000"/>
              </a:lnSpc>
            </a:pPr>
            <a:r>
              <a:rPr lang="en-US"/>
              <a:t>The system integrates classification and explainability into a unified pipeline.</a:t>
            </a:r>
            <a:endParaRPr lang="en-US">
              <a:ea typeface="Calibri"/>
              <a:cs typeface="Calibri"/>
            </a:endParaRPr>
          </a:p>
          <a:p>
            <a:pPr algn="ctr">
              <a:lnSpc>
                <a:spcPct val="150000"/>
              </a:lnSpc>
            </a:pPr>
            <a:endParaRPr lang="en-US" dirty="0">
              <a:ea typeface="Calibri"/>
              <a:cs typeface="Calibri"/>
            </a:endParaRPr>
          </a:p>
        </p:txBody>
      </p:sp>
    </p:spTree>
    <p:extLst>
      <p:ext uri="{BB962C8B-B14F-4D97-AF65-F5344CB8AC3E}">
        <p14:creationId xmlns:p14="http://schemas.microsoft.com/office/powerpoint/2010/main" val="25735647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BECF0"/>
        </a:solidFill>
        <a:effectLst/>
      </p:bgPr>
    </p:bg>
    <p:spTree>
      <p:nvGrpSpPr>
        <p:cNvPr id="1" name="">
          <a:extLst>
            <a:ext uri="{FF2B5EF4-FFF2-40B4-BE49-F238E27FC236}">
              <a16:creationId xmlns:a16="http://schemas.microsoft.com/office/drawing/2014/main" id="{E96C489F-94A3-DF78-4870-B8D84D32A946}"/>
            </a:ext>
          </a:extLst>
        </p:cNvPr>
        <p:cNvGrpSpPr/>
        <p:nvPr/>
      </p:nvGrpSpPr>
      <p:grpSpPr>
        <a:xfrm>
          <a:off x="0" y="0"/>
          <a:ext cx="0" cy="0"/>
          <a:chOff x="0" y="0"/>
          <a:chExt cx="0" cy="0"/>
        </a:xfrm>
      </p:grpSpPr>
      <p:grpSp>
        <p:nvGrpSpPr>
          <p:cNvPr id="59" name="Group 58">
            <a:extLst>
              <a:ext uri="{FF2B5EF4-FFF2-40B4-BE49-F238E27FC236}">
                <a16:creationId xmlns:a16="http://schemas.microsoft.com/office/drawing/2014/main" id="{C91DD287-9B00-1979-F9C6-6AEA41E44A5F}"/>
              </a:ext>
            </a:extLst>
          </p:cNvPr>
          <p:cNvGrpSpPr/>
          <p:nvPr/>
        </p:nvGrpSpPr>
        <p:grpSpPr>
          <a:xfrm>
            <a:off x="618906" y="243821"/>
            <a:ext cx="10334494" cy="6446716"/>
            <a:chOff x="1162348" y="1677368"/>
            <a:chExt cx="3266778" cy="3266778"/>
          </a:xfrm>
        </p:grpSpPr>
        <p:sp>
          <p:nvSpPr>
            <p:cNvPr id="60" name="Oval 34">
              <a:extLst>
                <a:ext uri="{FF2B5EF4-FFF2-40B4-BE49-F238E27FC236}">
                  <a16:creationId xmlns:a16="http://schemas.microsoft.com/office/drawing/2014/main" id="{B205C015-BBEB-0AC3-2D25-95A7EEFF1845}"/>
                </a:ext>
              </a:extLst>
            </p:cNvPr>
            <p:cNvSpPr/>
            <p:nvPr/>
          </p:nvSpPr>
          <p:spPr>
            <a:xfrm>
              <a:off x="1162348" y="1677368"/>
              <a:ext cx="3266778" cy="3266778"/>
            </a:xfrm>
            <a:prstGeom prst="roundRect">
              <a:avLst/>
            </a:prstGeom>
            <a:solidFill>
              <a:srgbClr val="EBECF0"/>
            </a:solidFill>
            <a:ln>
              <a:noFill/>
            </a:ln>
            <a:effectLst>
              <a:outerShdw blurRad="177800" dist="114300" dir="2700000" algn="tl" rotWithShape="0">
                <a:srgbClr val="ACB0C0">
                  <a:alpha val="4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1" name="Oval 35">
              <a:extLst>
                <a:ext uri="{FF2B5EF4-FFF2-40B4-BE49-F238E27FC236}">
                  <a16:creationId xmlns:a16="http://schemas.microsoft.com/office/drawing/2014/main" id="{0A2846F1-D329-DDE5-6E85-E15D9B857635}"/>
                </a:ext>
              </a:extLst>
            </p:cNvPr>
            <p:cNvSpPr/>
            <p:nvPr/>
          </p:nvSpPr>
          <p:spPr>
            <a:xfrm>
              <a:off x="1162348" y="1677368"/>
              <a:ext cx="3266778" cy="3266778"/>
            </a:xfrm>
            <a:prstGeom prst="roundRect">
              <a:avLst>
                <a:gd name="adj" fmla="val 6541"/>
              </a:avLst>
            </a:prstGeom>
            <a:solidFill>
              <a:srgbClr val="EBECF0"/>
            </a:solidFill>
            <a:ln>
              <a:noFill/>
            </a:ln>
            <a:effectLst>
              <a:outerShdw blurRad="114300" dist="114300" dir="13500000" algn="br" rotWithShape="0">
                <a:srgbClr val="FFFFFF">
                  <a:alpha val="56000"/>
                </a:srgb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just">
                <a:lnSpc>
                  <a:spcPct val="150000"/>
                </a:lnSpc>
              </a:pPr>
              <a:endParaRPr lang="en-IN" dirty="0">
                <a:solidFill>
                  <a:schemeClr val="tx1"/>
                </a:solidFill>
                <a:ea typeface="Calibri"/>
                <a:cs typeface="Calibri"/>
              </a:endParaRPr>
            </a:p>
          </p:txBody>
        </p:sp>
      </p:grpSp>
      <p:sp>
        <p:nvSpPr>
          <p:cNvPr id="48" name="Freeform: Shape 47">
            <a:extLst>
              <a:ext uri="{FF2B5EF4-FFF2-40B4-BE49-F238E27FC236}">
                <a16:creationId xmlns:a16="http://schemas.microsoft.com/office/drawing/2014/main" id="{4188EE87-BA5E-3B66-866E-851A2E989FDB}"/>
              </a:ext>
            </a:extLst>
          </p:cNvPr>
          <p:cNvSpPr/>
          <p:nvPr/>
        </p:nvSpPr>
        <p:spPr>
          <a:xfrm>
            <a:off x="11398434" y="1"/>
            <a:ext cx="793566" cy="993711"/>
          </a:xfrm>
          <a:custGeom>
            <a:avLst/>
            <a:gdLst>
              <a:gd name="connsiteX0" fmla="*/ 74242 w 793566"/>
              <a:gd name="connsiteY0" fmla="*/ 0 h 993711"/>
              <a:gd name="connsiteX1" fmla="*/ 793566 w 793566"/>
              <a:gd name="connsiteY1" fmla="*/ 0 h 993711"/>
              <a:gd name="connsiteX2" fmla="*/ 793566 w 793566"/>
              <a:gd name="connsiteY2" fmla="*/ 983129 h 993711"/>
              <a:gd name="connsiteX3" fmla="*/ 688594 w 793566"/>
              <a:gd name="connsiteY3" fmla="*/ 993711 h 993711"/>
              <a:gd name="connsiteX4" fmla="*/ 0 w 793566"/>
              <a:gd name="connsiteY4" fmla="*/ 305117 h 993711"/>
              <a:gd name="connsiteX5" fmla="*/ 54113 w 793566"/>
              <a:gd name="connsiteY5" fmla="*/ 37085 h 993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93566" h="993711">
                <a:moveTo>
                  <a:pt x="74242" y="0"/>
                </a:moveTo>
                <a:lnTo>
                  <a:pt x="793566" y="0"/>
                </a:lnTo>
                <a:lnTo>
                  <a:pt x="793566" y="983129"/>
                </a:lnTo>
                <a:lnTo>
                  <a:pt x="688594" y="993711"/>
                </a:lnTo>
                <a:cubicBezTo>
                  <a:pt x="308294" y="993711"/>
                  <a:pt x="0" y="685417"/>
                  <a:pt x="0" y="305117"/>
                </a:cubicBezTo>
                <a:cubicBezTo>
                  <a:pt x="0" y="210042"/>
                  <a:pt x="19268" y="119467"/>
                  <a:pt x="54113" y="37085"/>
                </a:cubicBezTo>
                <a:close/>
              </a:path>
            </a:pathLst>
          </a:custGeom>
          <a:gradFill>
            <a:gsLst>
              <a:gs pos="0">
                <a:srgbClr val="00CCFF"/>
              </a:gs>
              <a:gs pos="100000">
                <a:srgbClr val="0000FF"/>
              </a:gs>
            </a:gsLst>
            <a:lin ang="0" scaled="1"/>
          </a:gradFill>
          <a:ln w="38100">
            <a:gradFill flip="none" rotWithShape="1">
              <a:gsLst>
                <a:gs pos="0">
                  <a:srgbClr val="00CCFF"/>
                </a:gs>
                <a:gs pos="100000">
                  <a:srgbClr val="0000FF"/>
                </a:gs>
              </a:gsLst>
              <a:lin ang="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9" name="Oval 48">
            <a:extLst>
              <a:ext uri="{FF2B5EF4-FFF2-40B4-BE49-F238E27FC236}">
                <a16:creationId xmlns:a16="http://schemas.microsoft.com/office/drawing/2014/main" id="{0333DAB9-9405-ACAE-6BA1-96EF220D7FBC}"/>
              </a:ext>
            </a:extLst>
          </p:cNvPr>
          <p:cNvSpPr/>
          <p:nvPr/>
        </p:nvSpPr>
        <p:spPr>
          <a:xfrm>
            <a:off x="10227818" y="681912"/>
            <a:ext cx="1377188" cy="1377188"/>
          </a:xfrm>
          <a:prstGeom prst="ellipse">
            <a:avLst/>
          </a:prstGeom>
          <a:gradFill>
            <a:gsLst>
              <a:gs pos="0">
                <a:srgbClr val="00CCFF"/>
              </a:gs>
              <a:gs pos="100000">
                <a:srgbClr val="0000FF"/>
              </a:gs>
            </a:gsLst>
            <a:lin ang="0" scaled="1"/>
          </a:gradFill>
          <a:ln w="38100">
            <a:gradFill flip="none" rotWithShape="1">
              <a:gsLst>
                <a:gs pos="0">
                  <a:srgbClr val="00CCFF"/>
                </a:gs>
                <a:gs pos="100000">
                  <a:srgbClr val="0000FF"/>
                </a:gs>
              </a:gsLst>
              <a:lin ang="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0" name="Freeform: Shape 49">
            <a:extLst>
              <a:ext uri="{FF2B5EF4-FFF2-40B4-BE49-F238E27FC236}">
                <a16:creationId xmlns:a16="http://schemas.microsoft.com/office/drawing/2014/main" id="{CEC29A60-9CE4-AFC9-D2A6-471156F5FE22}"/>
              </a:ext>
            </a:extLst>
          </p:cNvPr>
          <p:cNvSpPr/>
          <p:nvPr/>
        </p:nvSpPr>
        <p:spPr>
          <a:xfrm>
            <a:off x="11718200" y="1112145"/>
            <a:ext cx="473800" cy="1302014"/>
          </a:xfrm>
          <a:custGeom>
            <a:avLst/>
            <a:gdLst>
              <a:gd name="connsiteX0" fmla="*/ 473800 w 473800"/>
              <a:gd name="connsiteY0" fmla="*/ 0 h 1302014"/>
              <a:gd name="connsiteX1" fmla="*/ 473800 w 473800"/>
              <a:gd name="connsiteY1" fmla="*/ 1302014 h 1302014"/>
              <a:gd name="connsiteX2" fmla="*/ 420562 w 473800"/>
              <a:gd name="connsiteY2" fmla="*/ 1285488 h 1302014"/>
              <a:gd name="connsiteX3" fmla="*/ 0 w 473800"/>
              <a:gd name="connsiteY3" fmla="*/ 651007 h 1302014"/>
              <a:gd name="connsiteX4" fmla="*/ 420562 w 473800"/>
              <a:gd name="connsiteY4" fmla="*/ 16526 h 13020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3800" h="1302014">
                <a:moveTo>
                  <a:pt x="473800" y="0"/>
                </a:moveTo>
                <a:lnTo>
                  <a:pt x="473800" y="1302014"/>
                </a:lnTo>
                <a:lnTo>
                  <a:pt x="420562" y="1285488"/>
                </a:lnTo>
                <a:cubicBezTo>
                  <a:pt x="173415" y="1180954"/>
                  <a:pt x="0" y="936232"/>
                  <a:pt x="0" y="651007"/>
                </a:cubicBezTo>
                <a:cubicBezTo>
                  <a:pt x="0" y="365782"/>
                  <a:pt x="173415" y="121061"/>
                  <a:pt x="420562" y="16526"/>
                </a:cubicBezTo>
                <a:close/>
              </a:path>
            </a:pathLst>
          </a:custGeom>
          <a:gradFill>
            <a:gsLst>
              <a:gs pos="0">
                <a:srgbClr val="00CCFF"/>
              </a:gs>
              <a:gs pos="100000">
                <a:srgbClr val="0000FF"/>
              </a:gs>
            </a:gsLst>
            <a:lin ang="0" scaled="1"/>
          </a:gradFill>
          <a:ln w="38100">
            <a:gradFill flip="none" rotWithShape="1">
              <a:gsLst>
                <a:gs pos="0">
                  <a:srgbClr val="00CCFF"/>
                </a:gs>
                <a:gs pos="100000">
                  <a:srgbClr val="0000FF"/>
                </a:gs>
              </a:gsLst>
              <a:lin ang="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nvGrpSpPr>
          <p:cNvPr id="29" name="Group 28">
            <a:extLst>
              <a:ext uri="{FF2B5EF4-FFF2-40B4-BE49-F238E27FC236}">
                <a16:creationId xmlns:a16="http://schemas.microsoft.com/office/drawing/2014/main" id="{A72EF2A2-BFC5-60D7-4991-C1DF80BB844A}"/>
              </a:ext>
            </a:extLst>
          </p:cNvPr>
          <p:cNvGrpSpPr/>
          <p:nvPr/>
        </p:nvGrpSpPr>
        <p:grpSpPr>
          <a:xfrm rot="5400000">
            <a:off x="11487150" y="6153150"/>
            <a:ext cx="704850" cy="704850"/>
            <a:chOff x="10538072" y="528484"/>
            <a:chExt cx="1029600" cy="1029600"/>
          </a:xfrm>
          <a:gradFill flip="none" rotWithShape="1">
            <a:gsLst>
              <a:gs pos="0">
                <a:srgbClr val="00CCFF"/>
              </a:gs>
              <a:gs pos="100000">
                <a:srgbClr val="0000FF"/>
              </a:gs>
            </a:gsLst>
            <a:lin ang="2700000" scaled="1"/>
            <a:tileRect/>
          </a:gradFill>
        </p:grpSpPr>
        <p:sp>
          <p:nvSpPr>
            <p:cNvPr id="30" name="Oval 22">
              <a:extLst>
                <a:ext uri="{FF2B5EF4-FFF2-40B4-BE49-F238E27FC236}">
                  <a16:creationId xmlns:a16="http://schemas.microsoft.com/office/drawing/2014/main" id="{33874A12-941A-7FAA-5C1C-53B921C4D949}"/>
                </a:ext>
              </a:extLst>
            </p:cNvPr>
            <p:cNvSpPr/>
            <p:nvPr/>
          </p:nvSpPr>
          <p:spPr>
            <a:xfrm>
              <a:off x="10538072" y="528484"/>
              <a:ext cx="1029600" cy="1029600"/>
            </a:xfrm>
            <a:prstGeom prst="frame">
              <a:avLst/>
            </a:prstGeom>
            <a:grpFill/>
            <a:ln>
              <a:noFill/>
            </a:ln>
            <a:effectLst>
              <a:outerShdw blurRad="177800" dist="114300" dir="2700000" algn="tl" rotWithShape="0">
                <a:srgbClr val="ACB0C0">
                  <a:alpha val="4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1" name="Oval 23">
              <a:extLst>
                <a:ext uri="{FF2B5EF4-FFF2-40B4-BE49-F238E27FC236}">
                  <a16:creationId xmlns:a16="http://schemas.microsoft.com/office/drawing/2014/main" id="{C634E5DE-B099-0283-10F0-7ECCE242E3F6}"/>
                </a:ext>
              </a:extLst>
            </p:cNvPr>
            <p:cNvSpPr/>
            <p:nvPr/>
          </p:nvSpPr>
          <p:spPr>
            <a:xfrm>
              <a:off x="10538337" y="528749"/>
              <a:ext cx="1029071" cy="1029071"/>
            </a:xfrm>
            <a:prstGeom prst="frame">
              <a:avLst/>
            </a:prstGeom>
            <a:grpFill/>
            <a:ln>
              <a:noFill/>
            </a:ln>
            <a:effectLst>
              <a:outerShdw blurRad="114300" dist="114300" dir="13500000" algn="br" rotWithShape="0">
                <a:srgbClr val="FFFFFF">
                  <a:alpha val="5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32" name="TextBox 31">
            <a:extLst>
              <a:ext uri="{FF2B5EF4-FFF2-40B4-BE49-F238E27FC236}">
                <a16:creationId xmlns:a16="http://schemas.microsoft.com/office/drawing/2014/main" id="{9BB52ADC-1A88-D27E-BD9D-3F70B84F88B5}"/>
              </a:ext>
            </a:extLst>
          </p:cNvPr>
          <p:cNvSpPr txBox="1"/>
          <p:nvPr/>
        </p:nvSpPr>
        <p:spPr>
          <a:xfrm>
            <a:off x="11683909" y="6361487"/>
            <a:ext cx="290286" cy="369332"/>
          </a:xfrm>
          <a:prstGeom prst="rect">
            <a:avLst/>
          </a:prstGeom>
          <a:noFill/>
        </p:spPr>
        <p:txBody>
          <a:bodyPr wrap="square" lIns="91440" tIns="45720" rIns="91440" bIns="45720" rtlCol="0" anchor="t">
            <a:spAutoFit/>
          </a:bodyPr>
          <a:lstStyle/>
          <a:p>
            <a:r>
              <a:rPr lang="en-IN" b="1">
                <a:solidFill>
                  <a:schemeClr val="tx1">
                    <a:lumMod val="65000"/>
                    <a:lumOff val="35000"/>
                  </a:schemeClr>
                </a:solidFill>
                <a:latin typeface="Vibur" panose="03000603000000000000" pitchFamily="66" charset="0"/>
              </a:rPr>
              <a:t>8</a:t>
            </a:r>
            <a:endParaRPr lang="en-IN" b="1" dirty="0">
              <a:solidFill>
                <a:schemeClr val="tx1">
                  <a:lumMod val="65000"/>
                  <a:lumOff val="35000"/>
                </a:schemeClr>
              </a:solidFill>
              <a:latin typeface="Vibur" panose="03000603000000000000" pitchFamily="66" charset="0"/>
            </a:endParaRPr>
          </a:p>
        </p:txBody>
      </p:sp>
      <p:pic>
        <p:nvPicPr>
          <p:cNvPr id="7" name="Picture 6" descr="A blue logo with text&#10;&#10;AI-generated content may be incorrect.">
            <a:extLst>
              <a:ext uri="{FF2B5EF4-FFF2-40B4-BE49-F238E27FC236}">
                <a16:creationId xmlns:a16="http://schemas.microsoft.com/office/drawing/2014/main" id="{08CBC4B9-BE72-B3AC-D625-DF59CE61AA08}"/>
              </a:ext>
            </a:extLst>
          </p:cNvPr>
          <p:cNvPicPr>
            <a:picLocks noChangeAspect="1"/>
          </p:cNvPicPr>
          <p:nvPr/>
        </p:nvPicPr>
        <p:blipFill>
          <a:blip r:embed="rId2"/>
          <a:stretch>
            <a:fillRect/>
          </a:stretch>
        </p:blipFill>
        <p:spPr>
          <a:xfrm>
            <a:off x="10228173" y="5806469"/>
            <a:ext cx="356142" cy="689580"/>
          </a:xfrm>
          <a:prstGeom prst="rect">
            <a:avLst/>
          </a:prstGeom>
        </p:spPr>
      </p:pic>
      <p:sp>
        <p:nvSpPr>
          <p:cNvPr id="4" name="TextBox 3">
            <a:extLst>
              <a:ext uri="{FF2B5EF4-FFF2-40B4-BE49-F238E27FC236}">
                <a16:creationId xmlns:a16="http://schemas.microsoft.com/office/drawing/2014/main" id="{813F2B19-5E12-A09C-27C1-DCAB5EFD7C5C}"/>
              </a:ext>
            </a:extLst>
          </p:cNvPr>
          <p:cNvSpPr txBox="1"/>
          <p:nvPr/>
        </p:nvSpPr>
        <p:spPr>
          <a:xfrm>
            <a:off x="3447802" y="680113"/>
            <a:ext cx="4682434"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a:ea typeface="Calibri" panose="020F0502020204030204"/>
                <a:cs typeface="Calibri" panose="020F0502020204030204"/>
              </a:rPr>
              <a:t>Resnet-18 Model </a:t>
            </a:r>
            <a:r>
              <a:rPr lang="en-US" sz="2800" b="1">
                <a:ea typeface="Calibri" panose="020F0502020204030204"/>
                <a:cs typeface="Calibri" panose="020F0502020204030204"/>
              </a:rPr>
              <a:t>Architecture</a:t>
            </a:r>
            <a:r>
              <a:rPr lang="en-US" sz="2800" b="1" dirty="0">
                <a:ea typeface="Calibri" panose="020F0502020204030204"/>
                <a:cs typeface="Calibri" panose="020F0502020204030204"/>
              </a:rPr>
              <a:t>​</a:t>
            </a:r>
          </a:p>
        </p:txBody>
      </p:sp>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4E2A92AA-4245-C1F9-B880-A3F049EC1E22}"/>
                  </a:ext>
                </a:extLst>
              </p:cNvPr>
              <p:cNvSpPr txBox="1"/>
              <p:nvPr/>
            </p:nvSpPr>
            <p:spPr>
              <a:xfrm>
                <a:off x="1196662" y="1475704"/>
                <a:ext cx="8816661" cy="4247317"/>
              </a:xfrm>
              <a:prstGeom prst="rect">
                <a:avLst/>
              </a:prstGeom>
              <a:solidFill>
                <a:schemeClr val="accent1">
                  <a:lumMod val="60000"/>
                  <a:lumOff val="40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rgbClr val="FFFFFF"/>
                    </a:solidFill>
                  </a:rPr>
                  <a:t>Why ResNet-18?</a:t>
                </a:r>
              </a:p>
              <a:p>
                <a:r>
                  <a:rPr lang="en-US">
                    <a:solidFill>
                      <a:srgbClr val="FFFFFF"/>
                    </a:solidFill>
                  </a:rPr>
                  <a:t>ResNet-18 was selected because it offers a balance between computational efficiency and classification performance.</a:t>
                </a:r>
              </a:p>
              <a:p>
                <a:r>
                  <a:rPr lang="en-US" b="1">
                    <a:solidFill>
                      <a:srgbClr val="FFFFFF"/>
                    </a:solidFill>
                  </a:rPr>
                  <a:t>Advantages</a:t>
                </a:r>
              </a:p>
              <a:p>
                <a:pPr>
                  <a:buFont typeface=""/>
                  <a:buChar char="•"/>
                </a:pPr>
                <a:r>
                  <a:rPr lang="en-US">
                    <a:solidFill>
                      <a:srgbClr val="FFFFFF"/>
                    </a:solidFill>
                  </a:rPr>
                  <a:t>Residual Learning</a:t>
                </a:r>
              </a:p>
              <a:p>
                <a:pPr>
                  <a:buFont typeface=""/>
                  <a:buChar char="•"/>
                </a:pPr>
                <a:r>
                  <a:rPr lang="en-US">
                    <a:solidFill>
                      <a:srgbClr val="FFFFFF"/>
                    </a:solidFill>
                  </a:rPr>
                  <a:t>Faster Convergence</a:t>
                </a:r>
              </a:p>
              <a:p>
                <a:pPr>
                  <a:buFont typeface=""/>
                  <a:buChar char="•"/>
                </a:pPr>
                <a:r>
                  <a:rPr lang="en-US">
                    <a:solidFill>
                      <a:srgbClr val="FFFFFF"/>
                    </a:solidFill>
                  </a:rPr>
                  <a:t>Reduced Vanishing Gradient</a:t>
                </a:r>
              </a:p>
              <a:p>
                <a:pPr>
                  <a:buFont typeface=""/>
                  <a:buChar char="•"/>
                </a:pPr>
                <a:r>
                  <a:rPr lang="en-US">
                    <a:solidFill>
                      <a:srgbClr val="FFFFFF"/>
                    </a:solidFill>
                  </a:rPr>
                  <a:t>Lightweight Architecture</a:t>
                </a:r>
              </a:p>
              <a:p>
                <a:r>
                  <a:rPr lang="en-US" b="1">
                    <a:solidFill>
                      <a:srgbClr val="FFFFFF"/>
                    </a:solidFill>
                  </a:rPr>
                  <a:t>Residual Mapping</a:t>
                </a:r>
              </a:p>
              <a:p>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𝑦</m:t>
                      </m:r>
                      <m:r>
                        <a:rPr lang="en-US" i="0">
                          <a:latin typeface="Cambria Math" panose="02040503050406030204" pitchFamily="18" charset="0"/>
                        </a:rPr>
                        <m:t>=</m:t>
                      </m:r>
                      <m:r>
                        <a:rPr lang="en-US" i="1">
                          <a:latin typeface="Cambria Math" panose="02040503050406030204" pitchFamily="18" charset="0"/>
                        </a:rPr>
                        <m:t>𝐹</m:t>
                      </m:r>
                      <m:d>
                        <m:dPr>
                          <m:sepChr m:val=","/>
                          <m:ctrlPr>
                            <a:rPr lang="en-US" i="1">
                              <a:latin typeface="Cambria Math" panose="02040503050406030204" pitchFamily="18" charset="0"/>
                            </a:rPr>
                          </m:ctrlPr>
                        </m:dPr>
                        <m:e>
                          <m:r>
                            <a:rPr lang="en-US" i="1">
                              <a:latin typeface="Cambria Math" panose="02040503050406030204" pitchFamily="18" charset="0"/>
                            </a:rPr>
                            <m:t>𝑥</m:t>
                          </m:r>
                        </m:e>
                        <m:e>
                          <m:r>
                            <a:rPr lang="en-US" i="1">
                              <a:latin typeface="Cambria Math" panose="02040503050406030204" pitchFamily="18" charset="0"/>
                            </a:rPr>
                            <m:t>𝑊</m:t>
                          </m:r>
                        </m:e>
                      </m:d>
                      <m:r>
                        <a:rPr lang="en-US" i="0">
                          <a:latin typeface="Cambria Math" panose="02040503050406030204" pitchFamily="18" charset="0"/>
                        </a:rPr>
                        <m:t>+</m:t>
                      </m:r>
                      <m:r>
                        <a:rPr lang="en-US" i="1">
                          <a:latin typeface="Cambria Math" panose="02040503050406030204" pitchFamily="18" charset="0"/>
                        </a:rPr>
                        <m:t>𝑥</m:t>
                      </m:r>
                    </m:oMath>
                  </m:oMathPara>
                </a14:m>
                <a:endParaRPr lang="en-US"/>
              </a:p>
              <a:p>
                <a:r>
                  <a:rPr lang="en-US" b="1">
                    <a:solidFill>
                      <a:srgbClr val="FFFFFF"/>
                    </a:solidFill>
                  </a:rPr>
                  <a:t>Architecture Summary</a:t>
                </a:r>
              </a:p>
              <a:p>
                <a:pPr>
                  <a:buFont typeface=""/>
                  <a:buChar char="•"/>
                </a:pPr>
                <a:r>
                  <a:rPr lang="en-US">
                    <a:solidFill>
                      <a:srgbClr val="FFFFFF"/>
                    </a:solidFill>
                  </a:rPr>
                  <a:t>18 Layers</a:t>
                </a:r>
              </a:p>
              <a:p>
                <a:pPr>
                  <a:buFont typeface=""/>
                  <a:buChar char="•"/>
                </a:pPr>
                <a:r>
                  <a:rPr lang="en-US">
                    <a:solidFill>
                      <a:srgbClr val="FFFFFF"/>
                    </a:solidFill>
                  </a:rPr>
                  <a:t>Residual Blocks</a:t>
                </a:r>
              </a:p>
              <a:p>
                <a:pPr>
                  <a:buFont typeface=""/>
                  <a:buChar char="•"/>
                </a:pPr>
                <a:r>
                  <a:rPr lang="en-US">
                    <a:solidFill>
                      <a:srgbClr val="FFFFFF"/>
                    </a:solidFill>
                  </a:rPr>
                  <a:t>Approximately 11 Million Parameters</a:t>
                </a:r>
              </a:p>
              <a:p>
                <a:pPr algn="ctr"/>
                <a:endParaRPr lang="en-US"/>
              </a:p>
            </p:txBody>
          </p:sp>
        </mc:Choice>
        <mc:Fallback>
          <p:sp>
            <p:nvSpPr>
              <p:cNvPr id="8" name="TextBox 7">
                <a:extLst>
                  <a:ext uri="{FF2B5EF4-FFF2-40B4-BE49-F238E27FC236}">
                    <a16:creationId xmlns:a16="http://schemas.microsoft.com/office/drawing/2014/main" id="{4E2A92AA-4245-C1F9-B880-A3F049EC1E22}"/>
                  </a:ext>
                </a:extLst>
              </p:cNvPr>
              <p:cNvSpPr txBox="1">
                <a:spLocks noRot="1" noChangeAspect="1" noMove="1" noResize="1" noEditPoints="1" noAdjustHandles="1" noChangeArrowheads="1" noChangeShapeType="1" noTextEdit="1"/>
              </p:cNvSpPr>
              <p:nvPr/>
            </p:nvSpPr>
            <p:spPr>
              <a:xfrm>
                <a:off x="1196662" y="1475704"/>
                <a:ext cx="8816661" cy="4247317"/>
              </a:xfrm>
              <a:prstGeom prst="rect">
                <a:avLst/>
              </a:prstGeom>
              <a:blipFill>
                <a:blip r:embed="rId3"/>
                <a:stretch>
                  <a:fillRect l="-553" t="-717"/>
                </a:stretch>
              </a:blipFill>
            </p:spPr>
            <p:txBody>
              <a:bodyPr/>
              <a:lstStyle/>
              <a:p>
                <a:r>
                  <a:rPr lang="en-US">
                    <a:noFill/>
                  </a:rPr>
                  <a:t> </a:t>
                </a:r>
              </a:p>
            </p:txBody>
          </p:sp>
        </mc:Fallback>
      </mc:AlternateContent>
    </p:spTree>
    <p:extLst>
      <p:ext uri="{BB962C8B-B14F-4D97-AF65-F5344CB8AC3E}">
        <p14:creationId xmlns:p14="http://schemas.microsoft.com/office/powerpoint/2010/main" val="801920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BECF0"/>
        </a:solidFill>
        <a:effectLst/>
      </p:bgPr>
    </p:bg>
    <p:spTree>
      <p:nvGrpSpPr>
        <p:cNvPr id="1" name="">
          <a:extLst>
            <a:ext uri="{FF2B5EF4-FFF2-40B4-BE49-F238E27FC236}">
              <a16:creationId xmlns:a16="http://schemas.microsoft.com/office/drawing/2014/main" id="{21A9CBBF-365F-20F1-B9D1-A5DBA555AEAD}"/>
            </a:ext>
          </a:extLst>
        </p:cNvPr>
        <p:cNvGrpSpPr/>
        <p:nvPr/>
      </p:nvGrpSpPr>
      <p:grpSpPr>
        <a:xfrm>
          <a:off x="0" y="0"/>
          <a:ext cx="0" cy="0"/>
          <a:chOff x="0" y="0"/>
          <a:chExt cx="0" cy="0"/>
        </a:xfrm>
      </p:grpSpPr>
      <p:grpSp>
        <p:nvGrpSpPr>
          <p:cNvPr id="59" name="Group 58">
            <a:extLst>
              <a:ext uri="{FF2B5EF4-FFF2-40B4-BE49-F238E27FC236}">
                <a16:creationId xmlns:a16="http://schemas.microsoft.com/office/drawing/2014/main" id="{8A88FE8B-4668-9FB2-BB90-02A995DE565B}"/>
              </a:ext>
            </a:extLst>
          </p:cNvPr>
          <p:cNvGrpSpPr/>
          <p:nvPr/>
        </p:nvGrpSpPr>
        <p:grpSpPr>
          <a:xfrm>
            <a:off x="618906" y="243821"/>
            <a:ext cx="10334494" cy="6446716"/>
            <a:chOff x="1162348" y="1677368"/>
            <a:chExt cx="3266778" cy="3266778"/>
          </a:xfrm>
        </p:grpSpPr>
        <p:sp>
          <p:nvSpPr>
            <p:cNvPr id="60" name="Oval 34">
              <a:extLst>
                <a:ext uri="{FF2B5EF4-FFF2-40B4-BE49-F238E27FC236}">
                  <a16:creationId xmlns:a16="http://schemas.microsoft.com/office/drawing/2014/main" id="{31833D0E-DD3C-39EC-45A2-8590D3E2CBD9}"/>
                </a:ext>
              </a:extLst>
            </p:cNvPr>
            <p:cNvSpPr/>
            <p:nvPr/>
          </p:nvSpPr>
          <p:spPr>
            <a:xfrm>
              <a:off x="1162348" y="1677368"/>
              <a:ext cx="3266778" cy="3266778"/>
            </a:xfrm>
            <a:prstGeom prst="roundRect">
              <a:avLst/>
            </a:prstGeom>
            <a:solidFill>
              <a:srgbClr val="EBECF0"/>
            </a:solidFill>
            <a:ln>
              <a:noFill/>
            </a:ln>
            <a:effectLst>
              <a:outerShdw blurRad="177800" dist="114300" dir="2700000" algn="tl" rotWithShape="0">
                <a:srgbClr val="ACB0C0">
                  <a:alpha val="4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1" name="Oval 35">
              <a:extLst>
                <a:ext uri="{FF2B5EF4-FFF2-40B4-BE49-F238E27FC236}">
                  <a16:creationId xmlns:a16="http://schemas.microsoft.com/office/drawing/2014/main" id="{927D6A47-E504-1738-9974-5AF2DBC560D7}"/>
                </a:ext>
              </a:extLst>
            </p:cNvPr>
            <p:cNvSpPr/>
            <p:nvPr/>
          </p:nvSpPr>
          <p:spPr>
            <a:xfrm>
              <a:off x="1162348" y="1677368"/>
              <a:ext cx="3266778" cy="3266778"/>
            </a:xfrm>
            <a:prstGeom prst="roundRect">
              <a:avLst>
                <a:gd name="adj" fmla="val 6541"/>
              </a:avLst>
            </a:prstGeom>
            <a:solidFill>
              <a:srgbClr val="EBECF0"/>
            </a:solidFill>
            <a:ln>
              <a:noFill/>
            </a:ln>
            <a:effectLst>
              <a:outerShdw blurRad="114300" dist="114300" dir="13500000" algn="br" rotWithShape="0">
                <a:srgbClr val="FFFFFF">
                  <a:alpha val="5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48" name="Freeform: Shape 47">
            <a:extLst>
              <a:ext uri="{FF2B5EF4-FFF2-40B4-BE49-F238E27FC236}">
                <a16:creationId xmlns:a16="http://schemas.microsoft.com/office/drawing/2014/main" id="{7DAEA6D1-68BF-3803-F8D7-56384DF6762A}"/>
              </a:ext>
            </a:extLst>
          </p:cNvPr>
          <p:cNvSpPr/>
          <p:nvPr/>
        </p:nvSpPr>
        <p:spPr>
          <a:xfrm>
            <a:off x="11398434" y="1"/>
            <a:ext cx="793566" cy="993711"/>
          </a:xfrm>
          <a:custGeom>
            <a:avLst/>
            <a:gdLst>
              <a:gd name="connsiteX0" fmla="*/ 74242 w 793566"/>
              <a:gd name="connsiteY0" fmla="*/ 0 h 993711"/>
              <a:gd name="connsiteX1" fmla="*/ 793566 w 793566"/>
              <a:gd name="connsiteY1" fmla="*/ 0 h 993711"/>
              <a:gd name="connsiteX2" fmla="*/ 793566 w 793566"/>
              <a:gd name="connsiteY2" fmla="*/ 983129 h 993711"/>
              <a:gd name="connsiteX3" fmla="*/ 688594 w 793566"/>
              <a:gd name="connsiteY3" fmla="*/ 993711 h 993711"/>
              <a:gd name="connsiteX4" fmla="*/ 0 w 793566"/>
              <a:gd name="connsiteY4" fmla="*/ 305117 h 993711"/>
              <a:gd name="connsiteX5" fmla="*/ 54113 w 793566"/>
              <a:gd name="connsiteY5" fmla="*/ 37085 h 993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93566" h="993711">
                <a:moveTo>
                  <a:pt x="74242" y="0"/>
                </a:moveTo>
                <a:lnTo>
                  <a:pt x="793566" y="0"/>
                </a:lnTo>
                <a:lnTo>
                  <a:pt x="793566" y="983129"/>
                </a:lnTo>
                <a:lnTo>
                  <a:pt x="688594" y="993711"/>
                </a:lnTo>
                <a:cubicBezTo>
                  <a:pt x="308294" y="993711"/>
                  <a:pt x="0" y="685417"/>
                  <a:pt x="0" y="305117"/>
                </a:cubicBezTo>
                <a:cubicBezTo>
                  <a:pt x="0" y="210042"/>
                  <a:pt x="19268" y="119467"/>
                  <a:pt x="54113" y="37085"/>
                </a:cubicBezTo>
                <a:close/>
              </a:path>
            </a:pathLst>
          </a:custGeom>
          <a:gradFill>
            <a:gsLst>
              <a:gs pos="0">
                <a:srgbClr val="00CCFF"/>
              </a:gs>
              <a:gs pos="100000">
                <a:srgbClr val="0000FF"/>
              </a:gs>
            </a:gsLst>
            <a:lin ang="0" scaled="1"/>
          </a:gradFill>
          <a:ln w="38100">
            <a:gradFill flip="none" rotWithShape="1">
              <a:gsLst>
                <a:gs pos="0">
                  <a:srgbClr val="00CCFF"/>
                </a:gs>
                <a:gs pos="100000">
                  <a:srgbClr val="0000FF"/>
                </a:gs>
              </a:gsLst>
              <a:lin ang="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9" name="Oval 48">
            <a:extLst>
              <a:ext uri="{FF2B5EF4-FFF2-40B4-BE49-F238E27FC236}">
                <a16:creationId xmlns:a16="http://schemas.microsoft.com/office/drawing/2014/main" id="{0AA382B2-999C-C86E-BCC6-96CEE793E318}"/>
              </a:ext>
            </a:extLst>
          </p:cNvPr>
          <p:cNvSpPr/>
          <p:nvPr/>
        </p:nvSpPr>
        <p:spPr>
          <a:xfrm>
            <a:off x="10227818" y="681912"/>
            <a:ext cx="1377188" cy="1377188"/>
          </a:xfrm>
          <a:prstGeom prst="ellipse">
            <a:avLst/>
          </a:prstGeom>
          <a:gradFill>
            <a:gsLst>
              <a:gs pos="0">
                <a:srgbClr val="00CCFF"/>
              </a:gs>
              <a:gs pos="100000">
                <a:srgbClr val="0000FF"/>
              </a:gs>
            </a:gsLst>
            <a:lin ang="0" scaled="1"/>
          </a:gradFill>
          <a:ln w="38100">
            <a:gradFill flip="none" rotWithShape="1">
              <a:gsLst>
                <a:gs pos="0">
                  <a:srgbClr val="00CCFF"/>
                </a:gs>
                <a:gs pos="100000">
                  <a:srgbClr val="0000FF"/>
                </a:gs>
              </a:gsLst>
              <a:lin ang="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0" name="Freeform: Shape 49">
            <a:extLst>
              <a:ext uri="{FF2B5EF4-FFF2-40B4-BE49-F238E27FC236}">
                <a16:creationId xmlns:a16="http://schemas.microsoft.com/office/drawing/2014/main" id="{24190095-3DC4-458C-B58D-090EEFB2B7CB}"/>
              </a:ext>
            </a:extLst>
          </p:cNvPr>
          <p:cNvSpPr/>
          <p:nvPr/>
        </p:nvSpPr>
        <p:spPr>
          <a:xfrm>
            <a:off x="11718200" y="1112145"/>
            <a:ext cx="473800" cy="1302014"/>
          </a:xfrm>
          <a:custGeom>
            <a:avLst/>
            <a:gdLst>
              <a:gd name="connsiteX0" fmla="*/ 473800 w 473800"/>
              <a:gd name="connsiteY0" fmla="*/ 0 h 1302014"/>
              <a:gd name="connsiteX1" fmla="*/ 473800 w 473800"/>
              <a:gd name="connsiteY1" fmla="*/ 1302014 h 1302014"/>
              <a:gd name="connsiteX2" fmla="*/ 420562 w 473800"/>
              <a:gd name="connsiteY2" fmla="*/ 1285488 h 1302014"/>
              <a:gd name="connsiteX3" fmla="*/ 0 w 473800"/>
              <a:gd name="connsiteY3" fmla="*/ 651007 h 1302014"/>
              <a:gd name="connsiteX4" fmla="*/ 420562 w 473800"/>
              <a:gd name="connsiteY4" fmla="*/ 16526 h 13020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3800" h="1302014">
                <a:moveTo>
                  <a:pt x="473800" y="0"/>
                </a:moveTo>
                <a:lnTo>
                  <a:pt x="473800" y="1302014"/>
                </a:lnTo>
                <a:lnTo>
                  <a:pt x="420562" y="1285488"/>
                </a:lnTo>
                <a:cubicBezTo>
                  <a:pt x="173415" y="1180954"/>
                  <a:pt x="0" y="936232"/>
                  <a:pt x="0" y="651007"/>
                </a:cubicBezTo>
                <a:cubicBezTo>
                  <a:pt x="0" y="365782"/>
                  <a:pt x="173415" y="121061"/>
                  <a:pt x="420562" y="16526"/>
                </a:cubicBezTo>
                <a:close/>
              </a:path>
            </a:pathLst>
          </a:custGeom>
          <a:gradFill>
            <a:gsLst>
              <a:gs pos="0">
                <a:srgbClr val="00CCFF"/>
              </a:gs>
              <a:gs pos="100000">
                <a:srgbClr val="0000FF"/>
              </a:gs>
            </a:gsLst>
            <a:lin ang="0" scaled="1"/>
          </a:gradFill>
          <a:ln w="38100">
            <a:gradFill flip="none" rotWithShape="1">
              <a:gsLst>
                <a:gs pos="0">
                  <a:srgbClr val="00CCFF"/>
                </a:gs>
                <a:gs pos="100000">
                  <a:srgbClr val="0000FF"/>
                </a:gs>
              </a:gsLst>
              <a:lin ang="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nvGrpSpPr>
          <p:cNvPr id="29" name="Group 28">
            <a:extLst>
              <a:ext uri="{FF2B5EF4-FFF2-40B4-BE49-F238E27FC236}">
                <a16:creationId xmlns:a16="http://schemas.microsoft.com/office/drawing/2014/main" id="{154D124D-35A8-4C0D-B7FF-6494E6A246DF}"/>
              </a:ext>
            </a:extLst>
          </p:cNvPr>
          <p:cNvGrpSpPr/>
          <p:nvPr/>
        </p:nvGrpSpPr>
        <p:grpSpPr>
          <a:xfrm rot="5400000">
            <a:off x="11487150" y="6153150"/>
            <a:ext cx="704850" cy="704850"/>
            <a:chOff x="10538072" y="528484"/>
            <a:chExt cx="1029600" cy="1029600"/>
          </a:xfrm>
          <a:gradFill flip="none" rotWithShape="1">
            <a:gsLst>
              <a:gs pos="0">
                <a:srgbClr val="00CCFF"/>
              </a:gs>
              <a:gs pos="100000">
                <a:srgbClr val="0000FF"/>
              </a:gs>
            </a:gsLst>
            <a:lin ang="2700000" scaled="1"/>
            <a:tileRect/>
          </a:gradFill>
        </p:grpSpPr>
        <p:sp>
          <p:nvSpPr>
            <p:cNvPr id="30" name="Oval 22">
              <a:extLst>
                <a:ext uri="{FF2B5EF4-FFF2-40B4-BE49-F238E27FC236}">
                  <a16:creationId xmlns:a16="http://schemas.microsoft.com/office/drawing/2014/main" id="{91F6A85E-3837-E043-3624-C57CE6B1EC82}"/>
                </a:ext>
              </a:extLst>
            </p:cNvPr>
            <p:cNvSpPr/>
            <p:nvPr/>
          </p:nvSpPr>
          <p:spPr>
            <a:xfrm>
              <a:off x="10538072" y="528484"/>
              <a:ext cx="1029600" cy="1029600"/>
            </a:xfrm>
            <a:prstGeom prst="frame">
              <a:avLst/>
            </a:prstGeom>
            <a:grpFill/>
            <a:ln>
              <a:noFill/>
            </a:ln>
            <a:effectLst>
              <a:outerShdw blurRad="177800" dist="114300" dir="2700000" algn="tl" rotWithShape="0">
                <a:srgbClr val="ACB0C0">
                  <a:alpha val="4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1" name="Oval 23">
              <a:extLst>
                <a:ext uri="{FF2B5EF4-FFF2-40B4-BE49-F238E27FC236}">
                  <a16:creationId xmlns:a16="http://schemas.microsoft.com/office/drawing/2014/main" id="{6C9EFA44-D913-96F3-4037-AB9471B7C6F6}"/>
                </a:ext>
              </a:extLst>
            </p:cNvPr>
            <p:cNvSpPr/>
            <p:nvPr/>
          </p:nvSpPr>
          <p:spPr>
            <a:xfrm>
              <a:off x="10538337" y="528749"/>
              <a:ext cx="1029071" cy="1029071"/>
            </a:xfrm>
            <a:prstGeom prst="frame">
              <a:avLst/>
            </a:prstGeom>
            <a:grpFill/>
            <a:ln>
              <a:noFill/>
            </a:ln>
            <a:effectLst>
              <a:outerShdw blurRad="114300" dist="114300" dir="13500000" algn="br" rotWithShape="0">
                <a:srgbClr val="FFFFFF">
                  <a:alpha val="5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32" name="TextBox 31">
            <a:extLst>
              <a:ext uri="{FF2B5EF4-FFF2-40B4-BE49-F238E27FC236}">
                <a16:creationId xmlns:a16="http://schemas.microsoft.com/office/drawing/2014/main" id="{965C6A00-9608-5711-BCEA-2F2CB6329BDD}"/>
              </a:ext>
            </a:extLst>
          </p:cNvPr>
          <p:cNvSpPr txBox="1"/>
          <p:nvPr/>
        </p:nvSpPr>
        <p:spPr>
          <a:xfrm>
            <a:off x="11683909" y="6361487"/>
            <a:ext cx="290286" cy="369332"/>
          </a:xfrm>
          <a:prstGeom prst="rect">
            <a:avLst/>
          </a:prstGeom>
          <a:noFill/>
        </p:spPr>
        <p:txBody>
          <a:bodyPr wrap="square" lIns="91440" tIns="45720" rIns="91440" bIns="45720" rtlCol="0" anchor="t">
            <a:spAutoFit/>
          </a:bodyPr>
          <a:lstStyle/>
          <a:p>
            <a:r>
              <a:rPr lang="en-IN" b="1">
                <a:solidFill>
                  <a:schemeClr val="tx1">
                    <a:lumMod val="65000"/>
                    <a:lumOff val="35000"/>
                  </a:schemeClr>
                </a:solidFill>
                <a:latin typeface="Vibur" panose="03000603000000000000" pitchFamily="66" charset="0"/>
              </a:rPr>
              <a:t>9</a:t>
            </a:r>
            <a:endParaRPr lang="en-IN" b="1" dirty="0">
              <a:solidFill>
                <a:schemeClr val="tx1">
                  <a:lumMod val="65000"/>
                  <a:lumOff val="35000"/>
                </a:schemeClr>
              </a:solidFill>
              <a:latin typeface="Vibur" panose="03000603000000000000" pitchFamily="66" charset="0"/>
            </a:endParaRPr>
          </a:p>
        </p:txBody>
      </p:sp>
      <p:sp>
        <p:nvSpPr>
          <p:cNvPr id="3" name="TextBox 2">
            <a:extLst>
              <a:ext uri="{FF2B5EF4-FFF2-40B4-BE49-F238E27FC236}">
                <a16:creationId xmlns:a16="http://schemas.microsoft.com/office/drawing/2014/main" id="{3D01D425-7A96-27F0-2DE8-31537239BBB1}"/>
              </a:ext>
            </a:extLst>
          </p:cNvPr>
          <p:cNvSpPr txBox="1"/>
          <p:nvPr/>
        </p:nvSpPr>
        <p:spPr>
          <a:xfrm>
            <a:off x="1116824" y="3897251"/>
            <a:ext cx="11633" cy="5118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pic>
        <p:nvPicPr>
          <p:cNvPr id="7" name="Picture 6" descr="A blue logo with text&#10;&#10;AI-generated content may be incorrect.">
            <a:extLst>
              <a:ext uri="{FF2B5EF4-FFF2-40B4-BE49-F238E27FC236}">
                <a16:creationId xmlns:a16="http://schemas.microsoft.com/office/drawing/2014/main" id="{EF2EFC82-A450-8714-5428-92E1867C35BF}"/>
              </a:ext>
            </a:extLst>
          </p:cNvPr>
          <p:cNvPicPr>
            <a:picLocks noChangeAspect="1"/>
          </p:cNvPicPr>
          <p:nvPr/>
        </p:nvPicPr>
        <p:blipFill>
          <a:blip r:embed="rId2"/>
          <a:stretch>
            <a:fillRect/>
          </a:stretch>
        </p:blipFill>
        <p:spPr>
          <a:xfrm>
            <a:off x="10228173" y="5806469"/>
            <a:ext cx="356142" cy="689580"/>
          </a:xfrm>
          <a:prstGeom prst="rect">
            <a:avLst/>
          </a:prstGeom>
        </p:spPr>
      </p:pic>
      <p:sp>
        <p:nvSpPr>
          <p:cNvPr id="4" name="TextBox 3">
            <a:extLst>
              <a:ext uri="{FF2B5EF4-FFF2-40B4-BE49-F238E27FC236}">
                <a16:creationId xmlns:a16="http://schemas.microsoft.com/office/drawing/2014/main" id="{837AA11A-C8EE-26D2-50B8-FE5B55CE947D}"/>
              </a:ext>
            </a:extLst>
          </p:cNvPr>
          <p:cNvSpPr txBox="1"/>
          <p:nvPr/>
        </p:nvSpPr>
        <p:spPr>
          <a:xfrm>
            <a:off x="3152661" y="680113"/>
            <a:ext cx="5889828"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a:ea typeface="Calibri" panose="020F0502020204030204"/>
                <a:cs typeface="Calibri" panose="020F0502020204030204"/>
              </a:rPr>
              <a:t>Explainabi</a:t>
            </a:r>
            <a:r>
              <a:rPr lang="en-US" sz="2800" b="1">
                <a:ea typeface="Calibri" panose="020F0502020204030204"/>
                <a:cs typeface="Calibri" panose="020F0502020204030204"/>
              </a:rPr>
              <a:t>lity Method 1- GRAD-CAM</a:t>
            </a:r>
            <a:r>
              <a:rPr lang="en-US" sz="2800" b="1" dirty="0">
                <a:ea typeface="Calibri" panose="020F0502020204030204"/>
                <a:cs typeface="Calibri" panose="020F0502020204030204"/>
              </a:rPr>
              <a:t>​</a:t>
            </a:r>
          </a:p>
        </p:txBody>
      </p:sp>
      <p:sp>
        <p:nvSpPr>
          <p:cNvPr id="5" name="TextBox 4">
            <a:extLst>
              <a:ext uri="{FF2B5EF4-FFF2-40B4-BE49-F238E27FC236}">
                <a16:creationId xmlns:a16="http://schemas.microsoft.com/office/drawing/2014/main" id="{CF14A593-E6A1-C927-17C5-60C105106C22}"/>
              </a:ext>
            </a:extLst>
          </p:cNvPr>
          <p:cNvSpPr txBox="1"/>
          <p:nvPr/>
        </p:nvSpPr>
        <p:spPr>
          <a:xfrm>
            <a:off x="1610637" y="1605434"/>
            <a:ext cx="3082900"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Working Process</a:t>
            </a:r>
            <a:endParaRPr lang="en-US" b="1">
              <a:ea typeface="Calibri"/>
              <a:cs typeface="Calibri"/>
            </a:endParaRPr>
          </a:p>
          <a:p>
            <a:pPr marL="285750" indent="-285750">
              <a:buFont typeface="Arial"/>
              <a:buChar char="•"/>
            </a:pPr>
            <a:r>
              <a:rPr lang="en-US">
                <a:ea typeface="+mn-lt"/>
                <a:cs typeface="+mn-lt"/>
              </a:rPr>
              <a:t>Forward Propagation</a:t>
            </a:r>
            <a:endParaRPr lang="en-US">
              <a:ea typeface="Calibri"/>
              <a:cs typeface="Calibri"/>
            </a:endParaRPr>
          </a:p>
          <a:p>
            <a:pPr marL="285750" indent="-285750">
              <a:buFont typeface="Arial"/>
              <a:buChar char="•"/>
            </a:pPr>
            <a:r>
              <a:rPr lang="en-US">
                <a:ea typeface="+mn-lt"/>
                <a:cs typeface="+mn-lt"/>
              </a:rPr>
              <a:t>Gradient Computation</a:t>
            </a:r>
            <a:endParaRPr lang="en-US">
              <a:ea typeface="Calibri"/>
              <a:cs typeface="Calibri"/>
            </a:endParaRPr>
          </a:p>
          <a:p>
            <a:pPr marL="285750" indent="-285750">
              <a:buFont typeface="Arial"/>
              <a:buChar char="•"/>
            </a:pPr>
            <a:r>
              <a:rPr lang="en-US">
                <a:ea typeface="+mn-lt"/>
                <a:cs typeface="+mn-lt"/>
              </a:rPr>
              <a:t>Feature Map Weighting</a:t>
            </a:r>
            <a:endParaRPr lang="en-US">
              <a:ea typeface="Calibri"/>
              <a:cs typeface="Calibri"/>
            </a:endParaRPr>
          </a:p>
          <a:p>
            <a:pPr marL="285750" indent="-285750">
              <a:buFont typeface="Arial"/>
              <a:buChar char="•"/>
            </a:pPr>
            <a:r>
              <a:rPr lang="en-US">
                <a:ea typeface="+mn-lt"/>
                <a:cs typeface="+mn-lt"/>
              </a:rPr>
              <a:t>Heatmap Generation</a:t>
            </a:r>
            <a:endParaRPr lang="en-US">
              <a:ea typeface="Calibri"/>
              <a:cs typeface="Calibri"/>
            </a:endParaRPr>
          </a:p>
        </p:txBody>
      </p:sp>
      <p:sp>
        <p:nvSpPr>
          <p:cNvPr id="6" name="TextBox 5">
            <a:extLst>
              <a:ext uri="{FF2B5EF4-FFF2-40B4-BE49-F238E27FC236}">
                <a16:creationId xmlns:a16="http://schemas.microsoft.com/office/drawing/2014/main" id="{60DA3C37-79B4-5F1E-C6F0-B26EF9F89912}"/>
              </a:ext>
            </a:extLst>
          </p:cNvPr>
          <p:cNvSpPr txBox="1"/>
          <p:nvPr/>
        </p:nvSpPr>
        <p:spPr>
          <a:xfrm>
            <a:off x="7143186" y="1605434"/>
            <a:ext cx="3082900"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Advantages</a:t>
            </a:r>
            <a:endParaRPr lang="en-US" b="1">
              <a:ea typeface="Calibri"/>
              <a:cs typeface="Calibri"/>
            </a:endParaRPr>
          </a:p>
          <a:p>
            <a:pPr marL="285750" indent="-285750">
              <a:buFont typeface="Arial"/>
              <a:buChar char="•"/>
            </a:pPr>
            <a:r>
              <a:rPr lang="en-US">
                <a:ea typeface="+mn-lt"/>
                <a:cs typeface="+mn-lt"/>
              </a:rPr>
              <a:t>Fast execution</a:t>
            </a:r>
            <a:endParaRPr lang="en-US">
              <a:ea typeface="Calibri"/>
              <a:cs typeface="Calibri"/>
            </a:endParaRPr>
          </a:p>
          <a:p>
            <a:pPr marL="285750" indent="-285750">
              <a:buFont typeface="Arial"/>
              <a:buChar char="•"/>
            </a:pPr>
            <a:r>
              <a:rPr lang="en-US">
                <a:ea typeface="+mn-lt"/>
                <a:cs typeface="+mn-lt"/>
              </a:rPr>
              <a:t>Easy visualization</a:t>
            </a:r>
            <a:endParaRPr lang="en-US">
              <a:ea typeface="Calibri"/>
              <a:cs typeface="Calibri"/>
            </a:endParaRPr>
          </a:p>
          <a:p>
            <a:pPr>
              <a:buFont typeface="Arial"/>
              <a:buChar char="•"/>
            </a:pPr>
            <a:r>
              <a:rPr lang="en-US">
                <a:ea typeface="+mn-lt"/>
                <a:cs typeface="+mn-lt"/>
              </a:rPr>
              <a:t>    Suitable for CNNs</a:t>
            </a:r>
            <a:endParaRPr lang="en-US">
              <a:ea typeface="Calibri"/>
              <a:cs typeface="Calibri"/>
            </a:endParaRPr>
          </a:p>
        </p:txBody>
      </p:sp>
      <p:sp>
        <p:nvSpPr>
          <p:cNvPr id="8" name="TextBox 7">
            <a:extLst>
              <a:ext uri="{FF2B5EF4-FFF2-40B4-BE49-F238E27FC236}">
                <a16:creationId xmlns:a16="http://schemas.microsoft.com/office/drawing/2014/main" id="{C80FD810-91E5-7BEA-D22C-1E13927FAFB5}"/>
              </a:ext>
            </a:extLst>
          </p:cNvPr>
          <p:cNvSpPr txBox="1"/>
          <p:nvPr/>
        </p:nvSpPr>
        <p:spPr>
          <a:xfrm>
            <a:off x="1611988" y="3242247"/>
            <a:ext cx="657297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ea typeface="Calibri"/>
                <a:cs typeface="Calibri"/>
              </a:rPr>
              <a:t>Limitations:</a:t>
            </a:r>
            <a:r>
              <a:rPr lang="en-US">
                <a:ea typeface="Calibri"/>
                <a:cs typeface="Calibri"/>
              </a:rPr>
              <a:t> </a:t>
            </a:r>
            <a:r>
              <a:rPr lang="en-US">
                <a:ea typeface="+mn-lt"/>
                <a:cs typeface="+mn-lt"/>
              </a:rPr>
              <a:t>Produces low-resolution localization maps.</a:t>
            </a:r>
          </a:p>
        </p:txBody>
      </p:sp>
      <p:pic>
        <p:nvPicPr>
          <p:cNvPr id="9" name="Picture 8" descr="A dog standing on a tile floor&#10;&#10;AI-generated content may be incorrect.">
            <a:extLst>
              <a:ext uri="{FF2B5EF4-FFF2-40B4-BE49-F238E27FC236}">
                <a16:creationId xmlns:a16="http://schemas.microsoft.com/office/drawing/2014/main" id="{EF042FC5-0EFA-81E0-4934-6675CEFE5CF3}"/>
              </a:ext>
            </a:extLst>
          </p:cNvPr>
          <p:cNvPicPr>
            <a:picLocks noChangeAspect="1"/>
          </p:cNvPicPr>
          <p:nvPr/>
        </p:nvPicPr>
        <p:blipFill>
          <a:blip r:embed="rId3"/>
          <a:stretch>
            <a:fillRect/>
          </a:stretch>
        </p:blipFill>
        <p:spPr>
          <a:xfrm>
            <a:off x="3540482" y="4155583"/>
            <a:ext cx="1219200" cy="1219200"/>
          </a:xfrm>
          <a:prstGeom prst="rect">
            <a:avLst/>
          </a:prstGeom>
        </p:spPr>
      </p:pic>
      <p:pic>
        <p:nvPicPr>
          <p:cNvPr id="10" name="Picture 9" descr="A cat sitting on a window sill&#10;&#10;AI-generated content may be incorrect.">
            <a:extLst>
              <a:ext uri="{FF2B5EF4-FFF2-40B4-BE49-F238E27FC236}">
                <a16:creationId xmlns:a16="http://schemas.microsoft.com/office/drawing/2014/main" id="{6C259A47-4626-2B4B-2EEB-6AE6BC384358}"/>
              </a:ext>
            </a:extLst>
          </p:cNvPr>
          <p:cNvPicPr>
            <a:picLocks noChangeAspect="1"/>
          </p:cNvPicPr>
          <p:nvPr/>
        </p:nvPicPr>
        <p:blipFill>
          <a:blip r:embed="rId4"/>
          <a:stretch>
            <a:fillRect/>
          </a:stretch>
        </p:blipFill>
        <p:spPr>
          <a:xfrm>
            <a:off x="1829336" y="4158267"/>
            <a:ext cx="1219200" cy="1219200"/>
          </a:xfrm>
          <a:prstGeom prst="rect">
            <a:avLst/>
          </a:prstGeom>
        </p:spPr>
      </p:pic>
      <p:pic>
        <p:nvPicPr>
          <p:cNvPr id="11" name="Picture 10" descr="A cat with rainbow colors&#10;&#10;AI-generated content may be incorrect.">
            <a:extLst>
              <a:ext uri="{FF2B5EF4-FFF2-40B4-BE49-F238E27FC236}">
                <a16:creationId xmlns:a16="http://schemas.microsoft.com/office/drawing/2014/main" id="{B2EE0ECF-1C70-7472-68EC-F96E58BEA597}"/>
              </a:ext>
            </a:extLst>
          </p:cNvPr>
          <p:cNvPicPr>
            <a:picLocks noChangeAspect="1"/>
          </p:cNvPicPr>
          <p:nvPr/>
        </p:nvPicPr>
        <p:blipFill>
          <a:blip r:embed="rId5"/>
          <a:stretch>
            <a:fillRect/>
          </a:stretch>
        </p:blipFill>
        <p:spPr>
          <a:xfrm>
            <a:off x="5256994" y="4155583"/>
            <a:ext cx="1219200" cy="1219200"/>
          </a:xfrm>
          <a:prstGeom prst="rect">
            <a:avLst/>
          </a:prstGeom>
        </p:spPr>
      </p:pic>
      <p:pic>
        <p:nvPicPr>
          <p:cNvPr id="12" name="Picture 11" descr="A dog standing on a tile floor&#10;&#10;AI-generated content may be incorrect.">
            <a:extLst>
              <a:ext uri="{FF2B5EF4-FFF2-40B4-BE49-F238E27FC236}">
                <a16:creationId xmlns:a16="http://schemas.microsoft.com/office/drawing/2014/main" id="{9C255966-4CFE-3D60-D87F-6CBD98A92FA0}"/>
              </a:ext>
            </a:extLst>
          </p:cNvPr>
          <p:cNvPicPr>
            <a:picLocks noChangeAspect="1"/>
          </p:cNvPicPr>
          <p:nvPr/>
        </p:nvPicPr>
        <p:blipFill>
          <a:blip r:embed="rId6"/>
          <a:stretch>
            <a:fillRect/>
          </a:stretch>
        </p:blipFill>
        <p:spPr>
          <a:xfrm>
            <a:off x="6973507" y="4158266"/>
            <a:ext cx="1219200" cy="1219200"/>
          </a:xfrm>
          <a:prstGeom prst="rect">
            <a:avLst/>
          </a:prstGeom>
        </p:spPr>
      </p:pic>
      <p:pic>
        <p:nvPicPr>
          <p:cNvPr id="13" name="Picture 12" descr="A cat with rainbow colors&#10;&#10;AI-generated content may be incorrect.">
            <a:extLst>
              <a:ext uri="{FF2B5EF4-FFF2-40B4-BE49-F238E27FC236}">
                <a16:creationId xmlns:a16="http://schemas.microsoft.com/office/drawing/2014/main" id="{12981994-F92D-70B5-929E-6EEC069FCC8C}"/>
              </a:ext>
            </a:extLst>
          </p:cNvPr>
          <p:cNvPicPr>
            <a:picLocks noChangeAspect="1"/>
          </p:cNvPicPr>
          <p:nvPr/>
        </p:nvPicPr>
        <p:blipFill>
          <a:blip r:embed="rId7"/>
          <a:stretch>
            <a:fillRect/>
          </a:stretch>
        </p:blipFill>
        <p:spPr>
          <a:xfrm>
            <a:off x="8684653" y="4155583"/>
            <a:ext cx="1219200" cy="1219200"/>
          </a:xfrm>
          <a:prstGeom prst="rect">
            <a:avLst/>
          </a:prstGeom>
        </p:spPr>
      </p:pic>
    </p:spTree>
    <p:extLst>
      <p:ext uri="{BB962C8B-B14F-4D97-AF65-F5344CB8AC3E}">
        <p14:creationId xmlns:p14="http://schemas.microsoft.com/office/powerpoint/2010/main" val="5308669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BECF0"/>
        </a:solidFill>
        <a:effectLst/>
      </p:bgPr>
    </p:bg>
    <p:spTree>
      <p:nvGrpSpPr>
        <p:cNvPr id="1" name="">
          <a:extLst>
            <a:ext uri="{FF2B5EF4-FFF2-40B4-BE49-F238E27FC236}">
              <a16:creationId xmlns:a16="http://schemas.microsoft.com/office/drawing/2014/main" id="{274ABB77-CD5E-2629-FEB3-174C38AA5E4A}"/>
            </a:ext>
          </a:extLst>
        </p:cNvPr>
        <p:cNvGrpSpPr/>
        <p:nvPr/>
      </p:nvGrpSpPr>
      <p:grpSpPr>
        <a:xfrm>
          <a:off x="0" y="0"/>
          <a:ext cx="0" cy="0"/>
          <a:chOff x="0" y="0"/>
          <a:chExt cx="0" cy="0"/>
        </a:xfrm>
      </p:grpSpPr>
      <p:grpSp>
        <p:nvGrpSpPr>
          <p:cNvPr id="59" name="Group 58">
            <a:extLst>
              <a:ext uri="{FF2B5EF4-FFF2-40B4-BE49-F238E27FC236}">
                <a16:creationId xmlns:a16="http://schemas.microsoft.com/office/drawing/2014/main" id="{52519E3A-8D65-D365-C439-240B883824AC}"/>
              </a:ext>
            </a:extLst>
          </p:cNvPr>
          <p:cNvGrpSpPr/>
          <p:nvPr/>
        </p:nvGrpSpPr>
        <p:grpSpPr>
          <a:xfrm>
            <a:off x="618906" y="243821"/>
            <a:ext cx="10334494" cy="6446716"/>
            <a:chOff x="1162348" y="1677368"/>
            <a:chExt cx="3266778" cy="3266778"/>
          </a:xfrm>
        </p:grpSpPr>
        <p:sp>
          <p:nvSpPr>
            <p:cNvPr id="60" name="Oval 34">
              <a:extLst>
                <a:ext uri="{FF2B5EF4-FFF2-40B4-BE49-F238E27FC236}">
                  <a16:creationId xmlns:a16="http://schemas.microsoft.com/office/drawing/2014/main" id="{75F63CED-5CFF-51EF-2E80-80E21ACA7DC3}"/>
                </a:ext>
              </a:extLst>
            </p:cNvPr>
            <p:cNvSpPr/>
            <p:nvPr/>
          </p:nvSpPr>
          <p:spPr>
            <a:xfrm>
              <a:off x="1162348" y="1677368"/>
              <a:ext cx="3266778" cy="3266778"/>
            </a:xfrm>
            <a:prstGeom prst="roundRect">
              <a:avLst/>
            </a:prstGeom>
            <a:solidFill>
              <a:srgbClr val="EBECF0"/>
            </a:solidFill>
            <a:ln>
              <a:noFill/>
            </a:ln>
            <a:effectLst>
              <a:outerShdw blurRad="177800" dist="114300" dir="2700000" algn="tl" rotWithShape="0">
                <a:srgbClr val="ACB0C0">
                  <a:alpha val="4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1" name="Oval 35">
              <a:extLst>
                <a:ext uri="{FF2B5EF4-FFF2-40B4-BE49-F238E27FC236}">
                  <a16:creationId xmlns:a16="http://schemas.microsoft.com/office/drawing/2014/main" id="{F922CEF2-2F1B-8905-1EB4-AA439633CE4C}"/>
                </a:ext>
              </a:extLst>
            </p:cNvPr>
            <p:cNvSpPr/>
            <p:nvPr/>
          </p:nvSpPr>
          <p:spPr>
            <a:xfrm>
              <a:off x="1162348" y="1677368"/>
              <a:ext cx="3266778" cy="3266778"/>
            </a:xfrm>
            <a:prstGeom prst="roundRect">
              <a:avLst>
                <a:gd name="adj" fmla="val 6541"/>
              </a:avLst>
            </a:prstGeom>
            <a:solidFill>
              <a:srgbClr val="EBECF0"/>
            </a:solidFill>
            <a:ln>
              <a:noFill/>
            </a:ln>
            <a:effectLst>
              <a:outerShdw blurRad="114300" dist="114300" dir="13500000" algn="br" rotWithShape="0">
                <a:srgbClr val="FFFFFF">
                  <a:alpha val="5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48" name="Freeform: Shape 47">
            <a:extLst>
              <a:ext uri="{FF2B5EF4-FFF2-40B4-BE49-F238E27FC236}">
                <a16:creationId xmlns:a16="http://schemas.microsoft.com/office/drawing/2014/main" id="{431D96F5-1F0D-6714-A0BD-2293EE3F5E79}"/>
              </a:ext>
            </a:extLst>
          </p:cNvPr>
          <p:cNvSpPr/>
          <p:nvPr/>
        </p:nvSpPr>
        <p:spPr>
          <a:xfrm>
            <a:off x="11398434" y="1"/>
            <a:ext cx="793566" cy="993711"/>
          </a:xfrm>
          <a:custGeom>
            <a:avLst/>
            <a:gdLst>
              <a:gd name="connsiteX0" fmla="*/ 74242 w 793566"/>
              <a:gd name="connsiteY0" fmla="*/ 0 h 993711"/>
              <a:gd name="connsiteX1" fmla="*/ 793566 w 793566"/>
              <a:gd name="connsiteY1" fmla="*/ 0 h 993711"/>
              <a:gd name="connsiteX2" fmla="*/ 793566 w 793566"/>
              <a:gd name="connsiteY2" fmla="*/ 983129 h 993711"/>
              <a:gd name="connsiteX3" fmla="*/ 688594 w 793566"/>
              <a:gd name="connsiteY3" fmla="*/ 993711 h 993711"/>
              <a:gd name="connsiteX4" fmla="*/ 0 w 793566"/>
              <a:gd name="connsiteY4" fmla="*/ 305117 h 993711"/>
              <a:gd name="connsiteX5" fmla="*/ 54113 w 793566"/>
              <a:gd name="connsiteY5" fmla="*/ 37085 h 993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93566" h="993711">
                <a:moveTo>
                  <a:pt x="74242" y="0"/>
                </a:moveTo>
                <a:lnTo>
                  <a:pt x="793566" y="0"/>
                </a:lnTo>
                <a:lnTo>
                  <a:pt x="793566" y="983129"/>
                </a:lnTo>
                <a:lnTo>
                  <a:pt x="688594" y="993711"/>
                </a:lnTo>
                <a:cubicBezTo>
                  <a:pt x="308294" y="993711"/>
                  <a:pt x="0" y="685417"/>
                  <a:pt x="0" y="305117"/>
                </a:cubicBezTo>
                <a:cubicBezTo>
                  <a:pt x="0" y="210042"/>
                  <a:pt x="19268" y="119467"/>
                  <a:pt x="54113" y="37085"/>
                </a:cubicBezTo>
                <a:close/>
              </a:path>
            </a:pathLst>
          </a:custGeom>
          <a:gradFill>
            <a:gsLst>
              <a:gs pos="0">
                <a:srgbClr val="00CCFF"/>
              </a:gs>
              <a:gs pos="100000">
                <a:srgbClr val="0000FF"/>
              </a:gs>
            </a:gsLst>
            <a:lin ang="0" scaled="1"/>
          </a:gradFill>
          <a:ln w="38100">
            <a:gradFill flip="none" rotWithShape="1">
              <a:gsLst>
                <a:gs pos="0">
                  <a:srgbClr val="00CCFF"/>
                </a:gs>
                <a:gs pos="100000">
                  <a:srgbClr val="0000FF"/>
                </a:gs>
              </a:gsLst>
              <a:lin ang="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9" name="Oval 48">
            <a:extLst>
              <a:ext uri="{FF2B5EF4-FFF2-40B4-BE49-F238E27FC236}">
                <a16:creationId xmlns:a16="http://schemas.microsoft.com/office/drawing/2014/main" id="{E6BBFE86-B064-2143-30A7-E56E3E93804A}"/>
              </a:ext>
            </a:extLst>
          </p:cNvPr>
          <p:cNvSpPr/>
          <p:nvPr/>
        </p:nvSpPr>
        <p:spPr>
          <a:xfrm>
            <a:off x="10227818" y="681912"/>
            <a:ext cx="1377188" cy="1377188"/>
          </a:xfrm>
          <a:prstGeom prst="ellipse">
            <a:avLst/>
          </a:prstGeom>
          <a:gradFill>
            <a:gsLst>
              <a:gs pos="0">
                <a:srgbClr val="00CCFF"/>
              </a:gs>
              <a:gs pos="100000">
                <a:srgbClr val="0000FF"/>
              </a:gs>
            </a:gsLst>
            <a:lin ang="0" scaled="1"/>
          </a:gradFill>
          <a:ln w="38100">
            <a:gradFill flip="none" rotWithShape="1">
              <a:gsLst>
                <a:gs pos="0">
                  <a:srgbClr val="00CCFF"/>
                </a:gs>
                <a:gs pos="100000">
                  <a:srgbClr val="0000FF"/>
                </a:gs>
              </a:gsLst>
              <a:lin ang="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0" name="Freeform: Shape 49">
            <a:extLst>
              <a:ext uri="{FF2B5EF4-FFF2-40B4-BE49-F238E27FC236}">
                <a16:creationId xmlns:a16="http://schemas.microsoft.com/office/drawing/2014/main" id="{134ABD58-C91D-5581-3AE9-713A14CAD402}"/>
              </a:ext>
            </a:extLst>
          </p:cNvPr>
          <p:cNvSpPr/>
          <p:nvPr/>
        </p:nvSpPr>
        <p:spPr>
          <a:xfrm>
            <a:off x="11718200" y="1112145"/>
            <a:ext cx="473800" cy="1302014"/>
          </a:xfrm>
          <a:custGeom>
            <a:avLst/>
            <a:gdLst>
              <a:gd name="connsiteX0" fmla="*/ 473800 w 473800"/>
              <a:gd name="connsiteY0" fmla="*/ 0 h 1302014"/>
              <a:gd name="connsiteX1" fmla="*/ 473800 w 473800"/>
              <a:gd name="connsiteY1" fmla="*/ 1302014 h 1302014"/>
              <a:gd name="connsiteX2" fmla="*/ 420562 w 473800"/>
              <a:gd name="connsiteY2" fmla="*/ 1285488 h 1302014"/>
              <a:gd name="connsiteX3" fmla="*/ 0 w 473800"/>
              <a:gd name="connsiteY3" fmla="*/ 651007 h 1302014"/>
              <a:gd name="connsiteX4" fmla="*/ 420562 w 473800"/>
              <a:gd name="connsiteY4" fmla="*/ 16526 h 13020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3800" h="1302014">
                <a:moveTo>
                  <a:pt x="473800" y="0"/>
                </a:moveTo>
                <a:lnTo>
                  <a:pt x="473800" y="1302014"/>
                </a:lnTo>
                <a:lnTo>
                  <a:pt x="420562" y="1285488"/>
                </a:lnTo>
                <a:cubicBezTo>
                  <a:pt x="173415" y="1180954"/>
                  <a:pt x="0" y="936232"/>
                  <a:pt x="0" y="651007"/>
                </a:cubicBezTo>
                <a:cubicBezTo>
                  <a:pt x="0" y="365782"/>
                  <a:pt x="173415" y="121061"/>
                  <a:pt x="420562" y="16526"/>
                </a:cubicBezTo>
                <a:close/>
              </a:path>
            </a:pathLst>
          </a:custGeom>
          <a:gradFill>
            <a:gsLst>
              <a:gs pos="0">
                <a:srgbClr val="00CCFF"/>
              </a:gs>
              <a:gs pos="100000">
                <a:srgbClr val="0000FF"/>
              </a:gs>
            </a:gsLst>
            <a:lin ang="0" scaled="1"/>
          </a:gradFill>
          <a:ln w="38100">
            <a:gradFill flip="none" rotWithShape="1">
              <a:gsLst>
                <a:gs pos="0">
                  <a:srgbClr val="00CCFF"/>
                </a:gs>
                <a:gs pos="100000">
                  <a:srgbClr val="0000FF"/>
                </a:gs>
              </a:gsLst>
              <a:lin ang="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nvGrpSpPr>
          <p:cNvPr id="29" name="Group 28">
            <a:extLst>
              <a:ext uri="{FF2B5EF4-FFF2-40B4-BE49-F238E27FC236}">
                <a16:creationId xmlns:a16="http://schemas.microsoft.com/office/drawing/2014/main" id="{5DA09DFB-993E-ABFC-B331-B80DF3B93F84}"/>
              </a:ext>
            </a:extLst>
          </p:cNvPr>
          <p:cNvGrpSpPr/>
          <p:nvPr/>
        </p:nvGrpSpPr>
        <p:grpSpPr>
          <a:xfrm rot="5400000">
            <a:off x="11487150" y="6153150"/>
            <a:ext cx="704850" cy="704850"/>
            <a:chOff x="10538072" y="528484"/>
            <a:chExt cx="1029600" cy="1029600"/>
          </a:xfrm>
          <a:gradFill flip="none" rotWithShape="1">
            <a:gsLst>
              <a:gs pos="0">
                <a:srgbClr val="00CCFF"/>
              </a:gs>
              <a:gs pos="100000">
                <a:srgbClr val="0000FF"/>
              </a:gs>
            </a:gsLst>
            <a:lin ang="2700000" scaled="1"/>
            <a:tileRect/>
          </a:gradFill>
        </p:grpSpPr>
        <p:sp>
          <p:nvSpPr>
            <p:cNvPr id="30" name="Oval 22">
              <a:extLst>
                <a:ext uri="{FF2B5EF4-FFF2-40B4-BE49-F238E27FC236}">
                  <a16:creationId xmlns:a16="http://schemas.microsoft.com/office/drawing/2014/main" id="{8AE6112C-020C-3222-8F11-E7B5E1DFE3F9}"/>
                </a:ext>
              </a:extLst>
            </p:cNvPr>
            <p:cNvSpPr/>
            <p:nvPr/>
          </p:nvSpPr>
          <p:spPr>
            <a:xfrm>
              <a:off x="10538072" y="528484"/>
              <a:ext cx="1029600" cy="1029600"/>
            </a:xfrm>
            <a:prstGeom prst="frame">
              <a:avLst/>
            </a:prstGeom>
            <a:grpFill/>
            <a:ln>
              <a:noFill/>
            </a:ln>
            <a:effectLst>
              <a:outerShdw blurRad="177800" dist="114300" dir="2700000" algn="tl" rotWithShape="0">
                <a:srgbClr val="ACB0C0">
                  <a:alpha val="4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1" name="Oval 23">
              <a:extLst>
                <a:ext uri="{FF2B5EF4-FFF2-40B4-BE49-F238E27FC236}">
                  <a16:creationId xmlns:a16="http://schemas.microsoft.com/office/drawing/2014/main" id="{F3AE7A70-3B46-6517-092D-B24B07CA87A2}"/>
                </a:ext>
              </a:extLst>
            </p:cNvPr>
            <p:cNvSpPr/>
            <p:nvPr/>
          </p:nvSpPr>
          <p:spPr>
            <a:xfrm>
              <a:off x="10538337" y="528749"/>
              <a:ext cx="1029071" cy="1029071"/>
            </a:xfrm>
            <a:prstGeom prst="frame">
              <a:avLst/>
            </a:prstGeom>
            <a:grpFill/>
            <a:ln>
              <a:noFill/>
            </a:ln>
            <a:effectLst>
              <a:outerShdw blurRad="114300" dist="114300" dir="13500000" algn="br" rotWithShape="0">
                <a:srgbClr val="FFFFFF">
                  <a:alpha val="5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32" name="TextBox 31">
            <a:extLst>
              <a:ext uri="{FF2B5EF4-FFF2-40B4-BE49-F238E27FC236}">
                <a16:creationId xmlns:a16="http://schemas.microsoft.com/office/drawing/2014/main" id="{B69E6634-EE6B-1326-7D92-AEF45F8BFEF3}"/>
              </a:ext>
            </a:extLst>
          </p:cNvPr>
          <p:cNvSpPr txBox="1"/>
          <p:nvPr/>
        </p:nvSpPr>
        <p:spPr>
          <a:xfrm>
            <a:off x="11608290" y="6320769"/>
            <a:ext cx="464790" cy="369332"/>
          </a:xfrm>
          <a:prstGeom prst="rect">
            <a:avLst/>
          </a:prstGeom>
          <a:noFill/>
        </p:spPr>
        <p:txBody>
          <a:bodyPr wrap="square" lIns="91440" tIns="45720" rIns="91440" bIns="45720" rtlCol="0" anchor="t">
            <a:spAutoFit/>
          </a:bodyPr>
          <a:lstStyle/>
          <a:p>
            <a:r>
              <a:rPr lang="en-IN" b="1">
                <a:solidFill>
                  <a:schemeClr val="tx1">
                    <a:lumMod val="65000"/>
                    <a:lumOff val="35000"/>
                  </a:schemeClr>
                </a:solidFill>
                <a:latin typeface="Vibur"/>
              </a:rPr>
              <a:t>10</a:t>
            </a:r>
            <a:endParaRPr lang="en-IN" b="1" dirty="0">
              <a:solidFill>
                <a:schemeClr val="tx1">
                  <a:lumMod val="65000"/>
                  <a:lumOff val="35000"/>
                </a:schemeClr>
              </a:solidFill>
              <a:latin typeface="Vibur" panose="03000603000000000000" pitchFamily="66" charset="0"/>
            </a:endParaRPr>
          </a:p>
        </p:txBody>
      </p:sp>
      <p:sp>
        <p:nvSpPr>
          <p:cNvPr id="3" name="TextBox 2">
            <a:extLst>
              <a:ext uri="{FF2B5EF4-FFF2-40B4-BE49-F238E27FC236}">
                <a16:creationId xmlns:a16="http://schemas.microsoft.com/office/drawing/2014/main" id="{109E9F93-B2E0-F0E1-1CDE-744006C64CA8}"/>
              </a:ext>
            </a:extLst>
          </p:cNvPr>
          <p:cNvSpPr txBox="1"/>
          <p:nvPr/>
        </p:nvSpPr>
        <p:spPr>
          <a:xfrm>
            <a:off x="1116824" y="3897251"/>
            <a:ext cx="11633" cy="5118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pic>
        <p:nvPicPr>
          <p:cNvPr id="7" name="Picture 6" descr="A blue logo with text&#10;&#10;AI-generated content may be incorrect.">
            <a:extLst>
              <a:ext uri="{FF2B5EF4-FFF2-40B4-BE49-F238E27FC236}">
                <a16:creationId xmlns:a16="http://schemas.microsoft.com/office/drawing/2014/main" id="{0882407A-59A1-B39B-2A2A-76691D3B8E7C}"/>
              </a:ext>
            </a:extLst>
          </p:cNvPr>
          <p:cNvPicPr>
            <a:picLocks noChangeAspect="1"/>
          </p:cNvPicPr>
          <p:nvPr/>
        </p:nvPicPr>
        <p:blipFill>
          <a:blip r:embed="rId2"/>
          <a:stretch>
            <a:fillRect/>
          </a:stretch>
        </p:blipFill>
        <p:spPr>
          <a:xfrm>
            <a:off x="10228173" y="5806469"/>
            <a:ext cx="356142" cy="689580"/>
          </a:xfrm>
          <a:prstGeom prst="rect">
            <a:avLst/>
          </a:prstGeom>
        </p:spPr>
      </p:pic>
      <p:sp>
        <p:nvSpPr>
          <p:cNvPr id="4" name="TextBox 3">
            <a:extLst>
              <a:ext uri="{FF2B5EF4-FFF2-40B4-BE49-F238E27FC236}">
                <a16:creationId xmlns:a16="http://schemas.microsoft.com/office/drawing/2014/main" id="{D8220059-759C-6E30-C629-97807A032C0A}"/>
              </a:ext>
            </a:extLst>
          </p:cNvPr>
          <p:cNvSpPr txBox="1"/>
          <p:nvPr/>
        </p:nvSpPr>
        <p:spPr>
          <a:xfrm>
            <a:off x="3404872" y="594254"/>
            <a:ext cx="4762927"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a:ea typeface="Calibri" panose="020F0502020204030204"/>
                <a:cs typeface="Calibri" panose="020F0502020204030204"/>
              </a:rPr>
              <a:t>Explainabi</a:t>
            </a:r>
            <a:r>
              <a:rPr lang="en-US" sz="2800" b="1">
                <a:ea typeface="Calibri" panose="020F0502020204030204"/>
                <a:cs typeface="Calibri" panose="020F0502020204030204"/>
              </a:rPr>
              <a:t>lity Method 2- LIME</a:t>
            </a:r>
            <a:endParaRPr lang="en-US" sz="2800" b="1" dirty="0">
              <a:ea typeface="Calibri" panose="020F0502020204030204"/>
              <a:cs typeface="Calibri" panose="020F0502020204030204"/>
            </a:endParaRPr>
          </a:p>
        </p:txBody>
      </p:sp>
      <p:sp>
        <p:nvSpPr>
          <p:cNvPr id="6" name="TextBox 5">
            <a:extLst>
              <a:ext uri="{FF2B5EF4-FFF2-40B4-BE49-F238E27FC236}">
                <a16:creationId xmlns:a16="http://schemas.microsoft.com/office/drawing/2014/main" id="{E07E4518-A11D-2383-8731-2723136D2C8E}"/>
              </a:ext>
            </a:extLst>
          </p:cNvPr>
          <p:cNvSpPr txBox="1"/>
          <p:nvPr/>
        </p:nvSpPr>
        <p:spPr>
          <a:xfrm>
            <a:off x="1610637" y="1487378"/>
            <a:ext cx="3791238"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Workflow</a:t>
            </a:r>
            <a:endParaRPr lang="en-US" b="1">
              <a:ea typeface="Calibri"/>
              <a:cs typeface="Calibri"/>
            </a:endParaRPr>
          </a:p>
          <a:p>
            <a:pPr marL="285750" indent="-285750">
              <a:buFont typeface="Arial"/>
              <a:buChar char="•"/>
            </a:pPr>
            <a:r>
              <a:rPr lang="en-US" dirty="0">
                <a:ea typeface="+mn-lt"/>
                <a:cs typeface="+mn-lt"/>
              </a:rPr>
              <a:t>Segment image into </a:t>
            </a:r>
            <a:r>
              <a:rPr lang="en-US" dirty="0" err="1">
                <a:ea typeface="+mn-lt"/>
                <a:cs typeface="+mn-lt"/>
              </a:rPr>
              <a:t>superpixels</a:t>
            </a:r>
            <a:r>
              <a:rPr lang="en-US" dirty="0">
                <a:ea typeface="+mn-lt"/>
                <a:cs typeface="+mn-lt"/>
              </a:rPr>
              <a:t>.</a:t>
            </a:r>
            <a:endParaRPr lang="en-US">
              <a:ea typeface="Calibri"/>
              <a:cs typeface="Calibri"/>
            </a:endParaRPr>
          </a:p>
          <a:p>
            <a:pPr marL="285750" indent="-285750">
              <a:buFont typeface="Arial"/>
              <a:buChar char="•"/>
            </a:pPr>
            <a:r>
              <a:rPr lang="en-US">
                <a:ea typeface="+mn-lt"/>
                <a:cs typeface="+mn-lt"/>
              </a:rPr>
              <a:t>Create perturbed samples.</a:t>
            </a:r>
            <a:endParaRPr lang="en-US">
              <a:ea typeface="Calibri"/>
              <a:cs typeface="Calibri"/>
            </a:endParaRPr>
          </a:p>
          <a:p>
            <a:pPr marL="285750" indent="-285750">
              <a:buFont typeface="Arial"/>
              <a:buChar char="•"/>
            </a:pPr>
            <a:r>
              <a:rPr lang="en-US">
                <a:ea typeface="+mn-lt"/>
                <a:cs typeface="+mn-lt"/>
              </a:rPr>
              <a:t>Observe prediction changes.</a:t>
            </a:r>
            <a:endParaRPr lang="en-US">
              <a:ea typeface="Calibri"/>
              <a:cs typeface="Calibri"/>
            </a:endParaRPr>
          </a:p>
          <a:p>
            <a:pPr marL="285750" indent="-285750">
              <a:buFont typeface="Arial"/>
              <a:buChar char="•"/>
            </a:pPr>
            <a:r>
              <a:rPr lang="en-US">
                <a:ea typeface="+mn-lt"/>
                <a:cs typeface="+mn-lt"/>
              </a:rPr>
              <a:t>Train local surrogate model.</a:t>
            </a:r>
            <a:endParaRPr lang="en-US"/>
          </a:p>
          <a:p>
            <a:pPr>
              <a:buFont typeface="Arial,Sans-Serif"/>
              <a:buChar char="•"/>
            </a:pPr>
            <a:endParaRPr lang="en-US"/>
          </a:p>
        </p:txBody>
      </p:sp>
      <p:sp>
        <p:nvSpPr>
          <p:cNvPr id="9" name="TextBox 8">
            <a:extLst>
              <a:ext uri="{FF2B5EF4-FFF2-40B4-BE49-F238E27FC236}">
                <a16:creationId xmlns:a16="http://schemas.microsoft.com/office/drawing/2014/main" id="{4AA69446-7394-2E38-921B-C8D38B380545}"/>
              </a:ext>
            </a:extLst>
          </p:cNvPr>
          <p:cNvSpPr txBox="1"/>
          <p:nvPr/>
        </p:nvSpPr>
        <p:spPr>
          <a:xfrm>
            <a:off x="7143186" y="1487378"/>
            <a:ext cx="3082900"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Advantages</a:t>
            </a:r>
            <a:endParaRPr lang="en-US" b="1">
              <a:ea typeface="Calibri"/>
              <a:cs typeface="Calibri"/>
            </a:endParaRPr>
          </a:p>
          <a:p>
            <a:pPr marL="285750" indent="-285750">
              <a:buFont typeface="Arial"/>
              <a:buChar char="•"/>
            </a:pPr>
            <a:r>
              <a:rPr lang="en-US">
                <a:ea typeface="+mn-lt"/>
                <a:cs typeface="+mn-lt"/>
              </a:rPr>
              <a:t>Model Agnostic</a:t>
            </a:r>
            <a:endParaRPr lang="en-US">
              <a:ea typeface="Calibri"/>
              <a:cs typeface="Calibri"/>
            </a:endParaRPr>
          </a:p>
          <a:p>
            <a:pPr marL="285750" indent="-285750">
              <a:buFont typeface="Arial"/>
              <a:buChar char="•"/>
            </a:pPr>
            <a:r>
              <a:rPr lang="en-US">
                <a:ea typeface="+mn-lt"/>
                <a:cs typeface="+mn-lt"/>
              </a:rPr>
              <a:t>Human Readable</a:t>
            </a:r>
            <a:endParaRPr lang="en-US">
              <a:ea typeface="Calibri"/>
              <a:cs typeface="Calibri"/>
            </a:endParaRPr>
          </a:p>
          <a:p>
            <a:endParaRPr lang="en-US" dirty="0">
              <a:ea typeface="Calibri" panose="020F0502020204030204"/>
              <a:cs typeface="Calibri" panose="020F0502020204030204"/>
            </a:endParaRPr>
          </a:p>
        </p:txBody>
      </p:sp>
      <p:sp>
        <p:nvSpPr>
          <p:cNvPr id="11" name="TextBox 10">
            <a:extLst>
              <a:ext uri="{FF2B5EF4-FFF2-40B4-BE49-F238E27FC236}">
                <a16:creationId xmlns:a16="http://schemas.microsoft.com/office/drawing/2014/main" id="{F15C4152-DBEB-9586-A2CC-BDD9A5C847A5}"/>
              </a:ext>
            </a:extLst>
          </p:cNvPr>
          <p:cNvSpPr txBox="1"/>
          <p:nvPr/>
        </p:nvSpPr>
        <p:spPr>
          <a:xfrm>
            <a:off x="1590523" y="3210050"/>
            <a:ext cx="6572977"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ea typeface="Calibri"/>
                <a:cs typeface="Calibri"/>
              </a:rPr>
              <a:t>Limi</a:t>
            </a:r>
            <a:r>
              <a:rPr lang="en-US" b="1">
                <a:ea typeface="Calibri"/>
                <a:cs typeface="Calibri"/>
              </a:rPr>
              <a:t>tations</a:t>
            </a:r>
            <a:endParaRPr lang="en-US" b="1" dirty="0">
              <a:ea typeface="Calibri"/>
              <a:cs typeface="Calibri"/>
            </a:endParaRPr>
          </a:p>
          <a:p>
            <a:pPr marL="285750" indent="-285750">
              <a:buFont typeface="Arial"/>
              <a:buChar char="•"/>
            </a:pPr>
            <a:r>
              <a:rPr lang="en-US">
                <a:ea typeface="+mn-lt"/>
                <a:cs typeface="+mn-lt"/>
              </a:rPr>
              <a:t>Computationally expensive</a:t>
            </a:r>
          </a:p>
          <a:p>
            <a:pPr marL="285750" indent="-285750">
              <a:buFont typeface="Arial"/>
              <a:buChar char="•"/>
            </a:pPr>
            <a:r>
              <a:rPr lang="en-US">
                <a:ea typeface="+mn-lt"/>
                <a:cs typeface="+mn-lt"/>
              </a:rPr>
              <a:t>Sensitive to segmentation strategy</a:t>
            </a:r>
          </a:p>
          <a:p>
            <a:endParaRPr lang="en-US" dirty="0">
              <a:ea typeface="Calibri"/>
              <a:cs typeface="Calibri"/>
            </a:endParaRPr>
          </a:p>
        </p:txBody>
      </p:sp>
      <p:pic>
        <p:nvPicPr>
          <p:cNvPr id="12" name="Picture 11" descr="A dog standing on a tile floor&#10;&#10;AI-generated content may be incorrect.">
            <a:extLst>
              <a:ext uri="{FF2B5EF4-FFF2-40B4-BE49-F238E27FC236}">
                <a16:creationId xmlns:a16="http://schemas.microsoft.com/office/drawing/2014/main" id="{28A227C9-D1E8-00AA-FEEB-BB9BEFF946DD}"/>
              </a:ext>
            </a:extLst>
          </p:cNvPr>
          <p:cNvPicPr>
            <a:picLocks noChangeAspect="1"/>
          </p:cNvPicPr>
          <p:nvPr/>
        </p:nvPicPr>
        <p:blipFill>
          <a:blip r:embed="rId3"/>
          <a:stretch>
            <a:fillRect/>
          </a:stretch>
        </p:blipFill>
        <p:spPr>
          <a:xfrm>
            <a:off x="1976908" y="4633175"/>
            <a:ext cx="1219200" cy="1219200"/>
          </a:xfrm>
          <a:prstGeom prst="rect">
            <a:avLst/>
          </a:prstGeom>
        </p:spPr>
      </p:pic>
      <p:pic>
        <p:nvPicPr>
          <p:cNvPr id="13" name="Picture 12" descr="A black cat sitting on a window sill&#10;&#10;AI-generated content may be incorrect.">
            <a:extLst>
              <a:ext uri="{FF2B5EF4-FFF2-40B4-BE49-F238E27FC236}">
                <a16:creationId xmlns:a16="http://schemas.microsoft.com/office/drawing/2014/main" id="{4D7A2C71-E20F-8030-FB0F-B4CC082CEBC0}"/>
              </a:ext>
            </a:extLst>
          </p:cNvPr>
          <p:cNvPicPr>
            <a:picLocks noChangeAspect="1"/>
          </p:cNvPicPr>
          <p:nvPr/>
        </p:nvPicPr>
        <p:blipFill>
          <a:blip r:embed="rId4"/>
          <a:stretch>
            <a:fillRect/>
          </a:stretch>
        </p:blipFill>
        <p:spPr>
          <a:xfrm>
            <a:off x="3609573" y="4633175"/>
            <a:ext cx="1219200" cy="1219200"/>
          </a:xfrm>
          <a:prstGeom prst="rect">
            <a:avLst/>
          </a:prstGeom>
        </p:spPr>
      </p:pic>
      <p:pic>
        <p:nvPicPr>
          <p:cNvPr id="14" name="Picture 13" descr="A cat lying on a blanket&#10;&#10;AI-generated content may be incorrect.">
            <a:extLst>
              <a:ext uri="{FF2B5EF4-FFF2-40B4-BE49-F238E27FC236}">
                <a16:creationId xmlns:a16="http://schemas.microsoft.com/office/drawing/2014/main" id="{5FCA1560-D8FD-F3E8-9DF2-DB087FFE8BAD}"/>
              </a:ext>
            </a:extLst>
          </p:cNvPr>
          <p:cNvPicPr>
            <a:picLocks noChangeAspect="1"/>
          </p:cNvPicPr>
          <p:nvPr/>
        </p:nvPicPr>
        <p:blipFill>
          <a:blip r:embed="rId5"/>
          <a:stretch>
            <a:fillRect/>
          </a:stretch>
        </p:blipFill>
        <p:spPr>
          <a:xfrm>
            <a:off x="8496837" y="4633175"/>
            <a:ext cx="1219200" cy="1219200"/>
          </a:xfrm>
          <a:prstGeom prst="rect">
            <a:avLst/>
          </a:prstGeom>
        </p:spPr>
      </p:pic>
      <p:pic>
        <p:nvPicPr>
          <p:cNvPr id="15" name="Picture 14" descr="A dog sitting on the floor&#10;&#10;AI-generated content may be incorrect.">
            <a:extLst>
              <a:ext uri="{FF2B5EF4-FFF2-40B4-BE49-F238E27FC236}">
                <a16:creationId xmlns:a16="http://schemas.microsoft.com/office/drawing/2014/main" id="{69E77A60-C051-EBDE-5923-7CE93B607831}"/>
              </a:ext>
            </a:extLst>
          </p:cNvPr>
          <p:cNvPicPr>
            <a:picLocks noChangeAspect="1"/>
          </p:cNvPicPr>
          <p:nvPr/>
        </p:nvPicPr>
        <p:blipFill>
          <a:blip r:embed="rId6"/>
          <a:stretch>
            <a:fillRect/>
          </a:stretch>
        </p:blipFill>
        <p:spPr>
          <a:xfrm>
            <a:off x="5236873" y="4633175"/>
            <a:ext cx="1219200" cy="1219200"/>
          </a:xfrm>
          <a:prstGeom prst="rect">
            <a:avLst/>
          </a:prstGeom>
        </p:spPr>
      </p:pic>
      <p:pic>
        <p:nvPicPr>
          <p:cNvPr id="16" name="Picture 15" descr="A person holding a cat&#10;&#10;AI-generated content may be incorrect.">
            <a:extLst>
              <a:ext uri="{FF2B5EF4-FFF2-40B4-BE49-F238E27FC236}">
                <a16:creationId xmlns:a16="http://schemas.microsoft.com/office/drawing/2014/main" id="{D8BD1FAD-511F-30BF-C1BD-02A21C6A42F5}"/>
              </a:ext>
            </a:extLst>
          </p:cNvPr>
          <p:cNvPicPr>
            <a:picLocks noChangeAspect="1"/>
          </p:cNvPicPr>
          <p:nvPr/>
        </p:nvPicPr>
        <p:blipFill>
          <a:blip r:embed="rId7"/>
          <a:stretch>
            <a:fillRect/>
          </a:stretch>
        </p:blipFill>
        <p:spPr>
          <a:xfrm>
            <a:off x="6864172" y="4633175"/>
            <a:ext cx="1219200" cy="1219200"/>
          </a:xfrm>
          <a:prstGeom prst="rect">
            <a:avLst/>
          </a:prstGeom>
        </p:spPr>
      </p:pic>
    </p:spTree>
    <p:extLst>
      <p:ext uri="{BB962C8B-B14F-4D97-AF65-F5344CB8AC3E}">
        <p14:creationId xmlns:p14="http://schemas.microsoft.com/office/powerpoint/2010/main" val="18716682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BECF0"/>
        </a:solidFill>
        <a:effectLst/>
      </p:bgPr>
    </p:bg>
    <p:spTree>
      <p:nvGrpSpPr>
        <p:cNvPr id="1" name="">
          <a:extLst>
            <a:ext uri="{FF2B5EF4-FFF2-40B4-BE49-F238E27FC236}">
              <a16:creationId xmlns:a16="http://schemas.microsoft.com/office/drawing/2014/main" id="{54B7CBDF-376C-6F70-A6AD-C43D52AEBFE6}"/>
            </a:ext>
          </a:extLst>
        </p:cNvPr>
        <p:cNvGrpSpPr/>
        <p:nvPr/>
      </p:nvGrpSpPr>
      <p:grpSpPr>
        <a:xfrm>
          <a:off x="0" y="0"/>
          <a:ext cx="0" cy="0"/>
          <a:chOff x="0" y="0"/>
          <a:chExt cx="0" cy="0"/>
        </a:xfrm>
      </p:grpSpPr>
      <p:grpSp>
        <p:nvGrpSpPr>
          <p:cNvPr id="59" name="Group 58">
            <a:extLst>
              <a:ext uri="{FF2B5EF4-FFF2-40B4-BE49-F238E27FC236}">
                <a16:creationId xmlns:a16="http://schemas.microsoft.com/office/drawing/2014/main" id="{E1FF2ACA-4080-F8E9-CA18-3C6DC1B21906}"/>
              </a:ext>
            </a:extLst>
          </p:cNvPr>
          <p:cNvGrpSpPr/>
          <p:nvPr/>
        </p:nvGrpSpPr>
        <p:grpSpPr>
          <a:xfrm>
            <a:off x="618906" y="243821"/>
            <a:ext cx="10334494" cy="6446716"/>
            <a:chOff x="1162348" y="1677368"/>
            <a:chExt cx="3266778" cy="3266778"/>
          </a:xfrm>
        </p:grpSpPr>
        <p:sp>
          <p:nvSpPr>
            <p:cNvPr id="60" name="Oval 34">
              <a:extLst>
                <a:ext uri="{FF2B5EF4-FFF2-40B4-BE49-F238E27FC236}">
                  <a16:creationId xmlns:a16="http://schemas.microsoft.com/office/drawing/2014/main" id="{E46763B3-6F9D-6710-D2AE-9ED9059D3463}"/>
                </a:ext>
              </a:extLst>
            </p:cNvPr>
            <p:cNvSpPr/>
            <p:nvPr/>
          </p:nvSpPr>
          <p:spPr>
            <a:xfrm>
              <a:off x="1162348" y="1677368"/>
              <a:ext cx="3266778" cy="3266778"/>
            </a:xfrm>
            <a:prstGeom prst="roundRect">
              <a:avLst/>
            </a:prstGeom>
            <a:solidFill>
              <a:srgbClr val="EBECF0"/>
            </a:solidFill>
            <a:ln>
              <a:noFill/>
            </a:ln>
            <a:effectLst>
              <a:outerShdw blurRad="177800" dist="114300" dir="2700000" algn="tl" rotWithShape="0">
                <a:srgbClr val="ACB0C0">
                  <a:alpha val="4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1" name="Oval 35">
              <a:extLst>
                <a:ext uri="{FF2B5EF4-FFF2-40B4-BE49-F238E27FC236}">
                  <a16:creationId xmlns:a16="http://schemas.microsoft.com/office/drawing/2014/main" id="{D0A58720-0933-BD31-04E3-C50E18F6A364}"/>
                </a:ext>
              </a:extLst>
            </p:cNvPr>
            <p:cNvSpPr/>
            <p:nvPr/>
          </p:nvSpPr>
          <p:spPr>
            <a:xfrm>
              <a:off x="1162348" y="1677368"/>
              <a:ext cx="3266778" cy="3266778"/>
            </a:xfrm>
            <a:prstGeom prst="roundRect">
              <a:avLst>
                <a:gd name="adj" fmla="val 6541"/>
              </a:avLst>
            </a:prstGeom>
            <a:solidFill>
              <a:srgbClr val="EBECF0"/>
            </a:solidFill>
            <a:ln>
              <a:noFill/>
            </a:ln>
            <a:effectLst>
              <a:outerShdw blurRad="114300" dist="114300" dir="13500000" algn="br" rotWithShape="0">
                <a:srgbClr val="FFFFFF">
                  <a:alpha val="5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48" name="Freeform: Shape 47">
            <a:extLst>
              <a:ext uri="{FF2B5EF4-FFF2-40B4-BE49-F238E27FC236}">
                <a16:creationId xmlns:a16="http://schemas.microsoft.com/office/drawing/2014/main" id="{1C234BB6-147F-5E8E-9506-BDEED2683047}"/>
              </a:ext>
            </a:extLst>
          </p:cNvPr>
          <p:cNvSpPr/>
          <p:nvPr/>
        </p:nvSpPr>
        <p:spPr>
          <a:xfrm>
            <a:off x="11398434" y="1"/>
            <a:ext cx="793566" cy="993711"/>
          </a:xfrm>
          <a:custGeom>
            <a:avLst/>
            <a:gdLst>
              <a:gd name="connsiteX0" fmla="*/ 74242 w 793566"/>
              <a:gd name="connsiteY0" fmla="*/ 0 h 993711"/>
              <a:gd name="connsiteX1" fmla="*/ 793566 w 793566"/>
              <a:gd name="connsiteY1" fmla="*/ 0 h 993711"/>
              <a:gd name="connsiteX2" fmla="*/ 793566 w 793566"/>
              <a:gd name="connsiteY2" fmla="*/ 983129 h 993711"/>
              <a:gd name="connsiteX3" fmla="*/ 688594 w 793566"/>
              <a:gd name="connsiteY3" fmla="*/ 993711 h 993711"/>
              <a:gd name="connsiteX4" fmla="*/ 0 w 793566"/>
              <a:gd name="connsiteY4" fmla="*/ 305117 h 993711"/>
              <a:gd name="connsiteX5" fmla="*/ 54113 w 793566"/>
              <a:gd name="connsiteY5" fmla="*/ 37085 h 993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93566" h="993711">
                <a:moveTo>
                  <a:pt x="74242" y="0"/>
                </a:moveTo>
                <a:lnTo>
                  <a:pt x="793566" y="0"/>
                </a:lnTo>
                <a:lnTo>
                  <a:pt x="793566" y="983129"/>
                </a:lnTo>
                <a:lnTo>
                  <a:pt x="688594" y="993711"/>
                </a:lnTo>
                <a:cubicBezTo>
                  <a:pt x="308294" y="993711"/>
                  <a:pt x="0" y="685417"/>
                  <a:pt x="0" y="305117"/>
                </a:cubicBezTo>
                <a:cubicBezTo>
                  <a:pt x="0" y="210042"/>
                  <a:pt x="19268" y="119467"/>
                  <a:pt x="54113" y="37085"/>
                </a:cubicBezTo>
                <a:close/>
              </a:path>
            </a:pathLst>
          </a:custGeom>
          <a:gradFill>
            <a:gsLst>
              <a:gs pos="0">
                <a:srgbClr val="00CCFF"/>
              </a:gs>
              <a:gs pos="100000">
                <a:srgbClr val="0000FF"/>
              </a:gs>
            </a:gsLst>
            <a:lin ang="0" scaled="1"/>
          </a:gradFill>
          <a:ln w="38100">
            <a:gradFill flip="none" rotWithShape="1">
              <a:gsLst>
                <a:gs pos="0">
                  <a:srgbClr val="00CCFF"/>
                </a:gs>
                <a:gs pos="100000">
                  <a:srgbClr val="0000FF"/>
                </a:gs>
              </a:gsLst>
              <a:lin ang="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9" name="Oval 48">
            <a:extLst>
              <a:ext uri="{FF2B5EF4-FFF2-40B4-BE49-F238E27FC236}">
                <a16:creationId xmlns:a16="http://schemas.microsoft.com/office/drawing/2014/main" id="{39228C19-B8C5-0F40-5CAA-78F52F4B60B7}"/>
              </a:ext>
            </a:extLst>
          </p:cNvPr>
          <p:cNvSpPr/>
          <p:nvPr/>
        </p:nvSpPr>
        <p:spPr>
          <a:xfrm>
            <a:off x="10227818" y="681912"/>
            <a:ext cx="1377188" cy="1377188"/>
          </a:xfrm>
          <a:prstGeom prst="ellipse">
            <a:avLst/>
          </a:prstGeom>
          <a:gradFill>
            <a:gsLst>
              <a:gs pos="0">
                <a:srgbClr val="00CCFF"/>
              </a:gs>
              <a:gs pos="100000">
                <a:srgbClr val="0000FF"/>
              </a:gs>
            </a:gsLst>
            <a:lin ang="0" scaled="1"/>
          </a:gradFill>
          <a:ln w="38100">
            <a:gradFill flip="none" rotWithShape="1">
              <a:gsLst>
                <a:gs pos="0">
                  <a:srgbClr val="00CCFF"/>
                </a:gs>
                <a:gs pos="100000">
                  <a:srgbClr val="0000FF"/>
                </a:gs>
              </a:gsLst>
              <a:lin ang="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0" name="Freeform: Shape 49">
            <a:extLst>
              <a:ext uri="{FF2B5EF4-FFF2-40B4-BE49-F238E27FC236}">
                <a16:creationId xmlns:a16="http://schemas.microsoft.com/office/drawing/2014/main" id="{8FEC33CD-F575-F301-3EEC-D9E2C01FAB2D}"/>
              </a:ext>
            </a:extLst>
          </p:cNvPr>
          <p:cNvSpPr/>
          <p:nvPr/>
        </p:nvSpPr>
        <p:spPr>
          <a:xfrm>
            <a:off x="11718200" y="1112145"/>
            <a:ext cx="473800" cy="1302014"/>
          </a:xfrm>
          <a:custGeom>
            <a:avLst/>
            <a:gdLst>
              <a:gd name="connsiteX0" fmla="*/ 473800 w 473800"/>
              <a:gd name="connsiteY0" fmla="*/ 0 h 1302014"/>
              <a:gd name="connsiteX1" fmla="*/ 473800 w 473800"/>
              <a:gd name="connsiteY1" fmla="*/ 1302014 h 1302014"/>
              <a:gd name="connsiteX2" fmla="*/ 420562 w 473800"/>
              <a:gd name="connsiteY2" fmla="*/ 1285488 h 1302014"/>
              <a:gd name="connsiteX3" fmla="*/ 0 w 473800"/>
              <a:gd name="connsiteY3" fmla="*/ 651007 h 1302014"/>
              <a:gd name="connsiteX4" fmla="*/ 420562 w 473800"/>
              <a:gd name="connsiteY4" fmla="*/ 16526 h 13020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3800" h="1302014">
                <a:moveTo>
                  <a:pt x="473800" y="0"/>
                </a:moveTo>
                <a:lnTo>
                  <a:pt x="473800" y="1302014"/>
                </a:lnTo>
                <a:lnTo>
                  <a:pt x="420562" y="1285488"/>
                </a:lnTo>
                <a:cubicBezTo>
                  <a:pt x="173415" y="1180954"/>
                  <a:pt x="0" y="936232"/>
                  <a:pt x="0" y="651007"/>
                </a:cubicBezTo>
                <a:cubicBezTo>
                  <a:pt x="0" y="365782"/>
                  <a:pt x="173415" y="121061"/>
                  <a:pt x="420562" y="16526"/>
                </a:cubicBezTo>
                <a:close/>
              </a:path>
            </a:pathLst>
          </a:custGeom>
          <a:gradFill>
            <a:gsLst>
              <a:gs pos="0">
                <a:srgbClr val="00CCFF"/>
              </a:gs>
              <a:gs pos="100000">
                <a:srgbClr val="0000FF"/>
              </a:gs>
            </a:gsLst>
            <a:lin ang="0" scaled="1"/>
          </a:gradFill>
          <a:ln w="38100">
            <a:gradFill flip="none" rotWithShape="1">
              <a:gsLst>
                <a:gs pos="0">
                  <a:srgbClr val="00CCFF"/>
                </a:gs>
                <a:gs pos="100000">
                  <a:srgbClr val="0000FF"/>
                </a:gs>
              </a:gsLst>
              <a:lin ang="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nvGrpSpPr>
          <p:cNvPr id="29" name="Group 28">
            <a:extLst>
              <a:ext uri="{FF2B5EF4-FFF2-40B4-BE49-F238E27FC236}">
                <a16:creationId xmlns:a16="http://schemas.microsoft.com/office/drawing/2014/main" id="{EFFD6967-B402-F41D-3EF1-F0987E2CC736}"/>
              </a:ext>
            </a:extLst>
          </p:cNvPr>
          <p:cNvGrpSpPr/>
          <p:nvPr/>
        </p:nvGrpSpPr>
        <p:grpSpPr>
          <a:xfrm rot="5400000">
            <a:off x="11487150" y="6153150"/>
            <a:ext cx="704850" cy="704850"/>
            <a:chOff x="10538072" y="528484"/>
            <a:chExt cx="1029600" cy="1029600"/>
          </a:xfrm>
          <a:gradFill flip="none" rotWithShape="1">
            <a:gsLst>
              <a:gs pos="0">
                <a:srgbClr val="00CCFF"/>
              </a:gs>
              <a:gs pos="100000">
                <a:srgbClr val="0000FF"/>
              </a:gs>
            </a:gsLst>
            <a:lin ang="2700000" scaled="1"/>
            <a:tileRect/>
          </a:gradFill>
        </p:grpSpPr>
        <p:sp>
          <p:nvSpPr>
            <p:cNvPr id="30" name="Oval 22">
              <a:extLst>
                <a:ext uri="{FF2B5EF4-FFF2-40B4-BE49-F238E27FC236}">
                  <a16:creationId xmlns:a16="http://schemas.microsoft.com/office/drawing/2014/main" id="{48E0EFA9-BF14-FC67-AAE9-40CA25AECDCE}"/>
                </a:ext>
              </a:extLst>
            </p:cNvPr>
            <p:cNvSpPr/>
            <p:nvPr/>
          </p:nvSpPr>
          <p:spPr>
            <a:xfrm>
              <a:off x="10538072" y="528484"/>
              <a:ext cx="1029600" cy="1029600"/>
            </a:xfrm>
            <a:prstGeom prst="frame">
              <a:avLst/>
            </a:prstGeom>
            <a:grpFill/>
            <a:ln>
              <a:noFill/>
            </a:ln>
            <a:effectLst>
              <a:outerShdw blurRad="177800" dist="114300" dir="2700000" algn="tl" rotWithShape="0">
                <a:srgbClr val="ACB0C0">
                  <a:alpha val="4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1" name="Oval 23">
              <a:extLst>
                <a:ext uri="{FF2B5EF4-FFF2-40B4-BE49-F238E27FC236}">
                  <a16:creationId xmlns:a16="http://schemas.microsoft.com/office/drawing/2014/main" id="{3FAE710F-1142-BA21-A4BC-FC7E3641E585}"/>
                </a:ext>
              </a:extLst>
            </p:cNvPr>
            <p:cNvSpPr/>
            <p:nvPr/>
          </p:nvSpPr>
          <p:spPr>
            <a:xfrm>
              <a:off x="10538337" y="528749"/>
              <a:ext cx="1029071" cy="1029071"/>
            </a:xfrm>
            <a:prstGeom prst="frame">
              <a:avLst/>
            </a:prstGeom>
            <a:grpFill/>
            <a:ln>
              <a:noFill/>
            </a:ln>
            <a:effectLst>
              <a:outerShdw blurRad="114300" dist="114300" dir="13500000" algn="br" rotWithShape="0">
                <a:srgbClr val="FFFFFF">
                  <a:alpha val="5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32" name="TextBox 31">
            <a:extLst>
              <a:ext uri="{FF2B5EF4-FFF2-40B4-BE49-F238E27FC236}">
                <a16:creationId xmlns:a16="http://schemas.microsoft.com/office/drawing/2014/main" id="{B05880A4-A0D7-6993-F5F5-DC55B0F38860}"/>
              </a:ext>
            </a:extLst>
          </p:cNvPr>
          <p:cNvSpPr txBox="1"/>
          <p:nvPr/>
        </p:nvSpPr>
        <p:spPr>
          <a:xfrm>
            <a:off x="11608290" y="6320769"/>
            <a:ext cx="464790" cy="369332"/>
          </a:xfrm>
          <a:prstGeom prst="rect">
            <a:avLst/>
          </a:prstGeom>
          <a:noFill/>
        </p:spPr>
        <p:txBody>
          <a:bodyPr wrap="square" lIns="91440" tIns="45720" rIns="91440" bIns="45720" rtlCol="0" anchor="t">
            <a:spAutoFit/>
          </a:bodyPr>
          <a:lstStyle/>
          <a:p>
            <a:r>
              <a:rPr lang="en-IN" b="1">
                <a:solidFill>
                  <a:schemeClr val="tx1">
                    <a:lumMod val="65000"/>
                    <a:lumOff val="35000"/>
                  </a:schemeClr>
                </a:solidFill>
                <a:latin typeface="Vibur"/>
              </a:rPr>
              <a:t>11</a:t>
            </a:r>
            <a:endParaRPr lang="en-IN" b="1" dirty="0">
              <a:solidFill>
                <a:schemeClr val="tx1">
                  <a:lumMod val="65000"/>
                  <a:lumOff val="35000"/>
                </a:schemeClr>
              </a:solidFill>
              <a:latin typeface="Vibur" panose="03000603000000000000" pitchFamily="66" charset="0"/>
            </a:endParaRPr>
          </a:p>
        </p:txBody>
      </p:sp>
      <p:sp>
        <p:nvSpPr>
          <p:cNvPr id="3" name="TextBox 2">
            <a:extLst>
              <a:ext uri="{FF2B5EF4-FFF2-40B4-BE49-F238E27FC236}">
                <a16:creationId xmlns:a16="http://schemas.microsoft.com/office/drawing/2014/main" id="{0D9DDE9E-3FD9-D5A0-D8EE-EBA4A6A6BCA4}"/>
              </a:ext>
            </a:extLst>
          </p:cNvPr>
          <p:cNvSpPr txBox="1"/>
          <p:nvPr/>
        </p:nvSpPr>
        <p:spPr>
          <a:xfrm>
            <a:off x="1116824" y="3897251"/>
            <a:ext cx="11633" cy="5118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pic>
        <p:nvPicPr>
          <p:cNvPr id="7" name="Picture 6" descr="A blue logo with text&#10;&#10;AI-generated content may be incorrect.">
            <a:extLst>
              <a:ext uri="{FF2B5EF4-FFF2-40B4-BE49-F238E27FC236}">
                <a16:creationId xmlns:a16="http://schemas.microsoft.com/office/drawing/2014/main" id="{52D89133-D781-00D3-7DA6-CABD38E9EE9B}"/>
              </a:ext>
            </a:extLst>
          </p:cNvPr>
          <p:cNvPicPr>
            <a:picLocks noChangeAspect="1"/>
          </p:cNvPicPr>
          <p:nvPr/>
        </p:nvPicPr>
        <p:blipFill>
          <a:blip r:embed="rId2"/>
          <a:stretch>
            <a:fillRect/>
          </a:stretch>
        </p:blipFill>
        <p:spPr>
          <a:xfrm>
            <a:off x="10228173" y="5806469"/>
            <a:ext cx="356142" cy="689580"/>
          </a:xfrm>
          <a:prstGeom prst="rect">
            <a:avLst/>
          </a:prstGeom>
        </p:spPr>
      </p:pic>
      <p:sp>
        <p:nvSpPr>
          <p:cNvPr id="17" name="TextBox 16">
            <a:extLst>
              <a:ext uri="{FF2B5EF4-FFF2-40B4-BE49-F238E27FC236}">
                <a16:creationId xmlns:a16="http://schemas.microsoft.com/office/drawing/2014/main" id="{CD512590-4419-5E7D-76F9-FDFE6C976417}"/>
              </a:ext>
            </a:extLst>
          </p:cNvPr>
          <p:cNvSpPr txBox="1"/>
          <p:nvPr/>
        </p:nvSpPr>
        <p:spPr>
          <a:xfrm>
            <a:off x="3407019" y="585668"/>
            <a:ext cx="4762927"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a:ea typeface="Calibri" panose="020F0502020204030204"/>
                <a:cs typeface="Calibri" panose="020F0502020204030204"/>
              </a:rPr>
              <a:t>Explainabi</a:t>
            </a:r>
            <a:r>
              <a:rPr lang="en-US" sz="2800" b="1">
                <a:ea typeface="Calibri" panose="020F0502020204030204"/>
                <a:cs typeface="Calibri" panose="020F0502020204030204"/>
              </a:rPr>
              <a:t>lity Method 3- SHAP</a:t>
            </a:r>
            <a:endParaRPr lang="en-US" sz="2800" b="1" dirty="0">
              <a:ea typeface="Calibri" panose="020F0502020204030204"/>
              <a:cs typeface="Calibri" panose="020F0502020204030204"/>
            </a:endParaRPr>
          </a:p>
        </p:txBody>
      </p:sp>
      <p:sp>
        <p:nvSpPr>
          <p:cNvPr id="19" name="TextBox 18">
            <a:extLst>
              <a:ext uri="{FF2B5EF4-FFF2-40B4-BE49-F238E27FC236}">
                <a16:creationId xmlns:a16="http://schemas.microsoft.com/office/drawing/2014/main" id="{15785A11-DFB1-6627-7510-1FE8AC7EF3A9}"/>
              </a:ext>
            </a:extLst>
          </p:cNvPr>
          <p:cNvSpPr txBox="1"/>
          <p:nvPr/>
        </p:nvSpPr>
        <p:spPr>
          <a:xfrm>
            <a:off x="1379891" y="2125955"/>
            <a:ext cx="3753675"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Characteristics</a:t>
            </a:r>
            <a:endParaRPr lang="en-US" b="1">
              <a:ea typeface="Calibri"/>
              <a:cs typeface="Calibri"/>
            </a:endParaRPr>
          </a:p>
          <a:p>
            <a:pPr marL="285750" indent="-285750">
              <a:buFont typeface="Arial"/>
              <a:buChar char="•"/>
            </a:pPr>
            <a:r>
              <a:rPr lang="en-US">
                <a:ea typeface="+mn-lt"/>
                <a:cs typeface="+mn-lt"/>
              </a:rPr>
              <a:t>Strong mathematical foundation</a:t>
            </a:r>
            <a:endParaRPr lang="en-US">
              <a:ea typeface="Calibri"/>
              <a:cs typeface="Calibri"/>
            </a:endParaRPr>
          </a:p>
          <a:p>
            <a:pPr marL="285750" indent="-285750">
              <a:buFont typeface="Arial"/>
              <a:buChar char="•"/>
            </a:pPr>
            <a:r>
              <a:rPr lang="en-US">
                <a:ea typeface="+mn-lt"/>
                <a:cs typeface="+mn-lt"/>
              </a:rPr>
              <a:t>Consistent feature attribution</a:t>
            </a:r>
            <a:endParaRPr lang="en-US">
              <a:ea typeface="Calibri"/>
              <a:cs typeface="Calibri"/>
            </a:endParaRPr>
          </a:p>
          <a:p>
            <a:pPr marL="285750" indent="-285750">
              <a:buFont typeface="Arial"/>
              <a:buChar char="•"/>
            </a:pPr>
            <a:r>
              <a:rPr lang="en-US">
                <a:ea typeface="+mn-lt"/>
                <a:cs typeface="+mn-lt"/>
              </a:rPr>
              <a:t>Global and local interpretability</a:t>
            </a:r>
            <a:endParaRPr lang="en-US">
              <a:ea typeface="Calibri"/>
              <a:cs typeface="Calibri"/>
            </a:endParaRPr>
          </a:p>
          <a:p>
            <a:endParaRPr lang="en-US" dirty="0">
              <a:ea typeface="Calibri" panose="020F0502020204030204"/>
              <a:cs typeface="Calibri" panose="020F0502020204030204"/>
            </a:endParaRPr>
          </a:p>
        </p:txBody>
      </p:sp>
      <p:sp>
        <p:nvSpPr>
          <p:cNvPr id="21" name="TextBox 20">
            <a:extLst>
              <a:ext uri="{FF2B5EF4-FFF2-40B4-BE49-F238E27FC236}">
                <a16:creationId xmlns:a16="http://schemas.microsoft.com/office/drawing/2014/main" id="{78462A85-6B6C-002D-969D-931A18234F96}"/>
              </a:ext>
            </a:extLst>
          </p:cNvPr>
          <p:cNvSpPr txBox="1"/>
          <p:nvPr/>
        </p:nvSpPr>
        <p:spPr>
          <a:xfrm>
            <a:off x="6408017" y="2125955"/>
            <a:ext cx="3952223"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Characteristics</a:t>
            </a:r>
            <a:endParaRPr lang="en-US" b="1">
              <a:ea typeface="Calibri"/>
              <a:cs typeface="Calibri"/>
            </a:endParaRPr>
          </a:p>
          <a:p>
            <a:pPr marL="285750" indent="-285750">
              <a:buFont typeface="Arial"/>
              <a:buChar char="•"/>
            </a:pPr>
            <a:r>
              <a:rPr lang="en-US">
                <a:ea typeface="+mn-lt"/>
                <a:cs typeface="+mn-lt"/>
              </a:rPr>
              <a:t>Strong mathematical foundation</a:t>
            </a:r>
            <a:endParaRPr lang="en-US">
              <a:ea typeface="Calibri"/>
              <a:cs typeface="Calibri"/>
            </a:endParaRPr>
          </a:p>
          <a:p>
            <a:pPr marL="285750" indent="-285750">
              <a:buFont typeface="Arial"/>
              <a:buChar char="•"/>
            </a:pPr>
            <a:r>
              <a:rPr lang="en-US">
                <a:ea typeface="+mn-lt"/>
                <a:cs typeface="+mn-lt"/>
              </a:rPr>
              <a:t>Consistent feature attribution</a:t>
            </a:r>
            <a:endParaRPr lang="en-US">
              <a:ea typeface="Calibri"/>
              <a:cs typeface="Calibri"/>
            </a:endParaRPr>
          </a:p>
          <a:p>
            <a:pPr marL="285750" indent="-285750">
              <a:buFont typeface="Arial"/>
              <a:buChar char="•"/>
            </a:pPr>
            <a:r>
              <a:rPr lang="en-US">
                <a:ea typeface="+mn-lt"/>
                <a:cs typeface="+mn-lt"/>
              </a:rPr>
              <a:t>Global and local interpretability</a:t>
            </a:r>
            <a:endParaRPr lang="en-US">
              <a:ea typeface="Calibri"/>
              <a:cs typeface="Calibri"/>
            </a:endParaRPr>
          </a:p>
          <a:p>
            <a:endParaRPr lang="en-US" dirty="0">
              <a:ea typeface="Calibri" panose="020F0502020204030204"/>
              <a:cs typeface="Calibri" panose="020F0502020204030204"/>
            </a:endParaRPr>
          </a:p>
          <a:p>
            <a:endParaRPr lang="en-US" dirty="0">
              <a:ea typeface="Calibri" panose="020F0502020204030204"/>
              <a:cs typeface="Calibri" panose="020F0502020204030204"/>
            </a:endParaRPr>
          </a:p>
        </p:txBody>
      </p:sp>
      <p:sp>
        <p:nvSpPr>
          <p:cNvPr id="23" name="TextBox 22">
            <a:extLst>
              <a:ext uri="{FF2B5EF4-FFF2-40B4-BE49-F238E27FC236}">
                <a16:creationId xmlns:a16="http://schemas.microsoft.com/office/drawing/2014/main" id="{426E2513-FD49-2778-D909-40A11CE558E2}"/>
              </a:ext>
            </a:extLst>
          </p:cNvPr>
          <p:cNvSpPr txBox="1"/>
          <p:nvPr/>
        </p:nvSpPr>
        <p:spPr>
          <a:xfrm>
            <a:off x="1381241" y="3505190"/>
            <a:ext cx="6572977"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Limitations</a:t>
            </a:r>
            <a:endParaRPr lang="en-US" b="1">
              <a:ea typeface="Calibri"/>
              <a:cs typeface="Calibri"/>
            </a:endParaRPr>
          </a:p>
          <a:p>
            <a:pPr marL="285750" indent="-285750">
              <a:buFont typeface="Arial"/>
              <a:buChar char="•"/>
            </a:pPr>
            <a:r>
              <a:rPr lang="en-US">
                <a:ea typeface="+mn-lt"/>
                <a:cs typeface="+mn-lt"/>
              </a:rPr>
              <a:t>High computational cost</a:t>
            </a:r>
            <a:endParaRPr lang="en-US">
              <a:ea typeface="Calibri"/>
              <a:cs typeface="Calibri"/>
            </a:endParaRPr>
          </a:p>
          <a:p>
            <a:pPr>
              <a:buFont typeface="Arial"/>
              <a:buChar char="•"/>
            </a:pPr>
            <a:r>
              <a:rPr lang="en-US">
                <a:ea typeface="+mn-lt"/>
                <a:cs typeface="+mn-lt"/>
              </a:rPr>
              <a:t>    Increased memory usage</a:t>
            </a:r>
            <a:endParaRPr lang="en-US">
              <a:ea typeface="Calibri"/>
              <a:cs typeface="Calibri"/>
            </a:endParaRPr>
          </a:p>
        </p:txBody>
      </p:sp>
      <p:sp>
        <p:nvSpPr>
          <p:cNvPr id="24" name="TextBox 23">
            <a:extLst>
              <a:ext uri="{FF2B5EF4-FFF2-40B4-BE49-F238E27FC236}">
                <a16:creationId xmlns:a16="http://schemas.microsoft.com/office/drawing/2014/main" id="{9A0FF293-4AC5-A67E-429A-C820D6A470BC}"/>
              </a:ext>
            </a:extLst>
          </p:cNvPr>
          <p:cNvSpPr txBox="1"/>
          <p:nvPr/>
        </p:nvSpPr>
        <p:spPr>
          <a:xfrm>
            <a:off x="1137634" y="1202029"/>
            <a:ext cx="9299617"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err="1"/>
              <a:t>SHapley</a:t>
            </a:r>
            <a:r>
              <a:rPr lang="en-US" b="1" dirty="0"/>
              <a:t> Additive Explanations</a:t>
            </a:r>
          </a:p>
          <a:p>
            <a:r>
              <a:rPr lang="en-US"/>
              <a:t>SHAP uses concepts from cooperative game theory to assign importance values to image regions.</a:t>
            </a:r>
            <a:endParaRPr lang="en-US">
              <a:ea typeface="Calibri"/>
              <a:cs typeface="Calibri"/>
            </a:endParaRPr>
          </a:p>
          <a:p>
            <a:pPr algn="ctr"/>
            <a:endParaRPr lang="en-US" dirty="0">
              <a:ea typeface="Calibri"/>
              <a:cs typeface="Calibri"/>
            </a:endParaRPr>
          </a:p>
        </p:txBody>
      </p:sp>
      <p:pic>
        <p:nvPicPr>
          <p:cNvPr id="25" name="Picture 24" descr="A dog standing on a tile floor&#10;&#10;AI-generated content may be incorrect.">
            <a:extLst>
              <a:ext uri="{FF2B5EF4-FFF2-40B4-BE49-F238E27FC236}">
                <a16:creationId xmlns:a16="http://schemas.microsoft.com/office/drawing/2014/main" id="{D9709204-A883-FCE0-F1BE-61AB2739D165}"/>
              </a:ext>
            </a:extLst>
          </p:cNvPr>
          <p:cNvPicPr>
            <a:picLocks noChangeAspect="1"/>
          </p:cNvPicPr>
          <p:nvPr/>
        </p:nvPicPr>
        <p:blipFill>
          <a:blip r:embed="rId3"/>
          <a:stretch>
            <a:fillRect/>
          </a:stretch>
        </p:blipFill>
        <p:spPr>
          <a:xfrm>
            <a:off x="1939344" y="4834407"/>
            <a:ext cx="1219200" cy="1219200"/>
          </a:xfrm>
          <a:prstGeom prst="rect">
            <a:avLst/>
          </a:prstGeom>
        </p:spPr>
      </p:pic>
      <p:pic>
        <p:nvPicPr>
          <p:cNvPr id="26" name="Picture 25" descr="A cat sitting on a window sill&#10;&#10;AI-generated content may be incorrect.">
            <a:extLst>
              <a:ext uri="{FF2B5EF4-FFF2-40B4-BE49-F238E27FC236}">
                <a16:creationId xmlns:a16="http://schemas.microsoft.com/office/drawing/2014/main" id="{CD295BC1-6D06-8A6E-9021-CEFD34D7ABAA}"/>
              </a:ext>
            </a:extLst>
          </p:cNvPr>
          <p:cNvPicPr>
            <a:picLocks noChangeAspect="1"/>
          </p:cNvPicPr>
          <p:nvPr/>
        </p:nvPicPr>
        <p:blipFill>
          <a:blip r:embed="rId4"/>
          <a:stretch>
            <a:fillRect/>
          </a:stretch>
        </p:blipFill>
        <p:spPr>
          <a:xfrm>
            <a:off x="3586767" y="4834407"/>
            <a:ext cx="1219200" cy="1219200"/>
          </a:xfrm>
          <a:prstGeom prst="rect">
            <a:avLst/>
          </a:prstGeom>
        </p:spPr>
      </p:pic>
      <p:pic>
        <p:nvPicPr>
          <p:cNvPr id="27" name="Picture 26" descr="A cat lying on a blanket&#10;&#10;AI-generated content may be incorrect.">
            <a:extLst>
              <a:ext uri="{FF2B5EF4-FFF2-40B4-BE49-F238E27FC236}">
                <a16:creationId xmlns:a16="http://schemas.microsoft.com/office/drawing/2014/main" id="{3DD17530-98C2-DEFA-CE40-3B1A23C64676}"/>
              </a:ext>
            </a:extLst>
          </p:cNvPr>
          <p:cNvPicPr>
            <a:picLocks noChangeAspect="1"/>
          </p:cNvPicPr>
          <p:nvPr/>
        </p:nvPicPr>
        <p:blipFill>
          <a:blip r:embed="rId5"/>
          <a:stretch>
            <a:fillRect/>
          </a:stretch>
        </p:blipFill>
        <p:spPr>
          <a:xfrm>
            <a:off x="6870879" y="4834407"/>
            <a:ext cx="1219200" cy="1219200"/>
          </a:xfrm>
          <a:prstGeom prst="rect">
            <a:avLst/>
          </a:prstGeom>
        </p:spPr>
      </p:pic>
      <p:pic>
        <p:nvPicPr>
          <p:cNvPr id="28" name="Picture 27" descr="A dog standing on a carpet&#10;&#10;AI-generated content may be incorrect.">
            <a:extLst>
              <a:ext uri="{FF2B5EF4-FFF2-40B4-BE49-F238E27FC236}">
                <a16:creationId xmlns:a16="http://schemas.microsoft.com/office/drawing/2014/main" id="{A13DE853-ECEF-9CF5-2FFD-96D2CA517EC3}"/>
              </a:ext>
            </a:extLst>
          </p:cNvPr>
          <p:cNvPicPr>
            <a:picLocks noChangeAspect="1"/>
          </p:cNvPicPr>
          <p:nvPr/>
        </p:nvPicPr>
        <p:blipFill>
          <a:blip r:embed="rId6"/>
          <a:stretch>
            <a:fillRect/>
          </a:stretch>
        </p:blipFill>
        <p:spPr>
          <a:xfrm>
            <a:off x="5228823" y="4834407"/>
            <a:ext cx="1219200" cy="1219200"/>
          </a:xfrm>
          <a:prstGeom prst="rect">
            <a:avLst/>
          </a:prstGeom>
        </p:spPr>
      </p:pic>
      <p:pic>
        <p:nvPicPr>
          <p:cNvPr id="33" name="Picture 32" descr="A cat lying on a red blanket&#10;&#10;AI-generated content may be incorrect.">
            <a:extLst>
              <a:ext uri="{FF2B5EF4-FFF2-40B4-BE49-F238E27FC236}">
                <a16:creationId xmlns:a16="http://schemas.microsoft.com/office/drawing/2014/main" id="{9949393D-D35C-9A53-8700-A73051D167BE}"/>
              </a:ext>
            </a:extLst>
          </p:cNvPr>
          <p:cNvPicPr>
            <a:picLocks noChangeAspect="1"/>
          </p:cNvPicPr>
          <p:nvPr/>
        </p:nvPicPr>
        <p:blipFill>
          <a:blip r:embed="rId7"/>
          <a:stretch>
            <a:fillRect/>
          </a:stretch>
        </p:blipFill>
        <p:spPr>
          <a:xfrm>
            <a:off x="8518302" y="4834407"/>
            <a:ext cx="1219200" cy="1219200"/>
          </a:xfrm>
          <a:prstGeom prst="rect">
            <a:avLst/>
          </a:prstGeom>
        </p:spPr>
      </p:pic>
    </p:spTree>
    <p:extLst>
      <p:ext uri="{BB962C8B-B14F-4D97-AF65-F5344CB8AC3E}">
        <p14:creationId xmlns:p14="http://schemas.microsoft.com/office/powerpoint/2010/main" val="22387550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BECF0"/>
        </a:solidFill>
        <a:effectLst/>
      </p:bgPr>
    </p:bg>
    <p:spTree>
      <p:nvGrpSpPr>
        <p:cNvPr id="1" name="">
          <a:extLst>
            <a:ext uri="{FF2B5EF4-FFF2-40B4-BE49-F238E27FC236}">
              <a16:creationId xmlns:a16="http://schemas.microsoft.com/office/drawing/2014/main" id="{515F62F5-10DF-3FE9-05CA-6732D2747C94}"/>
            </a:ext>
          </a:extLst>
        </p:cNvPr>
        <p:cNvGrpSpPr/>
        <p:nvPr/>
      </p:nvGrpSpPr>
      <p:grpSpPr>
        <a:xfrm>
          <a:off x="0" y="0"/>
          <a:ext cx="0" cy="0"/>
          <a:chOff x="0" y="0"/>
          <a:chExt cx="0" cy="0"/>
        </a:xfrm>
      </p:grpSpPr>
      <p:grpSp>
        <p:nvGrpSpPr>
          <p:cNvPr id="59" name="Group 58">
            <a:extLst>
              <a:ext uri="{FF2B5EF4-FFF2-40B4-BE49-F238E27FC236}">
                <a16:creationId xmlns:a16="http://schemas.microsoft.com/office/drawing/2014/main" id="{7CB07FEC-E8B4-C702-D4C5-0B33B169C5D3}"/>
              </a:ext>
            </a:extLst>
          </p:cNvPr>
          <p:cNvGrpSpPr/>
          <p:nvPr/>
        </p:nvGrpSpPr>
        <p:grpSpPr>
          <a:xfrm>
            <a:off x="581342" y="238454"/>
            <a:ext cx="10334494" cy="6446716"/>
            <a:chOff x="1162348" y="1677368"/>
            <a:chExt cx="3266778" cy="3266778"/>
          </a:xfrm>
        </p:grpSpPr>
        <p:sp>
          <p:nvSpPr>
            <p:cNvPr id="60" name="Oval 34">
              <a:extLst>
                <a:ext uri="{FF2B5EF4-FFF2-40B4-BE49-F238E27FC236}">
                  <a16:creationId xmlns:a16="http://schemas.microsoft.com/office/drawing/2014/main" id="{F5525B48-2A68-D602-68B3-005A44C5999A}"/>
                </a:ext>
              </a:extLst>
            </p:cNvPr>
            <p:cNvSpPr/>
            <p:nvPr/>
          </p:nvSpPr>
          <p:spPr>
            <a:xfrm>
              <a:off x="1162348" y="1677368"/>
              <a:ext cx="3266778" cy="3266778"/>
            </a:xfrm>
            <a:prstGeom prst="roundRect">
              <a:avLst/>
            </a:prstGeom>
            <a:solidFill>
              <a:srgbClr val="EBECF0"/>
            </a:solidFill>
            <a:ln>
              <a:noFill/>
            </a:ln>
            <a:effectLst>
              <a:outerShdw blurRad="177800" dist="114300" dir="2700000" algn="tl" rotWithShape="0">
                <a:srgbClr val="ACB0C0">
                  <a:alpha val="4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1" name="Oval 35">
              <a:extLst>
                <a:ext uri="{FF2B5EF4-FFF2-40B4-BE49-F238E27FC236}">
                  <a16:creationId xmlns:a16="http://schemas.microsoft.com/office/drawing/2014/main" id="{8CEFFE7B-A6DD-A6B0-AEDB-65F156C4E933}"/>
                </a:ext>
              </a:extLst>
            </p:cNvPr>
            <p:cNvSpPr/>
            <p:nvPr/>
          </p:nvSpPr>
          <p:spPr>
            <a:xfrm>
              <a:off x="1162348" y="1677368"/>
              <a:ext cx="3266778" cy="3266778"/>
            </a:xfrm>
            <a:prstGeom prst="roundRect">
              <a:avLst>
                <a:gd name="adj" fmla="val 6541"/>
              </a:avLst>
            </a:prstGeom>
            <a:solidFill>
              <a:srgbClr val="EBECF0"/>
            </a:solidFill>
            <a:ln>
              <a:noFill/>
            </a:ln>
            <a:effectLst>
              <a:outerShdw blurRad="114300" dist="114300" dir="13500000" algn="br" rotWithShape="0">
                <a:srgbClr val="FFFFFF">
                  <a:alpha val="56000"/>
                </a:srgb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IN" dirty="0">
                <a:ea typeface="Calibri"/>
                <a:cs typeface="Calibri"/>
              </a:endParaRPr>
            </a:p>
          </p:txBody>
        </p:sp>
      </p:grpSp>
      <p:sp>
        <p:nvSpPr>
          <p:cNvPr id="48" name="Freeform: Shape 47">
            <a:extLst>
              <a:ext uri="{FF2B5EF4-FFF2-40B4-BE49-F238E27FC236}">
                <a16:creationId xmlns:a16="http://schemas.microsoft.com/office/drawing/2014/main" id="{69105A87-24B8-24CA-7D97-363B03A98F7A}"/>
              </a:ext>
            </a:extLst>
          </p:cNvPr>
          <p:cNvSpPr/>
          <p:nvPr/>
        </p:nvSpPr>
        <p:spPr>
          <a:xfrm>
            <a:off x="11398434" y="1"/>
            <a:ext cx="793566" cy="993711"/>
          </a:xfrm>
          <a:custGeom>
            <a:avLst/>
            <a:gdLst>
              <a:gd name="connsiteX0" fmla="*/ 74242 w 793566"/>
              <a:gd name="connsiteY0" fmla="*/ 0 h 993711"/>
              <a:gd name="connsiteX1" fmla="*/ 793566 w 793566"/>
              <a:gd name="connsiteY1" fmla="*/ 0 h 993711"/>
              <a:gd name="connsiteX2" fmla="*/ 793566 w 793566"/>
              <a:gd name="connsiteY2" fmla="*/ 983129 h 993711"/>
              <a:gd name="connsiteX3" fmla="*/ 688594 w 793566"/>
              <a:gd name="connsiteY3" fmla="*/ 993711 h 993711"/>
              <a:gd name="connsiteX4" fmla="*/ 0 w 793566"/>
              <a:gd name="connsiteY4" fmla="*/ 305117 h 993711"/>
              <a:gd name="connsiteX5" fmla="*/ 54113 w 793566"/>
              <a:gd name="connsiteY5" fmla="*/ 37085 h 993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93566" h="993711">
                <a:moveTo>
                  <a:pt x="74242" y="0"/>
                </a:moveTo>
                <a:lnTo>
                  <a:pt x="793566" y="0"/>
                </a:lnTo>
                <a:lnTo>
                  <a:pt x="793566" y="983129"/>
                </a:lnTo>
                <a:lnTo>
                  <a:pt x="688594" y="993711"/>
                </a:lnTo>
                <a:cubicBezTo>
                  <a:pt x="308294" y="993711"/>
                  <a:pt x="0" y="685417"/>
                  <a:pt x="0" y="305117"/>
                </a:cubicBezTo>
                <a:cubicBezTo>
                  <a:pt x="0" y="210042"/>
                  <a:pt x="19268" y="119467"/>
                  <a:pt x="54113" y="37085"/>
                </a:cubicBezTo>
                <a:close/>
              </a:path>
            </a:pathLst>
          </a:custGeom>
          <a:gradFill>
            <a:gsLst>
              <a:gs pos="0">
                <a:srgbClr val="00CCFF"/>
              </a:gs>
              <a:gs pos="100000">
                <a:srgbClr val="0000FF"/>
              </a:gs>
            </a:gsLst>
            <a:lin ang="0" scaled="1"/>
          </a:gradFill>
          <a:ln w="38100">
            <a:gradFill flip="none" rotWithShape="1">
              <a:gsLst>
                <a:gs pos="0">
                  <a:srgbClr val="00CCFF"/>
                </a:gs>
                <a:gs pos="100000">
                  <a:srgbClr val="0000FF"/>
                </a:gs>
              </a:gsLst>
              <a:lin ang="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9" name="Oval 48">
            <a:extLst>
              <a:ext uri="{FF2B5EF4-FFF2-40B4-BE49-F238E27FC236}">
                <a16:creationId xmlns:a16="http://schemas.microsoft.com/office/drawing/2014/main" id="{50172E4E-1CC1-F6D2-C581-D948AD836F12}"/>
              </a:ext>
            </a:extLst>
          </p:cNvPr>
          <p:cNvSpPr/>
          <p:nvPr/>
        </p:nvSpPr>
        <p:spPr>
          <a:xfrm>
            <a:off x="10227818" y="681912"/>
            <a:ext cx="1377188" cy="1377188"/>
          </a:xfrm>
          <a:prstGeom prst="ellipse">
            <a:avLst/>
          </a:prstGeom>
          <a:gradFill>
            <a:gsLst>
              <a:gs pos="0">
                <a:srgbClr val="00CCFF"/>
              </a:gs>
              <a:gs pos="100000">
                <a:srgbClr val="0000FF"/>
              </a:gs>
            </a:gsLst>
            <a:lin ang="0" scaled="1"/>
          </a:gradFill>
          <a:ln w="38100">
            <a:gradFill flip="none" rotWithShape="1">
              <a:gsLst>
                <a:gs pos="0">
                  <a:srgbClr val="00CCFF"/>
                </a:gs>
                <a:gs pos="100000">
                  <a:srgbClr val="0000FF"/>
                </a:gs>
              </a:gsLst>
              <a:lin ang="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0" name="Freeform: Shape 49">
            <a:extLst>
              <a:ext uri="{FF2B5EF4-FFF2-40B4-BE49-F238E27FC236}">
                <a16:creationId xmlns:a16="http://schemas.microsoft.com/office/drawing/2014/main" id="{EF3ADECE-2630-B860-BE4C-CDF8D737CB1B}"/>
              </a:ext>
            </a:extLst>
          </p:cNvPr>
          <p:cNvSpPr/>
          <p:nvPr/>
        </p:nvSpPr>
        <p:spPr>
          <a:xfrm>
            <a:off x="11718200" y="1112145"/>
            <a:ext cx="473800" cy="1302014"/>
          </a:xfrm>
          <a:custGeom>
            <a:avLst/>
            <a:gdLst>
              <a:gd name="connsiteX0" fmla="*/ 473800 w 473800"/>
              <a:gd name="connsiteY0" fmla="*/ 0 h 1302014"/>
              <a:gd name="connsiteX1" fmla="*/ 473800 w 473800"/>
              <a:gd name="connsiteY1" fmla="*/ 1302014 h 1302014"/>
              <a:gd name="connsiteX2" fmla="*/ 420562 w 473800"/>
              <a:gd name="connsiteY2" fmla="*/ 1285488 h 1302014"/>
              <a:gd name="connsiteX3" fmla="*/ 0 w 473800"/>
              <a:gd name="connsiteY3" fmla="*/ 651007 h 1302014"/>
              <a:gd name="connsiteX4" fmla="*/ 420562 w 473800"/>
              <a:gd name="connsiteY4" fmla="*/ 16526 h 13020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3800" h="1302014">
                <a:moveTo>
                  <a:pt x="473800" y="0"/>
                </a:moveTo>
                <a:lnTo>
                  <a:pt x="473800" y="1302014"/>
                </a:lnTo>
                <a:lnTo>
                  <a:pt x="420562" y="1285488"/>
                </a:lnTo>
                <a:cubicBezTo>
                  <a:pt x="173415" y="1180954"/>
                  <a:pt x="0" y="936232"/>
                  <a:pt x="0" y="651007"/>
                </a:cubicBezTo>
                <a:cubicBezTo>
                  <a:pt x="0" y="365782"/>
                  <a:pt x="173415" y="121061"/>
                  <a:pt x="420562" y="16526"/>
                </a:cubicBezTo>
                <a:close/>
              </a:path>
            </a:pathLst>
          </a:custGeom>
          <a:gradFill>
            <a:gsLst>
              <a:gs pos="0">
                <a:srgbClr val="00CCFF"/>
              </a:gs>
              <a:gs pos="100000">
                <a:srgbClr val="0000FF"/>
              </a:gs>
            </a:gsLst>
            <a:lin ang="0" scaled="1"/>
          </a:gradFill>
          <a:ln w="38100">
            <a:gradFill flip="none" rotWithShape="1">
              <a:gsLst>
                <a:gs pos="0">
                  <a:srgbClr val="00CCFF"/>
                </a:gs>
                <a:gs pos="100000">
                  <a:srgbClr val="0000FF"/>
                </a:gs>
              </a:gsLst>
              <a:lin ang="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nvGrpSpPr>
          <p:cNvPr id="29" name="Group 28">
            <a:extLst>
              <a:ext uri="{FF2B5EF4-FFF2-40B4-BE49-F238E27FC236}">
                <a16:creationId xmlns:a16="http://schemas.microsoft.com/office/drawing/2014/main" id="{B0517E9C-43A8-EF8F-3AB0-0885F635446F}"/>
              </a:ext>
            </a:extLst>
          </p:cNvPr>
          <p:cNvGrpSpPr/>
          <p:nvPr/>
        </p:nvGrpSpPr>
        <p:grpSpPr>
          <a:xfrm rot="5400000">
            <a:off x="11487150" y="6153150"/>
            <a:ext cx="704850" cy="704850"/>
            <a:chOff x="10538072" y="528484"/>
            <a:chExt cx="1029600" cy="1029600"/>
          </a:xfrm>
          <a:gradFill flip="none" rotWithShape="1">
            <a:gsLst>
              <a:gs pos="0">
                <a:srgbClr val="00CCFF"/>
              </a:gs>
              <a:gs pos="100000">
                <a:srgbClr val="0000FF"/>
              </a:gs>
            </a:gsLst>
            <a:lin ang="2700000" scaled="1"/>
            <a:tileRect/>
          </a:gradFill>
        </p:grpSpPr>
        <p:sp>
          <p:nvSpPr>
            <p:cNvPr id="30" name="Oval 22">
              <a:extLst>
                <a:ext uri="{FF2B5EF4-FFF2-40B4-BE49-F238E27FC236}">
                  <a16:creationId xmlns:a16="http://schemas.microsoft.com/office/drawing/2014/main" id="{112F97D5-22F7-F326-9FB6-548BFAD2FDBC}"/>
                </a:ext>
              </a:extLst>
            </p:cNvPr>
            <p:cNvSpPr/>
            <p:nvPr/>
          </p:nvSpPr>
          <p:spPr>
            <a:xfrm>
              <a:off x="10538072" y="528484"/>
              <a:ext cx="1029600" cy="1029600"/>
            </a:xfrm>
            <a:prstGeom prst="frame">
              <a:avLst/>
            </a:prstGeom>
            <a:grpFill/>
            <a:ln>
              <a:noFill/>
            </a:ln>
            <a:effectLst>
              <a:outerShdw blurRad="177800" dist="114300" dir="2700000" algn="tl" rotWithShape="0">
                <a:srgbClr val="ACB0C0">
                  <a:alpha val="4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1" name="Oval 23">
              <a:extLst>
                <a:ext uri="{FF2B5EF4-FFF2-40B4-BE49-F238E27FC236}">
                  <a16:creationId xmlns:a16="http://schemas.microsoft.com/office/drawing/2014/main" id="{790DA480-21B5-7D32-11EF-0D416ACFD615}"/>
                </a:ext>
              </a:extLst>
            </p:cNvPr>
            <p:cNvSpPr/>
            <p:nvPr/>
          </p:nvSpPr>
          <p:spPr>
            <a:xfrm>
              <a:off x="10538337" y="528749"/>
              <a:ext cx="1029071" cy="1029071"/>
            </a:xfrm>
            <a:prstGeom prst="frame">
              <a:avLst/>
            </a:prstGeom>
            <a:grpFill/>
            <a:ln>
              <a:noFill/>
            </a:ln>
            <a:effectLst>
              <a:outerShdw blurRad="114300" dist="114300" dir="13500000" algn="br" rotWithShape="0">
                <a:srgbClr val="FFFFFF">
                  <a:alpha val="5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32" name="TextBox 31">
            <a:extLst>
              <a:ext uri="{FF2B5EF4-FFF2-40B4-BE49-F238E27FC236}">
                <a16:creationId xmlns:a16="http://schemas.microsoft.com/office/drawing/2014/main" id="{75D7C4C3-6E3F-41A9-838B-955B213D2ADB}"/>
              </a:ext>
            </a:extLst>
          </p:cNvPr>
          <p:cNvSpPr txBox="1"/>
          <p:nvPr/>
        </p:nvSpPr>
        <p:spPr>
          <a:xfrm>
            <a:off x="11608290" y="6320769"/>
            <a:ext cx="464790" cy="369332"/>
          </a:xfrm>
          <a:prstGeom prst="rect">
            <a:avLst/>
          </a:prstGeom>
          <a:noFill/>
        </p:spPr>
        <p:txBody>
          <a:bodyPr wrap="square" lIns="91440" tIns="45720" rIns="91440" bIns="45720" rtlCol="0" anchor="t">
            <a:spAutoFit/>
          </a:bodyPr>
          <a:lstStyle/>
          <a:p>
            <a:r>
              <a:rPr lang="en-IN" b="1">
                <a:solidFill>
                  <a:schemeClr val="tx1">
                    <a:lumMod val="65000"/>
                    <a:lumOff val="35000"/>
                  </a:schemeClr>
                </a:solidFill>
                <a:latin typeface="Vibur"/>
              </a:rPr>
              <a:t>12</a:t>
            </a:r>
            <a:endParaRPr lang="en-IN" b="1" dirty="0">
              <a:solidFill>
                <a:schemeClr val="tx1">
                  <a:lumMod val="65000"/>
                  <a:lumOff val="35000"/>
                </a:schemeClr>
              </a:solidFill>
              <a:latin typeface="Vibur" panose="03000603000000000000" pitchFamily="66" charset="0"/>
            </a:endParaRPr>
          </a:p>
        </p:txBody>
      </p:sp>
      <p:sp>
        <p:nvSpPr>
          <p:cNvPr id="3" name="TextBox 2">
            <a:extLst>
              <a:ext uri="{FF2B5EF4-FFF2-40B4-BE49-F238E27FC236}">
                <a16:creationId xmlns:a16="http://schemas.microsoft.com/office/drawing/2014/main" id="{6F3D8A07-0C36-2F4F-438A-1B76582AC019}"/>
              </a:ext>
            </a:extLst>
          </p:cNvPr>
          <p:cNvSpPr txBox="1"/>
          <p:nvPr/>
        </p:nvSpPr>
        <p:spPr>
          <a:xfrm>
            <a:off x="1116824" y="3897251"/>
            <a:ext cx="11633" cy="5118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pic>
        <p:nvPicPr>
          <p:cNvPr id="7" name="Picture 6" descr="A blue logo with text&#10;&#10;AI-generated content may be incorrect.">
            <a:extLst>
              <a:ext uri="{FF2B5EF4-FFF2-40B4-BE49-F238E27FC236}">
                <a16:creationId xmlns:a16="http://schemas.microsoft.com/office/drawing/2014/main" id="{197598A5-7BA1-F41F-943B-2CBC849497D5}"/>
              </a:ext>
            </a:extLst>
          </p:cNvPr>
          <p:cNvPicPr>
            <a:picLocks noChangeAspect="1"/>
          </p:cNvPicPr>
          <p:nvPr/>
        </p:nvPicPr>
        <p:blipFill>
          <a:blip r:embed="rId2"/>
          <a:stretch>
            <a:fillRect/>
          </a:stretch>
        </p:blipFill>
        <p:spPr>
          <a:xfrm>
            <a:off x="10228173" y="5806469"/>
            <a:ext cx="356142" cy="689580"/>
          </a:xfrm>
          <a:prstGeom prst="rect">
            <a:avLst/>
          </a:prstGeom>
        </p:spPr>
      </p:pic>
      <p:sp>
        <p:nvSpPr>
          <p:cNvPr id="2" name="TextBox 1">
            <a:extLst>
              <a:ext uri="{FF2B5EF4-FFF2-40B4-BE49-F238E27FC236}">
                <a16:creationId xmlns:a16="http://schemas.microsoft.com/office/drawing/2014/main" id="{CEB2FBCD-9110-E48C-BCCC-17DFB95BD689}"/>
              </a:ext>
            </a:extLst>
          </p:cNvPr>
          <p:cNvSpPr txBox="1"/>
          <p:nvPr/>
        </p:nvSpPr>
        <p:spPr>
          <a:xfrm>
            <a:off x="1287313" y="1512899"/>
            <a:ext cx="3571511"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ea typeface="Calibri"/>
                <a:cs typeface="Calibri"/>
              </a:rPr>
              <a:t>Confidence Drop</a:t>
            </a:r>
          </a:p>
          <a:p>
            <a:r>
              <a:rPr lang="en-US">
                <a:ea typeface="+mn-lt"/>
                <a:cs typeface="+mn-lt"/>
              </a:rPr>
              <a:t>Measures confidence reduction after removing important pixels.</a:t>
            </a:r>
            <a:endParaRPr lang="en-US">
              <a:ea typeface="Calibri"/>
              <a:cs typeface="Calibri"/>
            </a:endParaRPr>
          </a:p>
        </p:txBody>
      </p:sp>
      <p:sp>
        <p:nvSpPr>
          <p:cNvPr id="4" name="TextBox 3">
            <a:extLst>
              <a:ext uri="{FF2B5EF4-FFF2-40B4-BE49-F238E27FC236}">
                <a16:creationId xmlns:a16="http://schemas.microsoft.com/office/drawing/2014/main" id="{605EBEF1-B5FB-2F21-E851-BB780E0B1493}"/>
              </a:ext>
            </a:extLst>
          </p:cNvPr>
          <p:cNvSpPr txBox="1"/>
          <p:nvPr/>
        </p:nvSpPr>
        <p:spPr>
          <a:xfrm>
            <a:off x="6551552" y="1512899"/>
            <a:ext cx="3571511"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b="1">
                <a:ea typeface="Calibri"/>
                <a:cs typeface="Calibri"/>
              </a:rPr>
              <a:t>Sparsity</a:t>
            </a:r>
          </a:p>
          <a:p>
            <a:r>
              <a:rPr lang="en-US">
                <a:ea typeface="+mn-lt"/>
                <a:cs typeface="+mn-lt"/>
              </a:rPr>
              <a:t>Measures concentration of explanations.</a:t>
            </a:r>
            <a:endParaRPr lang="en-US"/>
          </a:p>
        </p:txBody>
      </p:sp>
      <p:sp>
        <p:nvSpPr>
          <p:cNvPr id="5" name="TextBox 4">
            <a:extLst>
              <a:ext uri="{FF2B5EF4-FFF2-40B4-BE49-F238E27FC236}">
                <a16:creationId xmlns:a16="http://schemas.microsoft.com/office/drawing/2014/main" id="{19D7CB28-6508-439E-996D-4BC93B9E1F3A}"/>
              </a:ext>
            </a:extLst>
          </p:cNvPr>
          <p:cNvSpPr txBox="1"/>
          <p:nvPr/>
        </p:nvSpPr>
        <p:spPr>
          <a:xfrm>
            <a:off x="6551551" y="3455462"/>
            <a:ext cx="3383694"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b="1">
                <a:ea typeface="Calibri"/>
                <a:cs typeface="Calibri"/>
              </a:rPr>
              <a:t>AOPC</a:t>
            </a:r>
          </a:p>
          <a:p>
            <a:r>
              <a:rPr lang="en-US">
                <a:ea typeface="+mn-lt"/>
                <a:cs typeface="+mn-lt"/>
              </a:rPr>
              <a:t>Average confidence decrease caused by progressive perturbations.</a:t>
            </a:r>
            <a:endParaRPr lang="en-US">
              <a:ea typeface="Calibri"/>
              <a:cs typeface="Calibri"/>
            </a:endParaRPr>
          </a:p>
        </p:txBody>
      </p:sp>
      <p:sp>
        <p:nvSpPr>
          <p:cNvPr id="6" name="TextBox 5">
            <a:extLst>
              <a:ext uri="{FF2B5EF4-FFF2-40B4-BE49-F238E27FC236}">
                <a16:creationId xmlns:a16="http://schemas.microsoft.com/office/drawing/2014/main" id="{8EE3CC67-F2D7-763D-98A3-1DA5034448C7}"/>
              </a:ext>
            </a:extLst>
          </p:cNvPr>
          <p:cNvSpPr txBox="1"/>
          <p:nvPr/>
        </p:nvSpPr>
        <p:spPr>
          <a:xfrm>
            <a:off x="1287312" y="3455462"/>
            <a:ext cx="3571511"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err="1">
                <a:ea typeface="Calibri"/>
                <a:cs typeface="Calibri"/>
              </a:rPr>
              <a:t>Occulation</a:t>
            </a:r>
            <a:r>
              <a:rPr lang="en-US" b="1" dirty="0">
                <a:ea typeface="Calibri"/>
                <a:cs typeface="Calibri"/>
              </a:rPr>
              <a:t> </a:t>
            </a:r>
            <a:r>
              <a:rPr lang="en-US" b="1" dirty="0" err="1">
                <a:ea typeface="Calibri"/>
                <a:cs typeface="Calibri"/>
              </a:rPr>
              <a:t>Senstivity</a:t>
            </a:r>
            <a:endParaRPr lang="en-US" b="1">
              <a:ea typeface="Calibri"/>
              <a:cs typeface="Calibri"/>
            </a:endParaRPr>
          </a:p>
          <a:p>
            <a:r>
              <a:rPr lang="en-US">
                <a:ea typeface="+mn-lt"/>
                <a:cs typeface="+mn-lt"/>
              </a:rPr>
              <a:t>Measures prediction changes when image regions are masked.</a:t>
            </a:r>
            <a:endParaRPr lang="en-US"/>
          </a:p>
        </p:txBody>
      </p:sp>
      <p:sp>
        <p:nvSpPr>
          <p:cNvPr id="8" name="Rectangle: Rounded Corners 7">
            <a:extLst>
              <a:ext uri="{FF2B5EF4-FFF2-40B4-BE49-F238E27FC236}">
                <a16:creationId xmlns:a16="http://schemas.microsoft.com/office/drawing/2014/main" id="{4E99A006-07AA-A9EA-5445-B9F3E29EFA0C}"/>
              </a:ext>
            </a:extLst>
          </p:cNvPr>
          <p:cNvSpPr/>
          <p:nvPr/>
        </p:nvSpPr>
        <p:spPr>
          <a:xfrm>
            <a:off x="1287723" y="1349046"/>
            <a:ext cx="3501709" cy="1675236"/>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Rounded Corners 8">
            <a:extLst>
              <a:ext uri="{FF2B5EF4-FFF2-40B4-BE49-F238E27FC236}">
                <a16:creationId xmlns:a16="http://schemas.microsoft.com/office/drawing/2014/main" id="{AD63AEDD-A834-31E5-6D11-31467EB58747}"/>
              </a:ext>
            </a:extLst>
          </p:cNvPr>
          <p:cNvSpPr/>
          <p:nvPr/>
        </p:nvSpPr>
        <p:spPr>
          <a:xfrm>
            <a:off x="6551962" y="1349045"/>
            <a:ext cx="3501709" cy="1675236"/>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Rounded Corners 9">
            <a:extLst>
              <a:ext uri="{FF2B5EF4-FFF2-40B4-BE49-F238E27FC236}">
                <a16:creationId xmlns:a16="http://schemas.microsoft.com/office/drawing/2014/main" id="{CDF64632-476A-C70C-A9EC-C6A88777F549}"/>
              </a:ext>
            </a:extLst>
          </p:cNvPr>
          <p:cNvSpPr/>
          <p:nvPr/>
        </p:nvSpPr>
        <p:spPr>
          <a:xfrm>
            <a:off x="6562694" y="3366734"/>
            <a:ext cx="3512442" cy="1675236"/>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Rounded Corners 10">
            <a:extLst>
              <a:ext uri="{FF2B5EF4-FFF2-40B4-BE49-F238E27FC236}">
                <a16:creationId xmlns:a16="http://schemas.microsoft.com/office/drawing/2014/main" id="{8718F6F4-B49D-C944-F3D1-A0100EDC2024}"/>
              </a:ext>
            </a:extLst>
          </p:cNvPr>
          <p:cNvSpPr/>
          <p:nvPr/>
        </p:nvSpPr>
        <p:spPr>
          <a:xfrm>
            <a:off x="1287723" y="3398933"/>
            <a:ext cx="3501709" cy="1675236"/>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2B8E81A3-2195-454A-C6A6-A40C1F34F784}"/>
              </a:ext>
            </a:extLst>
          </p:cNvPr>
          <p:cNvSpPr txBox="1"/>
          <p:nvPr/>
        </p:nvSpPr>
        <p:spPr>
          <a:xfrm>
            <a:off x="1287888" y="5119352"/>
            <a:ext cx="8993744"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Importance</a:t>
            </a:r>
            <a:endParaRPr lang="en-US" b="1">
              <a:ea typeface="Calibri"/>
              <a:cs typeface="Calibri"/>
            </a:endParaRPr>
          </a:p>
          <a:p>
            <a:r>
              <a:rPr lang="en-US"/>
              <a:t>Using multiple metrics provides a more comprehensive evaluation than relying on a single measure.</a:t>
            </a:r>
            <a:endParaRPr lang="en-US">
              <a:ea typeface="Calibri"/>
              <a:cs typeface="Calibri"/>
            </a:endParaRPr>
          </a:p>
          <a:p>
            <a:pPr algn="ctr"/>
            <a:endParaRPr lang="en-US"/>
          </a:p>
        </p:txBody>
      </p:sp>
      <p:sp>
        <p:nvSpPr>
          <p:cNvPr id="14" name="TextBox 13">
            <a:extLst>
              <a:ext uri="{FF2B5EF4-FFF2-40B4-BE49-F238E27FC236}">
                <a16:creationId xmlns:a16="http://schemas.microsoft.com/office/drawing/2014/main" id="{3331E01E-77BD-67E9-9F52-ED3DBEF2A848}"/>
              </a:ext>
            </a:extLst>
          </p:cNvPr>
          <p:cNvSpPr txBox="1"/>
          <p:nvPr/>
        </p:nvSpPr>
        <p:spPr>
          <a:xfrm>
            <a:off x="3702160" y="494443"/>
            <a:ext cx="4097519"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a:ea typeface="Calibri" panose="020F0502020204030204"/>
                <a:cs typeface="Calibri" panose="020F0502020204030204"/>
              </a:rPr>
              <a:t>Evaluation </a:t>
            </a:r>
            <a:r>
              <a:rPr lang="en-US" sz="2800" b="1" dirty="0" err="1">
                <a:ea typeface="Calibri" panose="020F0502020204030204"/>
                <a:cs typeface="Calibri" panose="020F0502020204030204"/>
              </a:rPr>
              <a:t>Framewo</a:t>
            </a:r>
            <a:r>
              <a:rPr lang="en-US" sz="2800" b="1" dirty="0">
                <a:ea typeface="Calibri" panose="020F0502020204030204"/>
                <a:cs typeface="Calibri" panose="020F0502020204030204"/>
              </a:rPr>
              <a:t>rk</a:t>
            </a:r>
          </a:p>
        </p:txBody>
      </p:sp>
    </p:spTree>
    <p:extLst>
      <p:ext uri="{BB962C8B-B14F-4D97-AF65-F5344CB8AC3E}">
        <p14:creationId xmlns:p14="http://schemas.microsoft.com/office/powerpoint/2010/main" val="42852778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EBECF0"/>
        </a:solidFill>
        <a:effectLst/>
      </p:bgPr>
    </p:bg>
    <p:spTree>
      <p:nvGrpSpPr>
        <p:cNvPr id="1" name="">
          <a:extLst>
            <a:ext uri="{FF2B5EF4-FFF2-40B4-BE49-F238E27FC236}">
              <a16:creationId xmlns:a16="http://schemas.microsoft.com/office/drawing/2014/main" id="{A7E4A5F2-03A1-9B42-7A76-FE12B4A897D6}"/>
            </a:ext>
          </a:extLst>
        </p:cNvPr>
        <p:cNvGrpSpPr/>
        <p:nvPr/>
      </p:nvGrpSpPr>
      <p:grpSpPr>
        <a:xfrm>
          <a:off x="0" y="0"/>
          <a:ext cx="0" cy="0"/>
          <a:chOff x="0" y="0"/>
          <a:chExt cx="0" cy="0"/>
        </a:xfrm>
      </p:grpSpPr>
      <p:grpSp>
        <p:nvGrpSpPr>
          <p:cNvPr id="59" name="Group 58">
            <a:extLst>
              <a:ext uri="{FF2B5EF4-FFF2-40B4-BE49-F238E27FC236}">
                <a16:creationId xmlns:a16="http://schemas.microsoft.com/office/drawing/2014/main" id="{57D44ADB-30BE-71EF-8C1A-E2E49845F5C1}"/>
              </a:ext>
            </a:extLst>
          </p:cNvPr>
          <p:cNvGrpSpPr/>
          <p:nvPr/>
        </p:nvGrpSpPr>
        <p:grpSpPr>
          <a:xfrm>
            <a:off x="618906" y="243821"/>
            <a:ext cx="10334494" cy="6446716"/>
            <a:chOff x="1162348" y="1677368"/>
            <a:chExt cx="3266778" cy="3266778"/>
          </a:xfrm>
        </p:grpSpPr>
        <p:sp>
          <p:nvSpPr>
            <p:cNvPr id="60" name="Oval 34">
              <a:extLst>
                <a:ext uri="{FF2B5EF4-FFF2-40B4-BE49-F238E27FC236}">
                  <a16:creationId xmlns:a16="http://schemas.microsoft.com/office/drawing/2014/main" id="{E74A7237-4479-2DDA-E022-72755D5ADC6F}"/>
                </a:ext>
              </a:extLst>
            </p:cNvPr>
            <p:cNvSpPr/>
            <p:nvPr/>
          </p:nvSpPr>
          <p:spPr>
            <a:xfrm>
              <a:off x="1162348" y="1677368"/>
              <a:ext cx="3266778" cy="3266778"/>
            </a:xfrm>
            <a:prstGeom prst="roundRect">
              <a:avLst/>
            </a:prstGeom>
            <a:solidFill>
              <a:srgbClr val="EBECF0"/>
            </a:solidFill>
            <a:ln>
              <a:noFill/>
            </a:ln>
            <a:effectLst>
              <a:outerShdw blurRad="177800" dist="114300" dir="2700000" algn="tl" rotWithShape="0">
                <a:srgbClr val="ACB0C0">
                  <a:alpha val="4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1" name="Oval 35">
              <a:extLst>
                <a:ext uri="{FF2B5EF4-FFF2-40B4-BE49-F238E27FC236}">
                  <a16:creationId xmlns:a16="http://schemas.microsoft.com/office/drawing/2014/main" id="{0E3EE536-A3B4-3858-0C5A-006CE2EC54E9}"/>
                </a:ext>
              </a:extLst>
            </p:cNvPr>
            <p:cNvSpPr/>
            <p:nvPr/>
          </p:nvSpPr>
          <p:spPr>
            <a:xfrm>
              <a:off x="1162348" y="1677368"/>
              <a:ext cx="3266778" cy="3266778"/>
            </a:xfrm>
            <a:prstGeom prst="roundRect">
              <a:avLst>
                <a:gd name="adj" fmla="val 6541"/>
              </a:avLst>
            </a:prstGeom>
            <a:solidFill>
              <a:srgbClr val="EBECF0"/>
            </a:solidFill>
            <a:ln>
              <a:noFill/>
            </a:ln>
            <a:effectLst>
              <a:outerShdw blurRad="114300" dist="114300" dir="13500000" algn="br" rotWithShape="0">
                <a:srgbClr val="FFFFFF">
                  <a:alpha val="5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48" name="Freeform: Shape 47">
            <a:extLst>
              <a:ext uri="{FF2B5EF4-FFF2-40B4-BE49-F238E27FC236}">
                <a16:creationId xmlns:a16="http://schemas.microsoft.com/office/drawing/2014/main" id="{64439DD8-6758-E61A-884D-020F41E3FC91}"/>
              </a:ext>
            </a:extLst>
          </p:cNvPr>
          <p:cNvSpPr/>
          <p:nvPr/>
        </p:nvSpPr>
        <p:spPr>
          <a:xfrm>
            <a:off x="11398434" y="1"/>
            <a:ext cx="793566" cy="993711"/>
          </a:xfrm>
          <a:custGeom>
            <a:avLst/>
            <a:gdLst>
              <a:gd name="connsiteX0" fmla="*/ 74242 w 793566"/>
              <a:gd name="connsiteY0" fmla="*/ 0 h 993711"/>
              <a:gd name="connsiteX1" fmla="*/ 793566 w 793566"/>
              <a:gd name="connsiteY1" fmla="*/ 0 h 993711"/>
              <a:gd name="connsiteX2" fmla="*/ 793566 w 793566"/>
              <a:gd name="connsiteY2" fmla="*/ 983129 h 993711"/>
              <a:gd name="connsiteX3" fmla="*/ 688594 w 793566"/>
              <a:gd name="connsiteY3" fmla="*/ 993711 h 993711"/>
              <a:gd name="connsiteX4" fmla="*/ 0 w 793566"/>
              <a:gd name="connsiteY4" fmla="*/ 305117 h 993711"/>
              <a:gd name="connsiteX5" fmla="*/ 54113 w 793566"/>
              <a:gd name="connsiteY5" fmla="*/ 37085 h 993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93566" h="993711">
                <a:moveTo>
                  <a:pt x="74242" y="0"/>
                </a:moveTo>
                <a:lnTo>
                  <a:pt x="793566" y="0"/>
                </a:lnTo>
                <a:lnTo>
                  <a:pt x="793566" y="983129"/>
                </a:lnTo>
                <a:lnTo>
                  <a:pt x="688594" y="993711"/>
                </a:lnTo>
                <a:cubicBezTo>
                  <a:pt x="308294" y="993711"/>
                  <a:pt x="0" y="685417"/>
                  <a:pt x="0" y="305117"/>
                </a:cubicBezTo>
                <a:cubicBezTo>
                  <a:pt x="0" y="210042"/>
                  <a:pt x="19268" y="119467"/>
                  <a:pt x="54113" y="37085"/>
                </a:cubicBezTo>
                <a:close/>
              </a:path>
            </a:pathLst>
          </a:custGeom>
          <a:gradFill>
            <a:gsLst>
              <a:gs pos="0">
                <a:srgbClr val="00CCFF"/>
              </a:gs>
              <a:gs pos="100000">
                <a:srgbClr val="0000FF"/>
              </a:gs>
            </a:gsLst>
            <a:lin ang="0" scaled="1"/>
          </a:gradFill>
          <a:ln w="38100">
            <a:gradFill flip="none" rotWithShape="1">
              <a:gsLst>
                <a:gs pos="0">
                  <a:srgbClr val="00CCFF"/>
                </a:gs>
                <a:gs pos="100000">
                  <a:srgbClr val="0000FF"/>
                </a:gs>
              </a:gsLst>
              <a:lin ang="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9" name="Oval 48">
            <a:extLst>
              <a:ext uri="{FF2B5EF4-FFF2-40B4-BE49-F238E27FC236}">
                <a16:creationId xmlns:a16="http://schemas.microsoft.com/office/drawing/2014/main" id="{230B3DAA-1D31-7426-0D67-D20D272E3845}"/>
              </a:ext>
            </a:extLst>
          </p:cNvPr>
          <p:cNvSpPr/>
          <p:nvPr/>
        </p:nvSpPr>
        <p:spPr>
          <a:xfrm>
            <a:off x="10227818" y="681912"/>
            <a:ext cx="1377188" cy="1377188"/>
          </a:xfrm>
          <a:prstGeom prst="ellipse">
            <a:avLst/>
          </a:prstGeom>
          <a:gradFill>
            <a:gsLst>
              <a:gs pos="0">
                <a:srgbClr val="00CCFF"/>
              </a:gs>
              <a:gs pos="100000">
                <a:srgbClr val="0000FF"/>
              </a:gs>
            </a:gsLst>
            <a:lin ang="0" scaled="1"/>
          </a:gradFill>
          <a:ln w="38100">
            <a:gradFill flip="none" rotWithShape="1">
              <a:gsLst>
                <a:gs pos="0">
                  <a:srgbClr val="00CCFF"/>
                </a:gs>
                <a:gs pos="100000">
                  <a:srgbClr val="0000FF"/>
                </a:gs>
              </a:gsLst>
              <a:lin ang="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0" name="Freeform: Shape 49">
            <a:extLst>
              <a:ext uri="{FF2B5EF4-FFF2-40B4-BE49-F238E27FC236}">
                <a16:creationId xmlns:a16="http://schemas.microsoft.com/office/drawing/2014/main" id="{80E760B8-7FF5-EB6E-900A-E9F67FB5034B}"/>
              </a:ext>
            </a:extLst>
          </p:cNvPr>
          <p:cNvSpPr/>
          <p:nvPr/>
        </p:nvSpPr>
        <p:spPr>
          <a:xfrm>
            <a:off x="11718200" y="1112145"/>
            <a:ext cx="473800" cy="1302014"/>
          </a:xfrm>
          <a:custGeom>
            <a:avLst/>
            <a:gdLst>
              <a:gd name="connsiteX0" fmla="*/ 473800 w 473800"/>
              <a:gd name="connsiteY0" fmla="*/ 0 h 1302014"/>
              <a:gd name="connsiteX1" fmla="*/ 473800 w 473800"/>
              <a:gd name="connsiteY1" fmla="*/ 1302014 h 1302014"/>
              <a:gd name="connsiteX2" fmla="*/ 420562 w 473800"/>
              <a:gd name="connsiteY2" fmla="*/ 1285488 h 1302014"/>
              <a:gd name="connsiteX3" fmla="*/ 0 w 473800"/>
              <a:gd name="connsiteY3" fmla="*/ 651007 h 1302014"/>
              <a:gd name="connsiteX4" fmla="*/ 420562 w 473800"/>
              <a:gd name="connsiteY4" fmla="*/ 16526 h 13020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3800" h="1302014">
                <a:moveTo>
                  <a:pt x="473800" y="0"/>
                </a:moveTo>
                <a:lnTo>
                  <a:pt x="473800" y="1302014"/>
                </a:lnTo>
                <a:lnTo>
                  <a:pt x="420562" y="1285488"/>
                </a:lnTo>
                <a:cubicBezTo>
                  <a:pt x="173415" y="1180954"/>
                  <a:pt x="0" y="936232"/>
                  <a:pt x="0" y="651007"/>
                </a:cubicBezTo>
                <a:cubicBezTo>
                  <a:pt x="0" y="365782"/>
                  <a:pt x="173415" y="121061"/>
                  <a:pt x="420562" y="16526"/>
                </a:cubicBezTo>
                <a:close/>
              </a:path>
            </a:pathLst>
          </a:custGeom>
          <a:gradFill>
            <a:gsLst>
              <a:gs pos="0">
                <a:srgbClr val="00CCFF"/>
              </a:gs>
              <a:gs pos="100000">
                <a:srgbClr val="0000FF"/>
              </a:gs>
            </a:gsLst>
            <a:lin ang="0" scaled="1"/>
          </a:gradFill>
          <a:ln w="38100">
            <a:gradFill flip="none" rotWithShape="1">
              <a:gsLst>
                <a:gs pos="0">
                  <a:srgbClr val="00CCFF"/>
                </a:gs>
                <a:gs pos="100000">
                  <a:srgbClr val="0000FF"/>
                </a:gs>
              </a:gsLst>
              <a:lin ang="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nvGrpSpPr>
          <p:cNvPr id="29" name="Group 28">
            <a:extLst>
              <a:ext uri="{FF2B5EF4-FFF2-40B4-BE49-F238E27FC236}">
                <a16:creationId xmlns:a16="http://schemas.microsoft.com/office/drawing/2014/main" id="{D592346B-D73D-54E8-98D7-584252445504}"/>
              </a:ext>
            </a:extLst>
          </p:cNvPr>
          <p:cNvGrpSpPr/>
          <p:nvPr/>
        </p:nvGrpSpPr>
        <p:grpSpPr>
          <a:xfrm rot="5400000">
            <a:off x="11487150" y="6153150"/>
            <a:ext cx="704850" cy="704850"/>
            <a:chOff x="10538072" y="528484"/>
            <a:chExt cx="1029600" cy="1029600"/>
          </a:xfrm>
          <a:gradFill flip="none" rotWithShape="1">
            <a:gsLst>
              <a:gs pos="0">
                <a:srgbClr val="00CCFF"/>
              </a:gs>
              <a:gs pos="100000">
                <a:srgbClr val="0000FF"/>
              </a:gs>
            </a:gsLst>
            <a:lin ang="2700000" scaled="1"/>
            <a:tileRect/>
          </a:gradFill>
        </p:grpSpPr>
        <p:sp>
          <p:nvSpPr>
            <p:cNvPr id="30" name="Oval 22">
              <a:extLst>
                <a:ext uri="{FF2B5EF4-FFF2-40B4-BE49-F238E27FC236}">
                  <a16:creationId xmlns:a16="http://schemas.microsoft.com/office/drawing/2014/main" id="{FB464A30-DA6B-E484-2799-5E73A4D008B9}"/>
                </a:ext>
              </a:extLst>
            </p:cNvPr>
            <p:cNvSpPr/>
            <p:nvPr/>
          </p:nvSpPr>
          <p:spPr>
            <a:xfrm>
              <a:off x="10538072" y="528484"/>
              <a:ext cx="1029600" cy="1029600"/>
            </a:xfrm>
            <a:prstGeom prst="frame">
              <a:avLst/>
            </a:prstGeom>
            <a:grpFill/>
            <a:ln>
              <a:noFill/>
            </a:ln>
            <a:effectLst>
              <a:outerShdw blurRad="177800" dist="114300" dir="2700000" algn="tl" rotWithShape="0">
                <a:srgbClr val="ACB0C0">
                  <a:alpha val="4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1" name="Oval 23">
              <a:extLst>
                <a:ext uri="{FF2B5EF4-FFF2-40B4-BE49-F238E27FC236}">
                  <a16:creationId xmlns:a16="http://schemas.microsoft.com/office/drawing/2014/main" id="{31F4C333-51AA-F6B3-9810-16154798C475}"/>
                </a:ext>
              </a:extLst>
            </p:cNvPr>
            <p:cNvSpPr/>
            <p:nvPr/>
          </p:nvSpPr>
          <p:spPr>
            <a:xfrm>
              <a:off x="10538337" y="528749"/>
              <a:ext cx="1029071" cy="1029071"/>
            </a:xfrm>
            <a:prstGeom prst="frame">
              <a:avLst/>
            </a:prstGeom>
            <a:grpFill/>
            <a:ln>
              <a:noFill/>
            </a:ln>
            <a:effectLst>
              <a:outerShdw blurRad="114300" dist="114300" dir="13500000" algn="br" rotWithShape="0">
                <a:srgbClr val="FFFFFF">
                  <a:alpha val="5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32" name="TextBox 31">
            <a:extLst>
              <a:ext uri="{FF2B5EF4-FFF2-40B4-BE49-F238E27FC236}">
                <a16:creationId xmlns:a16="http://schemas.microsoft.com/office/drawing/2014/main" id="{D46D8F53-34D8-D7E6-D642-283E83951528}"/>
              </a:ext>
            </a:extLst>
          </p:cNvPr>
          <p:cNvSpPr txBox="1"/>
          <p:nvPr/>
        </p:nvSpPr>
        <p:spPr>
          <a:xfrm>
            <a:off x="11608290" y="6320769"/>
            <a:ext cx="464790" cy="369332"/>
          </a:xfrm>
          <a:prstGeom prst="rect">
            <a:avLst/>
          </a:prstGeom>
          <a:noFill/>
        </p:spPr>
        <p:txBody>
          <a:bodyPr wrap="square" lIns="91440" tIns="45720" rIns="91440" bIns="45720" rtlCol="0" anchor="t">
            <a:spAutoFit/>
          </a:bodyPr>
          <a:lstStyle/>
          <a:p>
            <a:r>
              <a:rPr lang="en-IN" b="1">
                <a:solidFill>
                  <a:schemeClr val="tx1">
                    <a:lumMod val="65000"/>
                    <a:lumOff val="35000"/>
                  </a:schemeClr>
                </a:solidFill>
                <a:latin typeface="Vibur"/>
              </a:rPr>
              <a:t>13</a:t>
            </a:r>
            <a:endParaRPr lang="en-IN" b="1" dirty="0">
              <a:solidFill>
                <a:schemeClr val="tx1">
                  <a:lumMod val="65000"/>
                  <a:lumOff val="35000"/>
                </a:schemeClr>
              </a:solidFill>
              <a:latin typeface="Vibur" panose="03000603000000000000" pitchFamily="66" charset="0"/>
            </a:endParaRPr>
          </a:p>
        </p:txBody>
      </p:sp>
      <p:sp>
        <p:nvSpPr>
          <p:cNvPr id="3" name="TextBox 2">
            <a:extLst>
              <a:ext uri="{FF2B5EF4-FFF2-40B4-BE49-F238E27FC236}">
                <a16:creationId xmlns:a16="http://schemas.microsoft.com/office/drawing/2014/main" id="{5D498CB8-F547-7654-EEBB-85C0E5CC2F69}"/>
              </a:ext>
            </a:extLst>
          </p:cNvPr>
          <p:cNvSpPr txBox="1"/>
          <p:nvPr/>
        </p:nvSpPr>
        <p:spPr>
          <a:xfrm>
            <a:off x="1116824" y="3897251"/>
            <a:ext cx="11633" cy="5118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pic>
        <p:nvPicPr>
          <p:cNvPr id="7" name="Picture 6" descr="A blue logo with text&#10;&#10;AI-generated content may be incorrect.">
            <a:extLst>
              <a:ext uri="{FF2B5EF4-FFF2-40B4-BE49-F238E27FC236}">
                <a16:creationId xmlns:a16="http://schemas.microsoft.com/office/drawing/2014/main" id="{BAA069CA-1281-BDB6-EFEB-9939B5AD3021}"/>
              </a:ext>
            </a:extLst>
          </p:cNvPr>
          <p:cNvPicPr>
            <a:picLocks noChangeAspect="1"/>
          </p:cNvPicPr>
          <p:nvPr/>
        </p:nvPicPr>
        <p:blipFill>
          <a:blip r:embed="rId2"/>
          <a:stretch>
            <a:fillRect/>
          </a:stretch>
        </p:blipFill>
        <p:spPr>
          <a:xfrm>
            <a:off x="10228173" y="5806469"/>
            <a:ext cx="356142" cy="689580"/>
          </a:xfrm>
          <a:prstGeom prst="rect">
            <a:avLst/>
          </a:prstGeom>
        </p:spPr>
      </p:pic>
      <p:sp>
        <p:nvSpPr>
          <p:cNvPr id="4" name="TextBox 3">
            <a:extLst>
              <a:ext uri="{FF2B5EF4-FFF2-40B4-BE49-F238E27FC236}">
                <a16:creationId xmlns:a16="http://schemas.microsoft.com/office/drawing/2014/main" id="{8984EA2E-5D38-731A-B5A0-E04243265B17}"/>
              </a:ext>
            </a:extLst>
          </p:cNvPr>
          <p:cNvSpPr txBox="1"/>
          <p:nvPr/>
        </p:nvSpPr>
        <p:spPr>
          <a:xfrm>
            <a:off x="3702160" y="494443"/>
            <a:ext cx="4414124"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ea typeface="Calibri" panose="020F0502020204030204"/>
                <a:cs typeface="Calibri" panose="020F0502020204030204"/>
              </a:rPr>
              <a:t>Model Performance Result</a:t>
            </a:r>
          </a:p>
        </p:txBody>
      </p:sp>
      <p:graphicFrame>
        <p:nvGraphicFramePr>
          <p:cNvPr id="6" name="Table 5">
            <a:extLst>
              <a:ext uri="{FF2B5EF4-FFF2-40B4-BE49-F238E27FC236}">
                <a16:creationId xmlns:a16="http://schemas.microsoft.com/office/drawing/2014/main" id="{6FB7E3CE-8595-E921-EEE7-EC7508034E06}"/>
              </a:ext>
            </a:extLst>
          </p:cNvPr>
          <p:cNvGraphicFramePr>
            <a:graphicFrameLocks noGrp="1"/>
          </p:cNvGraphicFramePr>
          <p:nvPr>
            <p:extLst>
              <p:ext uri="{D42A27DB-BD31-4B8C-83A1-F6EECF244321}">
                <p14:modId xmlns:p14="http://schemas.microsoft.com/office/powerpoint/2010/main" val="3268373635"/>
              </p:ext>
            </p:extLst>
          </p:nvPr>
        </p:nvGraphicFramePr>
        <p:xfrm>
          <a:off x="1287887" y="2151844"/>
          <a:ext cx="7457094" cy="1097280"/>
        </p:xfrm>
        <a:graphic>
          <a:graphicData uri="http://schemas.openxmlformats.org/drawingml/2006/table">
            <a:tbl>
              <a:tblPr bandRow="1">
                <a:tableStyleId>{5C22544A-7EE6-4342-B048-85BDC9FD1C3A}</a:tableStyleId>
              </a:tblPr>
              <a:tblGrid>
                <a:gridCol w="3728547">
                  <a:extLst>
                    <a:ext uri="{9D8B030D-6E8A-4147-A177-3AD203B41FA5}">
                      <a16:colId xmlns:a16="http://schemas.microsoft.com/office/drawing/2014/main" val="4289583287"/>
                    </a:ext>
                  </a:extLst>
                </a:gridCol>
                <a:gridCol w="3728547">
                  <a:extLst>
                    <a:ext uri="{9D8B030D-6E8A-4147-A177-3AD203B41FA5}">
                      <a16:colId xmlns:a16="http://schemas.microsoft.com/office/drawing/2014/main" val="1566439391"/>
                    </a:ext>
                  </a:extLst>
                </a:gridCol>
              </a:tblGrid>
              <a:tr h="0">
                <a:tc>
                  <a:txBody>
                    <a:bodyPr/>
                    <a:lstStyle/>
                    <a:p>
                      <a:pPr>
                        <a:buNone/>
                      </a:pPr>
                      <a:r>
                        <a:rPr lang="en-US"/>
                        <a:t>Metric</a:t>
                      </a:r>
                    </a:p>
                  </a:txBody>
                  <a:tcPr anchor="ctr">
                    <a:lnL>
                      <a:noFill/>
                    </a:lnL>
                    <a:lnR>
                      <a:noFill/>
                    </a:lnR>
                    <a:lnT>
                      <a:noFill/>
                    </a:lnT>
                    <a:lnB>
                      <a:noFill/>
                    </a:lnB>
                    <a:noFill/>
                  </a:tcPr>
                </a:tc>
                <a:tc>
                  <a:txBody>
                    <a:bodyPr/>
                    <a:lstStyle/>
                    <a:p>
                      <a:pPr>
                        <a:buNone/>
                      </a:pPr>
                      <a:r>
                        <a:rPr lang="en-US"/>
                        <a:t>Value</a:t>
                      </a:r>
                    </a:p>
                  </a:txBody>
                  <a:tcPr anchor="ctr">
                    <a:lnL>
                      <a:noFill/>
                    </a:lnL>
                    <a:lnR>
                      <a:noFill/>
                    </a:lnR>
                    <a:lnT>
                      <a:noFill/>
                    </a:lnT>
                    <a:lnB>
                      <a:noFill/>
                    </a:lnB>
                    <a:noFill/>
                  </a:tcPr>
                </a:tc>
                <a:extLst>
                  <a:ext uri="{0D108BD9-81ED-4DB2-BD59-A6C34878D82A}">
                    <a16:rowId xmlns:a16="http://schemas.microsoft.com/office/drawing/2014/main" val="3116762951"/>
                  </a:ext>
                </a:extLst>
              </a:tr>
              <a:tr h="0">
                <a:tc>
                  <a:txBody>
                    <a:bodyPr/>
                    <a:lstStyle/>
                    <a:p>
                      <a:pPr>
                        <a:buNone/>
                      </a:pPr>
                      <a:r>
                        <a:rPr lang="en-US"/>
                        <a:t>Training Accuracy</a:t>
                      </a:r>
                    </a:p>
                  </a:txBody>
                  <a:tcPr anchor="ctr">
                    <a:lnL>
                      <a:noFill/>
                    </a:lnL>
                    <a:lnR>
                      <a:noFill/>
                    </a:lnR>
                    <a:lnT>
                      <a:noFill/>
                    </a:lnT>
                    <a:lnB>
                      <a:noFill/>
                    </a:lnB>
                    <a:noFill/>
                  </a:tcPr>
                </a:tc>
                <a:tc>
                  <a:txBody>
                    <a:bodyPr/>
                    <a:lstStyle/>
                    <a:p>
                      <a:pPr>
                        <a:buNone/>
                      </a:pPr>
                      <a:r>
                        <a:rPr lang="en-US"/>
                        <a:t>96.40%</a:t>
                      </a:r>
                    </a:p>
                  </a:txBody>
                  <a:tcPr anchor="ctr">
                    <a:lnL>
                      <a:noFill/>
                    </a:lnL>
                    <a:lnR>
                      <a:noFill/>
                    </a:lnR>
                    <a:lnT>
                      <a:noFill/>
                    </a:lnT>
                    <a:lnB>
                      <a:noFill/>
                    </a:lnB>
                    <a:noFill/>
                  </a:tcPr>
                </a:tc>
                <a:extLst>
                  <a:ext uri="{0D108BD9-81ED-4DB2-BD59-A6C34878D82A}">
                    <a16:rowId xmlns:a16="http://schemas.microsoft.com/office/drawing/2014/main" val="2890422335"/>
                  </a:ext>
                </a:extLst>
              </a:tr>
              <a:tr h="0">
                <a:tc>
                  <a:txBody>
                    <a:bodyPr/>
                    <a:lstStyle/>
                    <a:p>
                      <a:pPr>
                        <a:buNone/>
                      </a:pPr>
                      <a:r>
                        <a:rPr lang="en-US"/>
                        <a:t>Validation Accuracy</a:t>
                      </a:r>
                    </a:p>
                  </a:txBody>
                  <a:tcPr anchor="ctr">
                    <a:lnL>
                      <a:noFill/>
                    </a:lnL>
                    <a:lnR>
                      <a:noFill/>
                    </a:lnR>
                    <a:lnT>
                      <a:noFill/>
                    </a:lnT>
                    <a:lnB>
                      <a:noFill/>
                    </a:lnB>
                    <a:noFill/>
                  </a:tcPr>
                </a:tc>
                <a:tc>
                  <a:txBody>
                    <a:bodyPr/>
                    <a:lstStyle/>
                    <a:p>
                      <a:pPr>
                        <a:buNone/>
                      </a:pPr>
                      <a:r>
                        <a:rPr lang="en-US"/>
                        <a:t>93.55%</a:t>
                      </a:r>
                    </a:p>
                  </a:txBody>
                  <a:tcPr anchor="ctr">
                    <a:lnL>
                      <a:noFill/>
                    </a:lnL>
                    <a:lnR>
                      <a:noFill/>
                    </a:lnR>
                    <a:lnT>
                      <a:noFill/>
                    </a:lnT>
                    <a:lnB>
                      <a:noFill/>
                    </a:lnB>
                    <a:noFill/>
                  </a:tcPr>
                </a:tc>
                <a:extLst>
                  <a:ext uri="{0D108BD9-81ED-4DB2-BD59-A6C34878D82A}">
                    <a16:rowId xmlns:a16="http://schemas.microsoft.com/office/drawing/2014/main" val="3892967864"/>
                  </a:ext>
                </a:extLst>
              </a:tr>
            </a:tbl>
          </a:graphicData>
        </a:graphic>
      </p:graphicFrame>
      <p:sp>
        <p:nvSpPr>
          <p:cNvPr id="8" name="TextBox 7">
            <a:extLst>
              <a:ext uri="{FF2B5EF4-FFF2-40B4-BE49-F238E27FC236}">
                <a16:creationId xmlns:a16="http://schemas.microsoft.com/office/drawing/2014/main" id="{39E3CC00-9AB0-DC9F-D4FC-4A6D19F7D616}"/>
              </a:ext>
            </a:extLst>
          </p:cNvPr>
          <p:cNvSpPr txBox="1"/>
          <p:nvPr/>
        </p:nvSpPr>
        <p:spPr>
          <a:xfrm>
            <a:off x="6895563" y="1159099"/>
            <a:ext cx="6096000"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b="1" dirty="0">
              <a:solidFill>
                <a:srgbClr val="FFFFFF"/>
              </a:solidFill>
              <a:ea typeface="Calibri"/>
              <a:cs typeface="Calibri"/>
            </a:endParaRPr>
          </a:p>
          <a:p>
            <a:endParaRPr lang="en-US" b="1" dirty="0">
              <a:solidFill>
                <a:srgbClr val="FFFFFF"/>
              </a:solidFill>
              <a:ea typeface="Calibri"/>
              <a:cs typeface="Calibri"/>
            </a:endParaRPr>
          </a:p>
          <a:p>
            <a:endParaRPr lang="en-US">
              <a:solidFill>
                <a:srgbClr val="FFFFFF"/>
              </a:solidFill>
            </a:endParaRPr>
          </a:p>
          <a:p>
            <a:r>
              <a:rPr lang="en-US" b="1"/>
              <a:t>Observations</a:t>
            </a:r>
            <a:endParaRPr lang="en-US" b="1">
              <a:ea typeface="Calibri"/>
              <a:cs typeface="Calibri"/>
            </a:endParaRPr>
          </a:p>
          <a:p>
            <a:pPr>
              <a:buFont typeface=""/>
              <a:buChar char="•"/>
            </a:pPr>
            <a:r>
              <a:rPr lang="en-US"/>
              <a:t>Stable convergence.</a:t>
            </a:r>
            <a:endParaRPr lang="en-US">
              <a:ea typeface="Calibri"/>
              <a:cs typeface="Calibri"/>
            </a:endParaRPr>
          </a:p>
          <a:p>
            <a:pPr>
              <a:buFont typeface=""/>
              <a:buChar char="•"/>
            </a:pPr>
            <a:r>
              <a:rPr lang="en-US"/>
              <a:t>Low overfitting.</a:t>
            </a:r>
            <a:endParaRPr lang="en-US">
              <a:ea typeface="Calibri"/>
              <a:cs typeface="Calibri"/>
            </a:endParaRPr>
          </a:p>
          <a:p>
            <a:pPr>
              <a:buFont typeface=""/>
              <a:buChar char="•"/>
            </a:pPr>
            <a:r>
              <a:rPr lang="en-US"/>
              <a:t>Good generalization ability.</a:t>
            </a:r>
            <a:endParaRPr lang="en-US">
              <a:ea typeface="Calibri"/>
              <a:cs typeface="Calibri"/>
            </a:endParaRPr>
          </a:p>
          <a:p>
            <a:pPr algn="ctr"/>
            <a:endParaRPr lang="en-US"/>
          </a:p>
        </p:txBody>
      </p:sp>
      <p:sp>
        <p:nvSpPr>
          <p:cNvPr id="9" name="TextBox 8">
            <a:extLst>
              <a:ext uri="{FF2B5EF4-FFF2-40B4-BE49-F238E27FC236}">
                <a16:creationId xmlns:a16="http://schemas.microsoft.com/office/drawing/2014/main" id="{EEDFD1F6-C1A6-D528-DA56-AEBEBDA025EE}"/>
              </a:ext>
            </a:extLst>
          </p:cNvPr>
          <p:cNvSpPr txBox="1"/>
          <p:nvPr/>
        </p:nvSpPr>
        <p:spPr>
          <a:xfrm>
            <a:off x="1126901" y="1116169"/>
            <a:ext cx="6595056"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rtl="0"/>
            <a:r>
              <a:rPr lang="en-US" sz="1800" b="1" baseline="0">
                <a:latin typeface="Calibri"/>
                <a:ea typeface="Segoe UI"/>
                <a:cs typeface="Segoe UI"/>
              </a:rPr>
              <a:t>Training Performance</a:t>
            </a:r>
            <a:r>
              <a:rPr lang="en-US" sz="1800">
                <a:latin typeface="Calibri"/>
                <a:ea typeface="Segoe UI"/>
                <a:cs typeface="Segoe UI"/>
              </a:rPr>
              <a:t>​</a:t>
            </a:r>
          </a:p>
          <a:p>
            <a:r>
              <a:rPr lang="en-US" sz="1800" baseline="0">
                <a:latin typeface="Calibri"/>
                <a:ea typeface="Segoe UI"/>
                <a:cs typeface="Segoe UI"/>
              </a:rPr>
              <a:t>The ResNet-18 model achieved strong classification </a:t>
            </a:r>
            <a:r>
              <a:rPr lang="en-US">
                <a:latin typeface="Calibri"/>
                <a:ea typeface="Segoe UI"/>
                <a:cs typeface="Segoe UI"/>
              </a:rPr>
              <a:t>performance.</a:t>
            </a:r>
          </a:p>
          <a:p>
            <a:pPr algn="ctr" rtl="0"/>
            <a:endParaRPr lang="en-US" b="1" dirty="0">
              <a:solidFill>
                <a:srgbClr val="FFFFFF"/>
              </a:solidFill>
              <a:ea typeface="Calibri"/>
              <a:cs typeface="Calibri"/>
            </a:endParaRPr>
          </a:p>
        </p:txBody>
      </p:sp>
      <p:sp>
        <p:nvSpPr>
          <p:cNvPr id="10" name="Rectangle: Rounded Corners 9">
            <a:extLst>
              <a:ext uri="{FF2B5EF4-FFF2-40B4-BE49-F238E27FC236}">
                <a16:creationId xmlns:a16="http://schemas.microsoft.com/office/drawing/2014/main" id="{4A956DC7-8326-A8E5-1224-FC06A648BEF2}"/>
              </a:ext>
            </a:extLst>
          </p:cNvPr>
          <p:cNvSpPr/>
          <p:nvPr/>
        </p:nvSpPr>
        <p:spPr>
          <a:xfrm>
            <a:off x="1233160" y="2059145"/>
            <a:ext cx="4827938" cy="1617068"/>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descr="A graph of a training history">
            <a:extLst>
              <a:ext uri="{FF2B5EF4-FFF2-40B4-BE49-F238E27FC236}">
                <a16:creationId xmlns:a16="http://schemas.microsoft.com/office/drawing/2014/main" id="{BFA77BDF-2DD8-A2DD-5B79-730DD2C5377B}"/>
              </a:ext>
            </a:extLst>
          </p:cNvPr>
          <p:cNvPicPr>
            <a:picLocks noChangeAspect="1"/>
          </p:cNvPicPr>
          <p:nvPr/>
        </p:nvPicPr>
        <p:blipFill>
          <a:blip r:embed="rId3"/>
          <a:stretch>
            <a:fillRect/>
          </a:stretch>
        </p:blipFill>
        <p:spPr>
          <a:xfrm>
            <a:off x="1257671" y="3797417"/>
            <a:ext cx="7250098" cy="2777247"/>
          </a:xfrm>
          <a:prstGeom prst="rect">
            <a:avLst/>
          </a:prstGeom>
        </p:spPr>
      </p:pic>
    </p:spTree>
    <p:extLst>
      <p:ext uri="{BB962C8B-B14F-4D97-AF65-F5344CB8AC3E}">
        <p14:creationId xmlns:p14="http://schemas.microsoft.com/office/powerpoint/2010/main" val="38612769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EBECF0"/>
        </a:solidFill>
        <a:effectLst/>
      </p:bgPr>
    </p:bg>
    <p:spTree>
      <p:nvGrpSpPr>
        <p:cNvPr id="1" name="">
          <a:extLst>
            <a:ext uri="{FF2B5EF4-FFF2-40B4-BE49-F238E27FC236}">
              <a16:creationId xmlns:a16="http://schemas.microsoft.com/office/drawing/2014/main" id="{5E342DC5-14B2-8C48-5DEF-FA73F32C99EC}"/>
            </a:ext>
          </a:extLst>
        </p:cNvPr>
        <p:cNvGrpSpPr/>
        <p:nvPr/>
      </p:nvGrpSpPr>
      <p:grpSpPr>
        <a:xfrm>
          <a:off x="0" y="0"/>
          <a:ext cx="0" cy="0"/>
          <a:chOff x="0" y="0"/>
          <a:chExt cx="0" cy="0"/>
        </a:xfrm>
      </p:grpSpPr>
      <p:grpSp>
        <p:nvGrpSpPr>
          <p:cNvPr id="59" name="Group 58">
            <a:extLst>
              <a:ext uri="{FF2B5EF4-FFF2-40B4-BE49-F238E27FC236}">
                <a16:creationId xmlns:a16="http://schemas.microsoft.com/office/drawing/2014/main" id="{D7BC3A0B-97A2-09DB-0E73-B686564117A8}"/>
              </a:ext>
            </a:extLst>
          </p:cNvPr>
          <p:cNvGrpSpPr/>
          <p:nvPr/>
        </p:nvGrpSpPr>
        <p:grpSpPr>
          <a:xfrm>
            <a:off x="618906" y="243821"/>
            <a:ext cx="10334494" cy="6446716"/>
            <a:chOff x="1162348" y="1677368"/>
            <a:chExt cx="3266778" cy="3266778"/>
          </a:xfrm>
        </p:grpSpPr>
        <p:sp>
          <p:nvSpPr>
            <p:cNvPr id="60" name="Oval 34">
              <a:extLst>
                <a:ext uri="{FF2B5EF4-FFF2-40B4-BE49-F238E27FC236}">
                  <a16:creationId xmlns:a16="http://schemas.microsoft.com/office/drawing/2014/main" id="{0E7117A4-9D50-FC40-724A-A0CBEA5F04B4}"/>
                </a:ext>
              </a:extLst>
            </p:cNvPr>
            <p:cNvSpPr/>
            <p:nvPr/>
          </p:nvSpPr>
          <p:spPr>
            <a:xfrm>
              <a:off x="1162348" y="1677368"/>
              <a:ext cx="3266778" cy="3266778"/>
            </a:xfrm>
            <a:prstGeom prst="roundRect">
              <a:avLst/>
            </a:prstGeom>
            <a:solidFill>
              <a:srgbClr val="EBECF0"/>
            </a:solidFill>
            <a:ln>
              <a:noFill/>
            </a:ln>
            <a:effectLst>
              <a:outerShdw blurRad="177800" dist="114300" dir="2700000" algn="tl" rotWithShape="0">
                <a:srgbClr val="ACB0C0">
                  <a:alpha val="4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1" name="Oval 35">
              <a:extLst>
                <a:ext uri="{FF2B5EF4-FFF2-40B4-BE49-F238E27FC236}">
                  <a16:creationId xmlns:a16="http://schemas.microsoft.com/office/drawing/2014/main" id="{871CEFC3-4673-AF06-F91C-9C540AE88EBE}"/>
                </a:ext>
              </a:extLst>
            </p:cNvPr>
            <p:cNvSpPr/>
            <p:nvPr/>
          </p:nvSpPr>
          <p:spPr>
            <a:xfrm>
              <a:off x="1162348" y="1677368"/>
              <a:ext cx="3266778" cy="3266778"/>
            </a:xfrm>
            <a:prstGeom prst="roundRect">
              <a:avLst>
                <a:gd name="adj" fmla="val 6541"/>
              </a:avLst>
            </a:prstGeom>
            <a:solidFill>
              <a:srgbClr val="EBECF0"/>
            </a:solidFill>
            <a:ln>
              <a:noFill/>
            </a:ln>
            <a:effectLst>
              <a:outerShdw blurRad="114300" dist="114300" dir="13500000" algn="br" rotWithShape="0">
                <a:srgbClr val="FFFFFF">
                  <a:alpha val="5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48" name="Freeform: Shape 47">
            <a:extLst>
              <a:ext uri="{FF2B5EF4-FFF2-40B4-BE49-F238E27FC236}">
                <a16:creationId xmlns:a16="http://schemas.microsoft.com/office/drawing/2014/main" id="{EFB684AF-126D-517F-A4AD-709C3DE491A1}"/>
              </a:ext>
            </a:extLst>
          </p:cNvPr>
          <p:cNvSpPr/>
          <p:nvPr/>
        </p:nvSpPr>
        <p:spPr>
          <a:xfrm>
            <a:off x="11398434" y="1"/>
            <a:ext cx="793566" cy="993711"/>
          </a:xfrm>
          <a:custGeom>
            <a:avLst/>
            <a:gdLst>
              <a:gd name="connsiteX0" fmla="*/ 74242 w 793566"/>
              <a:gd name="connsiteY0" fmla="*/ 0 h 993711"/>
              <a:gd name="connsiteX1" fmla="*/ 793566 w 793566"/>
              <a:gd name="connsiteY1" fmla="*/ 0 h 993711"/>
              <a:gd name="connsiteX2" fmla="*/ 793566 w 793566"/>
              <a:gd name="connsiteY2" fmla="*/ 983129 h 993711"/>
              <a:gd name="connsiteX3" fmla="*/ 688594 w 793566"/>
              <a:gd name="connsiteY3" fmla="*/ 993711 h 993711"/>
              <a:gd name="connsiteX4" fmla="*/ 0 w 793566"/>
              <a:gd name="connsiteY4" fmla="*/ 305117 h 993711"/>
              <a:gd name="connsiteX5" fmla="*/ 54113 w 793566"/>
              <a:gd name="connsiteY5" fmla="*/ 37085 h 993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93566" h="993711">
                <a:moveTo>
                  <a:pt x="74242" y="0"/>
                </a:moveTo>
                <a:lnTo>
                  <a:pt x="793566" y="0"/>
                </a:lnTo>
                <a:lnTo>
                  <a:pt x="793566" y="983129"/>
                </a:lnTo>
                <a:lnTo>
                  <a:pt x="688594" y="993711"/>
                </a:lnTo>
                <a:cubicBezTo>
                  <a:pt x="308294" y="993711"/>
                  <a:pt x="0" y="685417"/>
                  <a:pt x="0" y="305117"/>
                </a:cubicBezTo>
                <a:cubicBezTo>
                  <a:pt x="0" y="210042"/>
                  <a:pt x="19268" y="119467"/>
                  <a:pt x="54113" y="37085"/>
                </a:cubicBezTo>
                <a:close/>
              </a:path>
            </a:pathLst>
          </a:custGeom>
          <a:gradFill>
            <a:gsLst>
              <a:gs pos="0">
                <a:srgbClr val="00CCFF"/>
              </a:gs>
              <a:gs pos="100000">
                <a:srgbClr val="0000FF"/>
              </a:gs>
            </a:gsLst>
            <a:lin ang="0" scaled="1"/>
          </a:gradFill>
          <a:ln w="38100">
            <a:gradFill flip="none" rotWithShape="1">
              <a:gsLst>
                <a:gs pos="0">
                  <a:srgbClr val="00CCFF"/>
                </a:gs>
                <a:gs pos="100000">
                  <a:srgbClr val="0000FF"/>
                </a:gs>
              </a:gsLst>
              <a:lin ang="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9" name="Oval 48">
            <a:extLst>
              <a:ext uri="{FF2B5EF4-FFF2-40B4-BE49-F238E27FC236}">
                <a16:creationId xmlns:a16="http://schemas.microsoft.com/office/drawing/2014/main" id="{34FD075B-7BD0-D1D6-B101-08117CA51454}"/>
              </a:ext>
            </a:extLst>
          </p:cNvPr>
          <p:cNvSpPr/>
          <p:nvPr/>
        </p:nvSpPr>
        <p:spPr>
          <a:xfrm>
            <a:off x="10227818" y="681912"/>
            <a:ext cx="1377188" cy="1377188"/>
          </a:xfrm>
          <a:prstGeom prst="ellipse">
            <a:avLst/>
          </a:prstGeom>
          <a:gradFill>
            <a:gsLst>
              <a:gs pos="0">
                <a:srgbClr val="00CCFF"/>
              </a:gs>
              <a:gs pos="100000">
                <a:srgbClr val="0000FF"/>
              </a:gs>
            </a:gsLst>
            <a:lin ang="0" scaled="1"/>
          </a:gradFill>
          <a:ln w="38100">
            <a:gradFill flip="none" rotWithShape="1">
              <a:gsLst>
                <a:gs pos="0">
                  <a:srgbClr val="00CCFF"/>
                </a:gs>
                <a:gs pos="100000">
                  <a:srgbClr val="0000FF"/>
                </a:gs>
              </a:gsLst>
              <a:lin ang="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0" name="Freeform: Shape 49">
            <a:extLst>
              <a:ext uri="{FF2B5EF4-FFF2-40B4-BE49-F238E27FC236}">
                <a16:creationId xmlns:a16="http://schemas.microsoft.com/office/drawing/2014/main" id="{A8DA2A15-81A7-7EA1-6867-7005282EB585}"/>
              </a:ext>
            </a:extLst>
          </p:cNvPr>
          <p:cNvSpPr/>
          <p:nvPr/>
        </p:nvSpPr>
        <p:spPr>
          <a:xfrm>
            <a:off x="11718200" y="1112145"/>
            <a:ext cx="473800" cy="1302014"/>
          </a:xfrm>
          <a:custGeom>
            <a:avLst/>
            <a:gdLst>
              <a:gd name="connsiteX0" fmla="*/ 473800 w 473800"/>
              <a:gd name="connsiteY0" fmla="*/ 0 h 1302014"/>
              <a:gd name="connsiteX1" fmla="*/ 473800 w 473800"/>
              <a:gd name="connsiteY1" fmla="*/ 1302014 h 1302014"/>
              <a:gd name="connsiteX2" fmla="*/ 420562 w 473800"/>
              <a:gd name="connsiteY2" fmla="*/ 1285488 h 1302014"/>
              <a:gd name="connsiteX3" fmla="*/ 0 w 473800"/>
              <a:gd name="connsiteY3" fmla="*/ 651007 h 1302014"/>
              <a:gd name="connsiteX4" fmla="*/ 420562 w 473800"/>
              <a:gd name="connsiteY4" fmla="*/ 16526 h 13020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3800" h="1302014">
                <a:moveTo>
                  <a:pt x="473800" y="0"/>
                </a:moveTo>
                <a:lnTo>
                  <a:pt x="473800" y="1302014"/>
                </a:lnTo>
                <a:lnTo>
                  <a:pt x="420562" y="1285488"/>
                </a:lnTo>
                <a:cubicBezTo>
                  <a:pt x="173415" y="1180954"/>
                  <a:pt x="0" y="936232"/>
                  <a:pt x="0" y="651007"/>
                </a:cubicBezTo>
                <a:cubicBezTo>
                  <a:pt x="0" y="365782"/>
                  <a:pt x="173415" y="121061"/>
                  <a:pt x="420562" y="16526"/>
                </a:cubicBezTo>
                <a:close/>
              </a:path>
            </a:pathLst>
          </a:custGeom>
          <a:gradFill>
            <a:gsLst>
              <a:gs pos="0">
                <a:srgbClr val="00CCFF"/>
              </a:gs>
              <a:gs pos="100000">
                <a:srgbClr val="0000FF"/>
              </a:gs>
            </a:gsLst>
            <a:lin ang="0" scaled="1"/>
          </a:gradFill>
          <a:ln w="38100">
            <a:gradFill flip="none" rotWithShape="1">
              <a:gsLst>
                <a:gs pos="0">
                  <a:srgbClr val="00CCFF"/>
                </a:gs>
                <a:gs pos="100000">
                  <a:srgbClr val="0000FF"/>
                </a:gs>
              </a:gsLst>
              <a:lin ang="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nvGrpSpPr>
          <p:cNvPr id="29" name="Group 28">
            <a:extLst>
              <a:ext uri="{FF2B5EF4-FFF2-40B4-BE49-F238E27FC236}">
                <a16:creationId xmlns:a16="http://schemas.microsoft.com/office/drawing/2014/main" id="{9193B70F-7785-1F17-D0CD-837787964BE1}"/>
              </a:ext>
            </a:extLst>
          </p:cNvPr>
          <p:cNvGrpSpPr/>
          <p:nvPr/>
        </p:nvGrpSpPr>
        <p:grpSpPr>
          <a:xfrm rot="5400000">
            <a:off x="11487150" y="6153150"/>
            <a:ext cx="704850" cy="704850"/>
            <a:chOff x="10538072" y="528484"/>
            <a:chExt cx="1029600" cy="1029600"/>
          </a:xfrm>
          <a:gradFill flip="none" rotWithShape="1">
            <a:gsLst>
              <a:gs pos="0">
                <a:srgbClr val="00CCFF"/>
              </a:gs>
              <a:gs pos="100000">
                <a:srgbClr val="0000FF"/>
              </a:gs>
            </a:gsLst>
            <a:lin ang="2700000" scaled="1"/>
            <a:tileRect/>
          </a:gradFill>
        </p:grpSpPr>
        <p:sp>
          <p:nvSpPr>
            <p:cNvPr id="30" name="Oval 22">
              <a:extLst>
                <a:ext uri="{FF2B5EF4-FFF2-40B4-BE49-F238E27FC236}">
                  <a16:creationId xmlns:a16="http://schemas.microsoft.com/office/drawing/2014/main" id="{CEBDEC70-5D01-F089-138A-AC7F9B36C495}"/>
                </a:ext>
              </a:extLst>
            </p:cNvPr>
            <p:cNvSpPr/>
            <p:nvPr/>
          </p:nvSpPr>
          <p:spPr>
            <a:xfrm>
              <a:off x="10538072" y="528484"/>
              <a:ext cx="1029600" cy="1029600"/>
            </a:xfrm>
            <a:prstGeom prst="frame">
              <a:avLst/>
            </a:prstGeom>
            <a:grpFill/>
            <a:ln>
              <a:noFill/>
            </a:ln>
            <a:effectLst>
              <a:outerShdw blurRad="177800" dist="114300" dir="2700000" algn="tl" rotWithShape="0">
                <a:srgbClr val="ACB0C0">
                  <a:alpha val="4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1" name="Oval 23">
              <a:extLst>
                <a:ext uri="{FF2B5EF4-FFF2-40B4-BE49-F238E27FC236}">
                  <a16:creationId xmlns:a16="http://schemas.microsoft.com/office/drawing/2014/main" id="{B44994F9-8708-FE5A-3101-B4A5BF98FB38}"/>
                </a:ext>
              </a:extLst>
            </p:cNvPr>
            <p:cNvSpPr/>
            <p:nvPr/>
          </p:nvSpPr>
          <p:spPr>
            <a:xfrm>
              <a:off x="10538337" y="528749"/>
              <a:ext cx="1029071" cy="1029071"/>
            </a:xfrm>
            <a:prstGeom prst="frame">
              <a:avLst/>
            </a:prstGeom>
            <a:grpFill/>
            <a:ln>
              <a:noFill/>
            </a:ln>
            <a:effectLst>
              <a:outerShdw blurRad="114300" dist="114300" dir="13500000" algn="br" rotWithShape="0">
                <a:srgbClr val="FFFFFF">
                  <a:alpha val="5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32" name="TextBox 31">
            <a:extLst>
              <a:ext uri="{FF2B5EF4-FFF2-40B4-BE49-F238E27FC236}">
                <a16:creationId xmlns:a16="http://schemas.microsoft.com/office/drawing/2014/main" id="{3790C818-86AA-97BE-39BF-C363E1C7B272}"/>
              </a:ext>
            </a:extLst>
          </p:cNvPr>
          <p:cNvSpPr txBox="1"/>
          <p:nvPr/>
        </p:nvSpPr>
        <p:spPr>
          <a:xfrm>
            <a:off x="11608290" y="6320769"/>
            <a:ext cx="464790" cy="369332"/>
          </a:xfrm>
          <a:prstGeom prst="rect">
            <a:avLst/>
          </a:prstGeom>
          <a:noFill/>
        </p:spPr>
        <p:txBody>
          <a:bodyPr wrap="square" lIns="91440" tIns="45720" rIns="91440" bIns="45720" rtlCol="0" anchor="t">
            <a:spAutoFit/>
          </a:bodyPr>
          <a:lstStyle/>
          <a:p>
            <a:r>
              <a:rPr lang="en-IN" b="1">
                <a:solidFill>
                  <a:schemeClr val="tx1">
                    <a:lumMod val="65000"/>
                    <a:lumOff val="35000"/>
                  </a:schemeClr>
                </a:solidFill>
                <a:latin typeface="Vibur"/>
              </a:rPr>
              <a:t>14</a:t>
            </a:r>
            <a:endParaRPr lang="en-IN" b="1" dirty="0">
              <a:solidFill>
                <a:schemeClr val="tx1">
                  <a:lumMod val="65000"/>
                  <a:lumOff val="35000"/>
                </a:schemeClr>
              </a:solidFill>
              <a:latin typeface="Vibur" panose="03000603000000000000" pitchFamily="66" charset="0"/>
            </a:endParaRPr>
          </a:p>
        </p:txBody>
      </p:sp>
      <p:sp>
        <p:nvSpPr>
          <p:cNvPr id="3" name="TextBox 2">
            <a:extLst>
              <a:ext uri="{FF2B5EF4-FFF2-40B4-BE49-F238E27FC236}">
                <a16:creationId xmlns:a16="http://schemas.microsoft.com/office/drawing/2014/main" id="{971B1317-719E-77A8-4074-C0F5E05F80BB}"/>
              </a:ext>
            </a:extLst>
          </p:cNvPr>
          <p:cNvSpPr txBox="1"/>
          <p:nvPr/>
        </p:nvSpPr>
        <p:spPr>
          <a:xfrm>
            <a:off x="1116824" y="3897251"/>
            <a:ext cx="11633" cy="5118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pic>
        <p:nvPicPr>
          <p:cNvPr id="7" name="Picture 6" descr="A blue logo with text&#10;&#10;AI-generated content may be incorrect.">
            <a:extLst>
              <a:ext uri="{FF2B5EF4-FFF2-40B4-BE49-F238E27FC236}">
                <a16:creationId xmlns:a16="http://schemas.microsoft.com/office/drawing/2014/main" id="{0F037D1E-2A99-CAA1-3BC9-DDC8501943BB}"/>
              </a:ext>
            </a:extLst>
          </p:cNvPr>
          <p:cNvPicPr>
            <a:picLocks noChangeAspect="1"/>
          </p:cNvPicPr>
          <p:nvPr/>
        </p:nvPicPr>
        <p:blipFill>
          <a:blip r:embed="rId2"/>
          <a:stretch>
            <a:fillRect/>
          </a:stretch>
        </p:blipFill>
        <p:spPr>
          <a:xfrm>
            <a:off x="10228173" y="5806469"/>
            <a:ext cx="356142" cy="689580"/>
          </a:xfrm>
          <a:prstGeom prst="rect">
            <a:avLst/>
          </a:prstGeom>
        </p:spPr>
      </p:pic>
      <p:sp>
        <p:nvSpPr>
          <p:cNvPr id="4" name="TextBox 3">
            <a:extLst>
              <a:ext uri="{FF2B5EF4-FFF2-40B4-BE49-F238E27FC236}">
                <a16:creationId xmlns:a16="http://schemas.microsoft.com/office/drawing/2014/main" id="{AE787D22-590B-6EBE-9733-89642A9E96F8}"/>
              </a:ext>
            </a:extLst>
          </p:cNvPr>
          <p:cNvSpPr txBox="1"/>
          <p:nvPr/>
        </p:nvSpPr>
        <p:spPr>
          <a:xfrm>
            <a:off x="3154704" y="494443"/>
            <a:ext cx="5878938"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ea typeface="Calibri" panose="020F0502020204030204"/>
                <a:cs typeface="Calibri" panose="020F0502020204030204"/>
              </a:rPr>
              <a:t>Comparative Analysis of XAI Methods</a:t>
            </a:r>
          </a:p>
        </p:txBody>
      </p:sp>
      <p:sp>
        <p:nvSpPr>
          <p:cNvPr id="6" name="TextBox 5">
            <a:extLst>
              <a:ext uri="{FF2B5EF4-FFF2-40B4-BE49-F238E27FC236}">
                <a16:creationId xmlns:a16="http://schemas.microsoft.com/office/drawing/2014/main" id="{2792F685-43B8-A610-BE7A-F9512CAA78BA}"/>
              </a:ext>
            </a:extLst>
          </p:cNvPr>
          <p:cNvSpPr txBox="1"/>
          <p:nvPr/>
        </p:nvSpPr>
        <p:spPr>
          <a:xfrm>
            <a:off x="1287313" y="1512899"/>
            <a:ext cx="3571511"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ea typeface="Calibri"/>
                <a:cs typeface="Calibri"/>
              </a:rPr>
              <a:t>GRAD-CAM</a:t>
            </a:r>
          </a:p>
          <a:p>
            <a:pPr marL="285750" indent="-285750">
              <a:buFont typeface="Arial"/>
              <a:buChar char="•"/>
            </a:pPr>
            <a:r>
              <a:rPr lang="en-US">
                <a:ea typeface="+mn-lt"/>
                <a:cs typeface="+mn-lt"/>
              </a:rPr>
              <a:t>Fastest explanation generation.</a:t>
            </a:r>
            <a:endParaRPr lang="en-US">
              <a:ea typeface="Calibri"/>
              <a:cs typeface="Calibri"/>
            </a:endParaRPr>
          </a:p>
          <a:p>
            <a:pPr>
              <a:buFont typeface="Arial"/>
              <a:buChar char="•"/>
            </a:pPr>
            <a:r>
              <a:rPr lang="en-US">
                <a:ea typeface="+mn-lt"/>
                <a:cs typeface="+mn-lt"/>
              </a:rPr>
              <a:t>    Effective visual localization.</a:t>
            </a:r>
          </a:p>
        </p:txBody>
      </p:sp>
      <p:sp>
        <p:nvSpPr>
          <p:cNvPr id="9" name="TextBox 8">
            <a:extLst>
              <a:ext uri="{FF2B5EF4-FFF2-40B4-BE49-F238E27FC236}">
                <a16:creationId xmlns:a16="http://schemas.microsoft.com/office/drawing/2014/main" id="{245837EE-746A-42C3-AB2E-72C6A256B4FF}"/>
              </a:ext>
            </a:extLst>
          </p:cNvPr>
          <p:cNvSpPr txBox="1"/>
          <p:nvPr/>
        </p:nvSpPr>
        <p:spPr>
          <a:xfrm>
            <a:off x="1230259" y="4609240"/>
            <a:ext cx="4866170"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b="1">
                <a:ea typeface="Calibri"/>
                <a:cs typeface="Calibri"/>
              </a:rPr>
              <a:t>LIME</a:t>
            </a:r>
          </a:p>
          <a:p>
            <a:pPr marL="285750" indent="-285750">
              <a:buFont typeface="Arial"/>
              <a:buChar char="•"/>
            </a:pPr>
            <a:r>
              <a:rPr lang="en-US">
                <a:ea typeface="+mn-lt"/>
                <a:cs typeface="+mn-lt"/>
              </a:rPr>
              <a:t>Works with any model.</a:t>
            </a:r>
            <a:endParaRPr lang="en-US">
              <a:ea typeface="Calibri"/>
              <a:cs typeface="Calibri"/>
            </a:endParaRPr>
          </a:p>
          <a:p>
            <a:pPr>
              <a:buFont typeface="Arial"/>
              <a:buChar char="•"/>
            </a:pPr>
            <a:r>
              <a:rPr lang="en-US" dirty="0">
                <a:ea typeface="+mn-lt"/>
                <a:cs typeface="+mn-lt"/>
              </a:rPr>
              <a:t>    Provides intuitive </a:t>
            </a:r>
            <a:r>
              <a:rPr lang="en-US" dirty="0" err="1">
                <a:ea typeface="+mn-lt"/>
                <a:cs typeface="+mn-lt"/>
              </a:rPr>
              <a:t>superpixel</a:t>
            </a:r>
            <a:r>
              <a:rPr lang="en-US" dirty="0">
                <a:ea typeface="+mn-lt"/>
                <a:cs typeface="+mn-lt"/>
              </a:rPr>
              <a:t> </a:t>
            </a:r>
          </a:p>
          <a:p>
            <a:r>
              <a:rPr lang="en-US">
                <a:ea typeface="+mn-lt"/>
                <a:cs typeface="+mn-lt"/>
              </a:rPr>
              <a:t>      explanations.</a:t>
            </a:r>
            <a:endParaRPr lang="en-US">
              <a:ea typeface="Calibri" panose="020F0502020204030204"/>
              <a:cs typeface="Calibri" panose="020F0502020204030204"/>
            </a:endParaRPr>
          </a:p>
        </p:txBody>
      </p:sp>
      <p:sp>
        <p:nvSpPr>
          <p:cNvPr id="13" name="TextBox 12">
            <a:extLst>
              <a:ext uri="{FF2B5EF4-FFF2-40B4-BE49-F238E27FC236}">
                <a16:creationId xmlns:a16="http://schemas.microsoft.com/office/drawing/2014/main" id="{DFA1EC06-8A7F-B033-8F83-C6EE500B5312}"/>
              </a:ext>
            </a:extLst>
          </p:cNvPr>
          <p:cNvSpPr txBox="1"/>
          <p:nvPr/>
        </p:nvSpPr>
        <p:spPr>
          <a:xfrm>
            <a:off x="1302108" y="2988086"/>
            <a:ext cx="3571511"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ea typeface="Calibri"/>
                <a:cs typeface="Calibri"/>
              </a:rPr>
              <a:t>SHAP</a:t>
            </a:r>
          </a:p>
          <a:p>
            <a:pPr marL="285750" indent="-285750">
              <a:buFont typeface="Arial"/>
              <a:buChar char="•"/>
            </a:pPr>
            <a:r>
              <a:rPr lang="en-US">
                <a:ea typeface="+mn-lt"/>
                <a:cs typeface="+mn-lt"/>
              </a:rPr>
              <a:t>Highest attribution quality.</a:t>
            </a:r>
            <a:endParaRPr lang="en-US">
              <a:ea typeface="Calibri"/>
              <a:cs typeface="Calibri"/>
            </a:endParaRPr>
          </a:p>
          <a:p>
            <a:pPr>
              <a:buFont typeface="Arial"/>
              <a:buChar char="•"/>
            </a:pPr>
            <a:r>
              <a:rPr lang="en-US">
                <a:ea typeface="+mn-lt"/>
                <a:cs typeface="+mn-lt"/>
              </a:rPr>
              <a:t>    Strong theoretical basis.</a:t>
            </a:r>
          </a:p>
        </p:txBody>
      </p:sp>
      <p:sp>
        <p:nvSpPr>
          <p:cNvPr id="15" name="Rectangle: Rounded Corners 14">
            <a:extLst>
              <a:ext uri="{FF2B5EF4-FFF2-40B4-BE49-F238E27FC236}">
                <a16:creationId xmlns:a16="http://schemas.microsoft.com/office/drawing/2014/main" id="{973A2109-6D1B-AB3F-5693-839AE22C81E4}"/>
              </a:ext>
            </a:extLst>
          </p:cNvPr>
          <p:cNvSpPr/>
          <p:nvPr/>
        </p:nvSpPr>
        <p:spPr>
          <a:xfrm>
            <a:off x="1265529" y="1362260"/>
            <a:ext cx="3455739" cy="127811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Rounded Corners 16">
            <a:extLst>
              <a:ext uri="{FF2B5EF4-FFF2-40B4-BE49-F238E27FC236}">
                <a16:creationId xmlns:a16="http://schemas.microsoft.com/office/drawing/2014/main" id="{1670829E-5BF1-667F-650D-BBAB890A1442}"/>
              </a:ext>
            </a:extLst>
          </p:cNvPr>
          <p:cNvSpPr/>
          <p:nvPr/>
        </p:nvSpPr>
        <p:spPr>
          <a:xfrm>
            <a:off x="1259752" y="4474470"/>
            <a:ext cx="3478442" cy="135531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Rounded Corners 20">
            <a:extLst>
              <a:ext uri="{FF2B5EF4-FFF2-40B4-BE49-F238E27FC236}">
                <a16:creationId xmlns:a16="http://schemas.microsoft.com/office/drawing/2014/main" id="{9218968B-70AC-00AE-C9C0-973E074D5D49}"/>
              </a:ext>
            </a:extLst>
          </p:cNvPr>
          <p:cNvSpPr/>
          <p:nvPr/>
        </p:nvSpPr>
        <p:spPr>
          <a:xfrm>
            <a:off x="1258131" y="2953751"/>
            <a:ext cx="3464719" cy="1179567"/>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Picture 21" descr="A graph of different colored bars&#10;&#10;AI-generated content may be incorrect.">
            <a:extLst>
              <a:ext uri="{FF2B5EF4-FFF2-40B4-BE49-F238E27FC236}">
                <a16:creationId xmlns:a16="http://schemas.microsoft.com/office/drawing/2014/main" id="{48F1264E-DBD0-A13B-C6A9-E26EFD97F4AD}"/>
              </a:ext>
            </a:extLst>
          </p:cNvPr>
          <p:cNvPicPr>
            <a:picLocks noChangeAspect="1"/>
          </p:cNvPicPr>
          <p:nvPr/>
        </p:nvPicPr>
        <p:blipFill>
          <a:blip r:embed="rId3"/>
          <a:stretch>
            <a:fillRect/>
          </a:stretch>
        </p:blipFill>
        <p:spPr>
          <a:xfrm>
            <a:off x="5787710" y="1354819"/>
            <a:ext cx="3775101" cy="2013601"/>
          </a:xfrm>
          <a:prstGeom prst="rect">
            <a:avLst/>
          </a:prstGeom>
        </p:spPr>
      </p:pic>
      <p:pic>
        <p:nvPicPr>
          <p:cNvPr id="23" name="Picture 22" descr="A graph showing the average metrics heat&#10;&#10;AI-generated content may be incorrect.">
            <a:extLst>
              <a:ext uri="{FF2B5EF4-FFF2-40B4-BE49-F238E27FC236}">
                <a16:creationId xmlns:a16="http://schemas.microsoft.com/office/drawing/2014/main" id="{BFA7F664-8034-A8B6-A704-432877C54FC6}"/>
              </a:ext>
            </a:extLst>
          </p:cNvPr>
          <p:cNvPicPr>
            <a:picLocks noChangeAspect="1"/>
          </p:cNvPicPr>
          <p:nvPr/>
        </p:nvPicPr>
        <p:blipFill>
          <a:blip r:embed="rId4"/>
          <a:stretch>
            <a:fillRect/>
          </a:stretch>
        </p:blipFill>
        <p:spPr>
          <a:xfrm>
            <a:off x="5792073" y="3982555"/>
            <a:ext cx="3771029" cy="1826693"/>
          </a:xfrm>
          <a:prstGeom prst="rect">
            <a:avLst/>
          </a:prstGeom>
        </p:spPr>
      </p:pic>
      <p:sp>
        <p:nvSpPr>
          <p:cNvPr id="24" name="TextBox 23">
            <a:extLst>
              <a:ext uri="{FF2B5EF4-FFF2-40B4-BE49-F238E27FC236}">
                <a16:creationId xmlns:a16="http://schemas.microsoft.com/office/drawing/2014/main" id="{6A603E5D-2F22-3A2E-9D6A-BA64D287F385}"/>
              </a:ext>
            </a:extLst>
          </p:cNvPr>
          <p:cNvSpPr txBox="1"/>
          <p:nvPr/>
        </p:nvSpPr>
        <p:spPr>
          <a:xfrm>
            <a:off x="1233160" y="5941855"/>
            <a:ext cx="6096000"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Conclusion</a:t>
            </a:r>
            <a:endParaRPr lang="en-US" b="1">
              <a:ea typeface="Calibri"/>
              <a:cs typeface="Calibri"/>
            </a:endParaRPr>
          </a:p>
          <a:p>
            <a:r>
              <a:rPr lang="en-US"/>
              <a:t>No single method dominates all evaluation metrics.</a:t>
            </a:r>
            <a:endParaRPr lang="en-US">
              <a:ea typeface="Calibri"/>
              <a:cs typeface="Calibri"/>
            </a:endParaRPr>
          </a:p>
          <a:p>
            <a:pPr algn="ctr"/>
            <a:endParaRPr lang="en-US" dirty="0">
              <a:ea typeface="Calibri"/>
              <a:cs typeface="Calibri"/>
            </a:endParaRPr>
          </a:p>
        </p:txBody>
      </p:sp>
    </p:spTree>
    <p:extLst>
      <p:ext uri="{BB962C8B-B14F-4D97-AF65-F5344CB8AC3E}">
        <p14:creationId xmlns:p14="http://schemas.microsoft.com/office/powerpoint/2010/main" val="2001549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EBECF0"/>
        </a:solidFill>
        <a:effectLst/>
      </p:bgPr>
    </p:bg>
    <p:spTree>
      <p:nvGrpSpPr>
        <p:cNvPr id="1" name="">
          <a:extLst>
            <a:ext uri="{FF2B5EF4-FFF2-40B4-BE49-F238E27FC236}">
              <a16:creationId xmlns:a16="http://schemas.microsoft.com/office/drawing/2014/main" id="{65116E9A-7C8B-5F3C-040C-4F8958FD1308}"/>
            </a:ext>
          </a:extLst>
        </p:cNvPr>
        <p:cNvGrpSpPr/>
        <p:nvPr/>
      </p:nvGrpSpPr>
      <p:grpSpPr>
        <a:xfrm>
          <a:off x="0" y="0"/>
          <a:ext cx="0" cy="0"/>
          <a:chOff x="0" y="0"/>
          <a:chExt cx="0" cy="0"/>
        </a:xfrm>
      </p:grpSpPr>
      <p:grpSp>
        <p:nvGrpSpPr>
          <p:cNvPr id="59" name="Group 58">
            <a:extLst>
              <a:ext uri="{FF2B5EF4-FFF2-40B4-BE49-F238E27FC236}">
                <a16:creationId xmlns:a16="http://schemas.microsoft.com/office/drawing/2014/main" id="{23F7C976-90D4-1F7D-DD6B-2E8044AAA4E7}"/>
              </a:ext>
            </a:extLst>
          </p:cNvPr>
          <p:cNvGrpSpPr/>
          <p:nvPr/>
        </p:nvGrpSpPr>
        <p:grpSpPr>
          <a:xfrm>
            <a:off x="618906" y="243821"/>
            <a:ext cx="10334494" cy="6446716"/>
            <a:chOff x="1162348" y="1677368"/>
            <a:chExt cx="3266778" cy="3266778"/>
          </a:xfrm>
        </p:grpSpPr>
        <p:sp>
          <p:nvSpPr>
            <p:cNvPr id="60" name="Oval 34">
              <a:extLst>
                <a:ext uri="{FF2B5EF4-FFF2-40B4-BE49-F238E27FC236}">
                  <a16:creationId xmlns:a16="http://schemas.microsoft.com/office/drawing/2014/main" id="{FF8899F7-6D09-3497-704F-A3BD1EEBD0C5}"/>
                </a:ext>
              </a:extLst>
            </p:cNvPr>
            <p:cNvSpPr/>
            <p:nvPr/>
          </p:nvSpPr>
          <p:spPr>
            <a:xfrm>
              <a:off x="1162348" y="1677368"/>
              <a:ext cx="3266778" cy="3266778"/>
            </a:xfrm>
            <a:prstGeom prst="roundRect">
              <a:avLst/>
            </a:prstGeom>
            <a:solidFill>
              <a:srgbClr val="EBECF0"/>
            </a:solidFill>
            <a:ln>
              <a:noFill/>
            </a:ln>
            <a:effectLst>
              <a:outerShdw blurRad="177800" dist="114300" dir="2700000" algn="tl" rotWithShape="0">
                <a:srgbClr val="ACB0C0">
                  <a:alpha val="4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1" name="Oval 35">
              <a:extLst>
                <a:ext uri="{FF2B5EF4-FFF2-40B4-BE49-F238E27FC236}">
                  <a16:creationId xmlns:a16="http://schemas.microsoft.com/office/drawing/2014/main" id="{C1857198-B41B-73E9-6235-6D930CD7C75F}"/>
                </a:ext>
              </a:extLst>
            </p:cNvPr>
            <p:cNvSpPr/>
            <p:nvPr/>
          </p:nvSpPr>
          <p:spPr>
            <a:xfrm>
              <a:off x="1162348" y="1677368"/>
              <a:ext cx="3266778" cy="3266778"/>
            </a:xfrm>
            <a:prstGeom prst="roundRect">
              <a:avLst>
                <a:gd name="adj" fmla="val 6541"/>
              </a:avLst>
            </a:prstGeom>
            <a:solidFill>
              <a:srgbClr val="EBECF0"/>
            </a:solidFill>
            <a:ln>
              <a:noFill/>
            </a:ln>
            <a:effectLst>
              <a:outerShdw blurRad="114300" dist="114300" dir="13500000" algn="br" rotWithShape="0">
                <a:srgbClr val="FFFFFF">
                  <a:alpha val="5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48" name="Freeform: Shape 47">
            <a:extLst>
              <a:ext uri="{FF2B5EF4-FFF2-40B4-BE49-F238E27FC236}">
                <a16:creationId xmlns:a16="http://schemas.microsoft.com/office/drawing/2014/main" id="{9A42AC70-D72B-D7B8-095E-DF0B6D081076}"/>
              </a:ext>
            </a:extLst>
          </p:cNvPr>
          <p:cNvSpPr/>
          <p:nvPr/>
        </p:nvSpPr>
        <p:spPr>
          <a:xfrm>
            <a:off x="11398434" y="1"/>
            <a:ext cx="793566" cy="993711"/>
          </a:xfrm>
          <a:custGeom>
            <a:avLst/>
            <a:gdLst>
              <a:gd name="connsiteX0" fmla="*/ 74242 w 793566"/>
              <a:gd name="connsiteY0" fmla="*/ 0 h 993711"/>
              <a:gd name="connsiteX1" fmla="*/ 793566 w 793566"/>
              <a:gd name="connsiteY1" fmla="*/ 0 h 993711"/>
              <a:gd name="connsiteX2" fmla="*/ 793566 w 793566"/>
              <a:gd name="connsiteY2" fmla="*/ 983129 h 993711"/>
              <a:gd name="connsiteX3" fmla="*/ 688594 w 793566"/>
              <a:gd name="connsiteY3" fmla="*/ 993711 h 993711"/>
              <a:gd name="connsiteX4" fmla="*/ 0 w 793566"/>
              <a:gd name="connsiteY4" fmla="*/ 305117 h 993711"/>
              <a:gd name="connsiteX5" fmla="*/ 54113 w 793566"/>
              <a:gd name="connsiteY5" fmla="*/ 37085 h 993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93566" h="993711">
                <a:moveTo>
                  <a:pt x="74242" y="0"/>
                </a:moveTo>
                <a:lnTo>
                  <a:pt x="793566" y="0"/>
                </a:lnTo>
                <a:lnTo>
                  <a:pt x="793566" y="983129"/>
                </a:lnTo>
                <a:lnTo>
                  <a:pt x="688594" y="993711"/>
                </a:lnTo>
                <a:cubicBezTo>
                  <a:pt x="308294" y="993711"/>
                  <a:pt x="0" y="685417"/>
                  <a:pt x="0" y="305117"/>
                </a:cubicBezTo>
                <a:cubicBezTo>
                  <a:pt x="0" y="210042"/>
                  <a:pt x="19268" y="119467"/>
                  <a:pt x="54113" y="37085"/>
                </a:cubicBezTo>
                <a:close/>
              </a:path>
            </a:pathLst>
          </a:custGeom>
          <a:gradFill>
            <a:gsLst>
              <a:gs pos="0">
                <a:srgbClr val="00CCFF"/>
              </a:gs>
              <a:gs pos="100000">
                <a:srgbClr val="0000FF"/>
              </a:gs>
            </a:gsLst>
            <a:lin ang="0" scaled="1"/>
          </a:gradFill>
          <a:ln w="38100">
            <a:gradFill flip="none" rotWithShape="1">
              <a:gsLst>
                <a:gs pos="0">
                  <a:srgbClr val="00CCFF"/>
                </a:gs>
                <a:gs pos="100000">
                  <a:srgbClr val="0000FF"/>
                </a:gs>
              </a:gsLst>
              <a:lin ang="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9" name="Oval 48">
            <a:extLst>
              <a:ext uri="{FF2B5EF4-FFF2-40B4-BE49-F238E27FC236}">
                <a16:creationId xmlns:a16="http://schemas.microsoft.com/office/drawing/2014/main" id="{36854100-FB0C-022C-DFD8-168C2A882B3E}"/>
              </a:ext>
            </a:extLst>
          </p:cNvPr>
          <p:cNvSpPr/>
          <p:nvPr/>
        </p:nvSpPr>
        <p:spPr>
          <a:xfrm>
            <a:off x="10227818" y="681912"/>
            <a:ext cx="1377188" cy="1377188"/>
          </a:xfrm>
          <a:prstGeom prst="ellipse">
            <a:avLst/>
          </a:prstGeom>
          <a:gradFill>
            <a:gsLst>
              <a:gs pos="0">
                <a:srgbClr val="00CCFF"/>
              </a:gs>
              <a:gs pos="100000">
                <a:srgbClr val="0000FF"/>
              </a:gs>
            </a:gsLst>
            <a:lin ang="0" scaled="1"/>
          </a:gradFill>
          <a:ln w="38100">
            <a:gradFill flip="none" rotWithShape="1">
              <a:gsLst>
                <a:gs pos="0">
                  <a:srgbClr val="00CCFF"/>
                </a:gs>
                <a:gs pos="100000">
                  <a:srgbClr val="0000FF"/>
                </a:gs>
              </a:gsLst>
              <a:lin ang="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0" name="Freeform: Shape 49">
            <a:extLst>
              <a:ext uri="{FF2B5EF4-FFF2-40B4-BE49-F238E27FC236}">
                <a16:creationId xmlns:a16="http://schemas.microsoft.com/office/drawing/2014/main" id="{2CC35121-37E9-AF88-40D1-427F2F653C9C}"/>
              </a:ext>
            </a:extLst>
          </p:cNvPr>
          <p:cNvSpPr/>
          <p:nvPr/>
        </p:nvSpPr>
        <p:spPr>
          <a:xfrm>
            <a:off x="11718200" y="1112145"/>
            <a:ext cx="473800" cy="1302014"/>
          </a:xfrm>
          <a:custGeom>
            <a:avLst/>
            <a:gdLst>
              <a:gd name="connsiteX0" fmla="*/ 473800 w 473800"/>
              <a:gd name="connsiteY0" fmla="*/ 0 h 1302014"/>
              <a:gd name="connsiteX1" fmla="*/ 473800 w 473800"/>
              <a:gd name="connsiteY1" fmla="*/ 1302014 h 1302014"/>
              <a:gd name="connsiteX2" fmla="*/ 420562 w 473800"/>
              <a:gd name="connsiteY2" fmla="*/ 1285488 h 1302014"/>
              <a:gd name="connsiteX3" fmla="*/ 0 w 473800"/>
              <a:gd name="connsiteY3" fmla="*/ 651007 h 1302014"/>
              <a:gd name="connsiteX4" fmla="*/ 420562 w 473800"/>
              <a:gd name="connsiteY4" fmla="*/ 16526 h 13020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3800" h="1302014">
                <a:moveTo>
                  <a:pt x="473800" y="0"/>
                </a:moveTo>
                <a:lnTo>
                  <a:pt x="473800" y="1302014"/>
                </a:lnTo>
                <a:lnTo>
                  <a:pt x="420562" y="1285488"/>
                </a:lnTo>
                <a:cubicBezTo>
                  <a:pt x="173415" y="1180954"/>
                  <a:pt x="0" y="936232"/>
                  <a:pt x="0" y="651007"/>
                </a:cubicBezTo>
                <a:cubicBezTo>
                  <a:pt x="0" y="365782"/>
                  <a:pt x="173415" y="121061"/>
                  <a:pt x="420562" y="16526"/>
                </a:cubicBezTo>
                <a:close/>
              </a:path>
            </a:pathLst>
          </a:custGeom>
          <a:gradFill>
            <a:gsLst>
              <a:gs pos="0">
                <a:srgbClr val="00CCFF"/>
              </a:gs>
              <a:gs pos="100000">
                <a:srgbClr val="0000FF"/>
              </a:gs>
            </a:gsLst>
            <a:lin ang="0" scaled="1"/>
          </a:gradFill>
          <a:ln w="38100">
            <a:gradFill flip="none" rotWithShape="1">
              <a:gsLst>
                <a:gs pos="0">
                  <a:srgbClr val="00CCFF"/>
                </a:gs>
                <a:gs pos="100000">
                  <a:srgbClr val="0000FF"/>
                </a:gs>
              </a:gsLst>
              <a:lin ang="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nvGrpSpPr>
          <p:cNvPr id="29" name="Group 28">
            <a:extLst>
              <a:ext uri="{FF2B5EF4-FFF2-40B4-BE49-F238E27FC236}">
                <a16:creationId xmlns:a16="http://schemas.microsoft.com/office/drawing/2014/main" id="{FC6ADEAC-E60E-6D31-A828-61CEBB671364}"/>
              </a:ext>
            </a:extLst>
          </p:cNvPr>
          <p:cNvGrpSpPr/>
          <p:nvPr/>
        </p:nvGrpSpPr>
        <p:grpSpPr>
          <a:xfrm rot="5400000">
            <a:off x="11487150" y="6153150"/>
            <a:ext cx="704850" cy="704850"/>
            <a:chOff x="10538072" y="528484"/>
            <a:chExt cx="1029600" cy="1029600"/>
          </a:xfrm>
          <a:gradFill flip="none" rotWithShape="1">
            <a:gsLst>
              <a:gs pos="0">
                <a:srgbClr val="00CCFF"/>
              </a:gs>
              <a:gs pos="100000">
                <a:srgbClr val="0000FF"/>
              </a:gs>
            </a:gsLst>
            <a:lin ang="2700000" scaled="1"/>
            <a:tileRect/>
          </a:gradFill>
        </p:grpSpPr>
        <p:sp>
          <p:nvSpPr>
            <p:cNvPr id="30" name="Oval 22">
              <a:extLst>
                <a:ext uri="{FF2B5EF4-FFF2-40B4-BE49-F238E27FC236}">
                  <a16:creationId xmlns:a16="http://schemas.microsoft.com/office/drawing/2014/main" id="{8079B63A-38F8-8B24-9E97-0FAE9F6EAFA8}"/>
                </a:ext>
              </a:extLst>
            </p:cNvPr>
            <p:cNvSpPr/>
            <p:nvPr/>
          </p:nvSpPr>
          <p:spPr>
            <a:xfrm>
              <a:off x="10538072" y="528484"/>
              <a:ext cx="1029600" cy="1029600"/>
            </a:xfrm>
            <a:prstGeom prst="frame">
              <a:avLst/>
            </a:prstGeom>
            <a:grpFill/>
            <a:ln>
              <a:noFill/>
            </a:ln>
            <a:effectLst>
              <a:outerShdw blurRad="177800" dist="114300" dir="2700000" algn="tl" rotWithShape="0">
                <a:srgbClr val="ACB0C0">
                  <a:alpha val="4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1" name="Oval 23">
              <a:extLst>
                <a:ext uri="{FF2B5EF4-FFF2-40B4-BE49-F238E27FC236}">
                  <a16:creationId xmlns:a16="http://schemas.microsoft.com/office/drawing/2014/main" id="{5FC63D6C-C54A-59D2-7BD4-73AC69078A8F}"/>
                </a:ext>
              </a:extLst>
            </p:cNvPr>
            <p:cNvSpPr/>
            <p:nvPr/>
          </p:nvSpPr>
          <p:spPr>
            <a:xfrm>
              <a:off x="10538337" y="528749"/>
              <a:ext cx="1029071" cy="1029071"/>
            </a:xfrm>
            <a:prstGeom prst="frame">
              <a:avLst/>
            </a:prstGeom>
            <a:grpFill/>
            <a:ln>
              <a:noFill/>
            </a:ln>
            <a:effectLst>
              <a:outerShdw blurRad="114300" dist="114300" dir="13500000" algn="br" rotWithShape="0">
                <a:srgbClr val="FFFFFF">
                  <a:alpha val="5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32" name="TextBox 31">
            <a:extLst>
              <a:ext uri="{FF2B5EF4-FFF2-40B4-BE49-F238E27FC236}">
                <a16:creationId xmlns:a16="http://schemas.microsoft.com/office/drawing/2014/main" id="{535B9736-55B8-4F14-38C0-BFC0C1E61AE3}"/>
              </a:ext>
            </a:extLst>
          </p:cNvPr>
          <p:cNvSpPr txBox="1"/>
          <p:nvPr/>
        </p:nvSpPr>
        <p:spPr>
          <a:xfrm>
            <a:off x="11608290" y="6320769"/>
            <a:ext cx="464790" cy="369332"/>
          </a:xfrm>
          <a:prstGeom prst="rect">
            <a:avLst/>
          </a:prstGeom>
          <a:noFill/>
        </p:spPr>
        <p:txBody>
          <a:bodyPr wrap="square" lIns="91440" tIns="45720" rIns="91440" bIns="45720" rtlCol="0" anchor="t">
            <a:spAutoFit/>
          </a:bodyPr>
          <a:lstStyle/>
          <a:p>
            <a:r>
              <a:rPr lang="en-IN" b="1">
                <a:solidFill>
                  <a:schemeClr val="tx1">
                    <a:lumMod val="65000"/>
                    <a:lumOff val="35000"/>
                  </a:schemeClr>
                </a:solidFill>
                <a:latin typeface="Vibur"/>
              </a:rPr>
              <a:t>15</a:t>
            </a:r>
            <a:endParaRPr lang="en-IN" b="1" dirty="0">
              <a:solidFill>
                <a:schemeClr val="tx1">
                  <a:lumMod val="65000"/>
                  <a:lumOff val="35000"/>
                </a:schemeClr>
              </a:solidFill>
              <a:latin typeface="Vibur" panose="03000603000000000000" pitchFamily="66" charset="0"/>
            </a:endParaRPr>
          </a:p>
        </p:txBody>
      </p:sp>
      <p:sp>
        <p:nvSpPr>
          <p:cNvPr id="3" name="TextBox 2">
            <a:extLst>
              <a:ext uri="{FF2B5EF4-FFF2-40B4-BE49-F238E27FC236}">
                <a16:creationId xmlns:a16="http://schemas.microsoft.com/office/drawing/2014/main" id="{4B785843-0D30-40CE-A4D7-78DA512598E7}"/>
              </a:ext>
            </a:extLst>
          </p:cNvPr>
          <p:cNvSpPr txBox="1"/>
          <p:nvPr/>
        </p:nvSpPr>
        <p:spPr>
          <a:xfrm>
            <a:off x="1116824" y="3897251"/>
            <a:ext cx="11633" cy="5118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pic>
        <p:nvPicPr>
          <p:cNvPr id="7" name="Picture 6" descr="A blue logo with text&#10;&#10;AI-generated content may be incorrect.">
            <a:extLst>
              <a:ext uri="{FF2B5EF4-FFF2-40B4-BE49-F238E27FC236}">
                <a16:creationId xmlns:a16="http://schemas.microsoft.com/office/drawing/2014/main" id="{FE0548D4-AC99-0736-7A7E-11A07F6466C2}"/>
              </a:ext>
            </a:extLst>
          </p:cNvPr>
          <p:cNvPicPr>
            <a:picLocks noChangeAspect="1"/>
          </p:cNvPicPr>
          <p:nvPr/>
        </p:nvPicPr>
        <p:blipFill>
          <a:blip r:embed="rId2"/>
          <a:stretch>
            <a:fillRect/>
          </a:stretch>
        </p:blipFill>
        <p:spPr>
          <a:xfrm>
            <a:off x="10228173" y="5806469"/>
            <a:ext cx="356142" cy="689580"/>
          </a:xfrm>
          <a:prstGeom prst="rect">
            <a:avLst/>
          </a:prstGeom>
        </p:spPr>
      </p:pic>
      <p:sp>
        <p:nvSpPr>
          <p:cNvPr id="4" name="TextBox 3">
            <a:extLst>
              <a:ext uri="{FF2B5EF4-FFF2-40B4-BE49-F238E27FC236}">
                <a16:creationId xmlns:a16="http://schemas.microsoft.com/office/drawing/2014/main" id="{40B945A8-BAF3-18E1-F366-EC16A0F7B468}"/>
              </a:ext>
            </a:extLst>
          </p:cNvPr>
          <p:cNvSpPr txBox="1"/>
          <p:nvPr/>
        </p:nvSpPr>
        <p:spPr>
          <a:xfrm>
            <a:off x="2270552" y="494443"/>
            <a:ext cx="7042296"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ea typeface="Calibri" panose="020F0502020204030204"/>
                <a:cs typeface="Calibri" panose="020F0502020204030204"/>
              </a:rPr>
              <a:t>Contributions, Conclusion &amp; Future Work</a:t>
            </a:r>
          </a:p>
        </p:txBody>
      </p:sp>
      <p:sp>
        <p:nvSpPr>
          <p:cNvPr id="6" name="TextBox 5">
            <a:extLst>
              <a:ext uri="{FF2B5EF4-FFF2-40B4-BE49-F238E27FC236}">
                <a16:creationId xmlns:a16="http://schemas.microsoft.com/office/drawing/2014/main" id="{1612E865-7B2D-3F86-4EDE-CAD52F9D077A}"/>
              </a:ext>
            </a:extLst>
          </p:cNvPr>
          <p:cNvSpPr txBox="1"/>
          <p:nvPr/>
        </p:nvSpPr>
        <p:spPr>
          <a:xfrm>
            <a:off x="1095359" y="1460549"/>
            <a:ext cx="5002441"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ea typeface="Calibri"/>
                <a:cs typeface="Calibri"/>
              </a:rPr>
              <a:t>Contributions</a:t>
            </a:r>
          </a:p>
          <a:p>
            <a:r>
              <a:rPr lang="en-US">
                <a:ea typeface="+mn-lt"/>
                <a:cs typeface="+mn-lt"/>
              </a:rPr>
              <a:t>✓ Developed complete XAI framework.</a:t>
            </a:r>
            <a:endParaRPr lang="en-US">
              <a:ea typeface="Calibri"/>
              <a:cs typeface="Calibri"/>
            </a:endParaRPr>
          </a:p>
          <a:p>
            <a:r>
              <a:rPr lang="en-US">
                <a:ea typeface="+mn-lt"/>
                <a:cs typeface="+mn-lt"/>
              </a:rPr>
              <a:t>✓ Trained and evaluated ResNet-18 classifier.</a:t>
            </a:r>
            <a:endParaRPr lang="en-US">
              <a:ea typeface="Calibri"/>
              <a:cs typeface="Calibri"/>
            </a:endParaRPr>
          </a:p>
          <a:p>
            <a:r>
              <a:rPr lang="en-US" dirty="0">
                <a:ea typeface="+mn-lt"/>
                <a:cs typeface="+mn-lt"/>
              </a:rPr>
              <a:t>✓ Implemented Grad-CAM, LIME and SHAP.</a:t>
            </a:r>
            <a:endParaRPr lang="en-US" dirty="0">
              <a:ea typeface="Calibri"/>
              <a:cs typeface="Calibri"/>
            </a:endParaRPr>
          </a:p>
          <a:p>
            <a:r>
              <a:rPr lang="en-US" dirty="0">
                <a:ea typeface="+mn-lt"/>
                <a:cs typeface="+mn-lt"/>
              </a:rPr>
              <a:t>✓ Designed multi-metric evaluation methodology.</a:t>
            </a:r>
            <a:endParaRPr lang="en-US" dirty="0">
              <a:ea typeface="Calibri"/>
              <a:cs typeface="Calibri"/>
            </a:endParaRPr>
          </a:p>
          <a:p>
            <a:r>
              <a:rPr lang="en-US">
                <a:ea typeface="+mn-lt"/>
                <a:cs typeface="+mn-lt"/>
              </a:rPr>
              <a:t>✓ Provided comparative insights for XAI selection.</a:t>
            </a:r>
            <a:endParaRPr lang="en-US">
              <a:ea typeface="Calibri"/>
              <a:cs typeface="Calibri"/>
            </a:endParaRPr>
          </a:p>
          <a:p>
            <a:endParaRPr lang="en-US" dirty="0">
              <a:ea typeface="+mn-lt"/>
              <a:cs typeface="+mn-lt"/>
            </a:endParaRPr>
          </a:p>
        </p:txBody>
      </p:sp>
      <p:sp>
        <p:nvSpPr>
          <p:cNvPr id="9" name="TextBox 8">
            <a:extLst>
              <a:ext uri="{FF2B5EF4-FFF2-40B4-BE49-F238E27FC236}">
                <a16:creationId xmlns:a16="http://schemas.microsoft.com/office/drawing/2014/main" id="{A01553C0-F018-A3DE-EBEF-ABC6CC0CE2C6}"/>
              </a:ext>
            </a:extLst>
          </p:cNvPr>
          <p:cNvSpPr txBox="1"/>
          <p:nvPr/>
        </p:nvSpPr>
        <p:spPr>
          <a:xfrm>
            <a:off x="6488641" y="1444903"/>
            <a:ext cx="4860353"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err="1">
                <a:ea typeface="Calibri"/>
                <a:cs typeface="Calibri"/>
              </a:rPr>
              <a:t>Futurte</a:t>
            </a:r>
            <a:r>
              <a:rPr lang="en-US" b="1" dirty="0">
                <a:ea typeface="Calibri"/>
                <a:cs typeface="Calibri"/>
              </a:rPr>
              <a:t> Work</a:t>
            </a:r>
          </a:p>
          <a:p>
            <a:pPr marL="285750" indent="-285750">
              <a:buFont typeface="Arial"/>
              <a:buChar char="•"/>
            </a:pPr>
            <a:r>
              <a:rPr lang="en-US">
                <a:ea typeface="+mn-lt"/>
                <a:cs typeface="+mn-lt"/>
              </a:rPr>
              <a:t>Vision Transformers</a:t>
            </a:r>
            <a:endParaRPr lang="en-US">
              <a:ea typeface="Calibri"/>
              <a:cs typeface="Calibri"/>
            </a:endParaRPr>
          </a:p>
          <a:p>
            <a:pPr marL="285750" indent="-285750">
              <a:buFont typeface="Arial"/>
              <a:buChar char="•"/>
            </a:pPr>
            <a:r>
              <a:rPr lang="en-US">
                <a:ea typeface="+mn-lt"/>
                <a:cs typeface="+mn-lt"/>
              </a:rPr>
              <a:t>Medical Imaging</a:t>
            </a:r>
            <a:endParaRPr lang="en-US">
              <a:ea typeface="Calibri"/>
              <a:cs typeface="Calibri"/>
            </a:endParaRPr>
          </a:p>
          <a:p>
            <a:pPr marL="285750" indent="-285750">
              <a:buFont typeface="Arial"/>
              <a:buChar char="•"/>
            </a:pPr>
            <a:r>
              <a:rPr lang="en-US">
                <a:ea typeface="+mn-lt"/>
                <a:cs typeface="+mn-lt"/>
              </a:rPr>
              <a:t>Explainable Object Detection</a:t>
            </a:r>
            <a:endParaRPr lang="en-US">
              <a:ea typeface="Calibri"/>
              <a:cs typeface="Calibri"/>
            </a:endParaRPr>
          </a:p>
          <a:p>
            <a:pPr marL="285750" indent="-285750">
              <a:buFont typeface="Arial"/>
              <a:buChar char="•"/>
            </a:pPr>
            <a:r>
              <a:rPr lang="en-US">
                <a:ea typeface="+mn-lt"/>
                <a:cs typeface="+mn-lt"/>
              </a:rPr>
              <a:t>Human-Centered Evaluation</a:t>
            </a:r>
            <a:endParaRPr lang="en-US">
              <a:ea typeface="Calibri"/>
              <a:cs typeface="Calibri"/>
            </a:endParaRPr>
          </a:p>
          <a:p>
            <a:pPr marL="285750" indent="-285750">
              <a:buFont typeface="Arial"/>
              <a:buChar char="•"/>
            </a:pPr>
            <a:r>
              <a:rPr lang="en-US">
                <a:ea typeface="+mn-lt"/>
                <a:cs typeface="+mn-lt"/>
              </a:rPr>
              <a:t>Real-Time Explainable AI Systems</a:t>
            </a:r>
            <a:endParaRPr lang="en-US">
              <a:ea typeface="Calibri"/>
              <a:cs typeface="Calibri"/>
            </a:endParaRPr>
          </a:p>
          <a:p>
            <a:endParaRPr lang="en-US" dirty="0">
              <a:ea typeface="Calibri" panose="020F0502020204030204"/>
              <a:cs typeface="Calibri" panose="020F0502020204030204"/>
            </a:endParaRPr>
          </a:p>
        </p:txBody>
      </p:sp>
      <p:sp>
        <p:nvSpPr>
          <p:cNvPr id="13" name="TextBox 12">
            <a:extLst>
              <a:ext uri="{FF2B5EF4-FFF2-40B4-BE49-F238E27FC236}">
                <a16:creationId xmlns:a16="http://schemas.microsoft.com/office/drawing/2014/main" id="{5882D37F-FA97-8CD7-BFF0-FDB2FFDB5CE1}"/>
              </a:ext>
            </a:extLst>
          </p:cNvPr>
          <p:cNvSpPr txBox="1"/>
          <p:nvPr/>
        </p:nvSpPr>
        <p:spPr>
          <a:xfrm>
            <a:off x="3564841" y="3796620"/>
            <a:ext cx="4979174" cy="258532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ea typeface="+mn-lt"/>
                <a:cs typeface="+mn-lt"/>
              </a:rPr>
              <a:t>Conclusion</a:t>
            </a:r>
            <a:endParaRPr lang="en-US" b="1" dirty="0">
              <a:ea typeface="+mn-lt"/>
              <a:cs typeface="+mn-lt"/>
            </a:endParaRPr>
          </a:p>
          <a:p>
            <a:pPr marL="285750" indent="-285750">
              <a:buFont typeface="Arial"/>
              <a:buChar char="•"/>
            </a:pPr>
            <a:r>
              <a:rPr lang="en-US">
                <a:ea typeface="+mn-lt"/>
                <a:cs typeface="+mn-lt"/>
              </a:rPr>
              <a:t>ResNet-18 achieved 93.55% validation accuracy.</a:t>
            </a:r>
            <a:endParaRPr lang="en-US">
              <a:ea typeface="Calibri"/>
              <a:cs typeface="Calibri"/>
            </a:endParaRPr>
          </a:p>
          <a:p>
            <a:pPr marL="285750" indent="-285750">
              <a:buFont typeface="Arial"/>
              <a:buChar char="•"/>
            </a:pPr>
            <a:r>
              <a:rPr lang="en-US">
                <a:ea typeface="+mn-lt"/>
                <a:cs typeface="+mn-lt"/>
              </a:rPr>
              <a:t>Grad-CAM offers efficient visual explanations.</a:t>
            </a:r>
            <a:endParaRPr lang="en-US">
              <a:ea typeface="Calibri"/>
              <a:cs typeface="Calibri"/>
            </a:endParaRPr>
          </a:p>
          <a:p>
            <a:pPr marL="285750" indent="-285750">
              <a:buFont typeface="Arial"/>
              <a:buChar char="•"/>
            </a:pPr>
            <a:r>
              <a:rPr lang="en-US">
                <a:ea typeface="+mn-lt"/>
                <a:cs typeface="+mn-lt"/>
              </a:rPr>
              <a:t>LIME provides model-independent interpretability.</a:t>
            </a:r>
            <a:endParaRPr lang="en-US">
              <a:ea typeface="Calibri"/>
              <a:cs typeface="Calibri"/>
            </a:endParaRPr>
          </a:p>
          <a:p>
            <a:pPr marL="285750" indent="-285750">
              <a:buFont typeface="Arial"/>
              <a:buChar char="•"/>
            </a:pPr>
            <a:r>
              <a:rPr lang="en-US">
                <a:ea typeface="+mn-lt"/>
                <a:cs typeface="+mn-lt"/>
              </a:rPr>
              <a:t>SHAP delivers strong attribution quality.</a:t>
            </a:r>
            <a:endParaRPr lang="en-US">
              <a:ea typeface="Calibri"/>
              <a:cs typeface="Calibri"/>
            </a:endParaRPr>
          </a:p>
          <a:p>
            <a:pPr marL="285750" indent="-285750">
              <a:buFont typeface="Arial"/>
              <a:buChar char="•"/>
            </a:pPr>
            <a:r>
              <a:rPr lang="en-US">
                <a:ea typeface="+mn-lt"/>
                <a:cs typeface="+mn-lt"/>
              </a:rPr>
              <a:t>Different applications may require different explanation techniques.</a:t>
            </a:r>
            <a:endParaRPr lang="en-US">
              <a:ea typeface="Calibri"/>
              <a:cs typeface="Calibri"/>
            </a:endParaRPr>
          </a:p>
          <a:p>
            <a:endParaRPr lang="en-US" b="1" dirty="0">
              <a:ea typeface="+mn-lt"/>
              <a:cs typeface="+mn-lt"/>
            </a:endParaRPr>
          </a:p>
        </p:txBody>
      </p:sp>
      <p:sp>
        <p:nvSpPr>
          <p:cNvPr id="15" name="Rectangle: Rounded Corners 14">
            <a:extLst>
              <a:ext uri="{FF2B5EF4-FFF2-40B4-BE49-F238E27FC236}">
                <a16:creationId xmlns:a16="http://schemas.microsoft.com/office/drawing/2014/main" id="{FEE0B6CA-EB93-E91D-A183-9D588EEE0C3D}"/>
              </a:ext>
            </a:extLst>
          </p:cNvPr>
          <p:cNvSpPr/>
          <p:nvPr/>
        </p:nvSpPr>
        <p:spPr>
          <a:xfrm>
            <a:off x="963054" y="1356442"/>
            <a:ext cx="4915755" cy="2121551"/>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Rounded Corners 16">
            <a:extLst>
              <a:ext uri="{FF2B5EF4-FFF2-40B4-BE49-F238E27FC236}">
                <a16:creationId xmlns:a16="http://schemas.microsoft.com/office/drawing/2014/main" id="{851538EE-5FF7-49EA-0F70-240208C2C445}"/>
              </a:ext>
            </a:extLst>
          </p:cNvPr>
          <p:cNvSpPr/>
          <p:nvPr/>
        </p:nvSpPr>
        <p:spPr>
          <a:xfrm>
            <a:off x="6454149" y="1333402"/>
            <a:ext cx="3664579" cy="2076597"/>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Rounded Corners 20">
            <a:extLst>
              <a:ext uri="{FF2B5EF4-FFF2-40B4-BE49-F238E27FC236}">
                <a16:creationId xmlns:a16="http://schemas.microsoft.com/office/drawing/2014/main" id="{5F645936-55D3-FE6B-A212-C035E8DE0115}"/>
              </a:ext>
            </a:extLst>
          </p:cNvPr>
          <p:cNvSpPr/>
          <p:nvPr/>
        </p:nvSpPr>
        <p:spPr>
          <a:xfrm>
            <a:off x="3567399" y="3640132"/>
            <a:ext cx="4895648" cy="2569781"/>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907894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EBECF0"/>
        </a:solidFill>
        <a:effectLst/>
      </p:bgPr>
    </p:bg>
    <p:spTree>
      <p:nvGrpSpPr>
        <p:cNvPr id="1" name="">
          <a:extLst>
            <a:ext uri="{FF2B5EF4-FFF2-40B4-BE49-F238E27FC236}">
              <a16:creationId xmlns:a16="http://schemas.microsoft.com/office/drawing/2014/main" id="{451121C3-B693-98F8-C763-F584E0975F9E}"/>
            </a:ext>
          </a:extLst>
        </p:cNvPr>
        <p:cNvGrpSpPr/>
        <p:nvPr/>
      </p:nvGrpSpPr>
      <p:grpSpPr>
        <a:xfrm>
          <a:off x="0" y="0"/>
          <a:ext cx="0" cy="0"/>
          <a:chOff x="0" y="0"/>
          <a:chExt cx="0" cy="0"/>
        </a:xfrm>
      </p:grpSpPr>
      <p:grpSp>
        <p:nvGrpSpPr>
          <p:cNvPr id="55" name="Group 54">
            <a:extLst>
              <a:ext uri="{FF2B5EF4-FFF2-40B4-BE49-F238E27FC236}">
                <a16:creationId xmlns:a16="http://schemas.microsoft.com/office/drawing/2014/main" id="{1849774F-3787-89B5-9AC4-60012911AB62}"/>
              </a:ext>
            </a:extLst>
          </p:cNvPr>
          <p:cNvGrpSpPr/>
          <p:nvPr/>
        </p:nvGrpSpPr>
        <p:grpSpPr>
          <a:xfrm>
            <a:off x="928751" y="1043284"/>
            <a:ext cx="10334494" cy="4709815"/>
            <a:chOff x="1162348" y="1677368"/>
            <a:chExt cx="3266778" cy="3266778"/>
          </a:xfrm>
        </p:grpSpPr>
        <p:sp>
          <p:nvSpPr>
            <p:cNvPr id="56" name="Oval 34">
              <a:extLst>
                <a:ext uri="{FF2B5EF4-FFF2-40B4-BE49-F238E27FC236}">
                  <a16:creationId xmlns:a16="http://schemas.microsoft.com/office/drawing/2014/main" id="{CCEE053B-7900-0D33-BE23-9B3D40F9F8F9}"/>
                </a:ext>
              </a:extLst>
            </p:cNvPr>
            <p:cNvSpPr/>
            <p:nvPr/>
          </p:nvSpPr>
          <p:spPr>
            <a:xfrm>
              <a:off x="1162348" y="1677368"/>
              <a:ext cx="3266778" cy="3266778"/>
            </a:xfrm>
            <a:prstGeom prst="roundRect">
              <a:avLst/>
            </a:prstGeom>
            <a:solidFill>
              <a:srgbClr val="EBECF0"/>
            </a:solidFill>
            <a:ln>
              <a:noFill/>
            </a:ln>
            <a:effectLst>
              <a:outerShdw blurRad="177800" dist="114300" dir="2700000" algn="tl" rotWithShape="0">
                <a:srgbClr val="ACB0C0">
                  <a:alpha val="4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7" name="Oval 35">
              <a:extLst>
                <a:ext uri="{FF2B5EF4-FFF2-40B4-BE49-F238E27FC236}">
                  <a16:creationId xmlns:a16="http://schemas.microsoft.com/office/drawing/2014/main" id="{97B68CDB-389C-BA54-1EEE-11E4B23E1A26}"/>
                </a:ext>
              </a:extLst>
            </p:cNvPr>
            <p:cNvSpPr/>
            <p:nvPr/>
          </p:nvSpPr>
          <p:spPr>
            <a:xfrm>
              <a:off x="1162348" y="1677368"/>
              <a:ext cx="3266778" cy="3266778"/>
            </a:xfrm>
            <a:prstGeom prst="roundRect">
              <a:avLst>
                <a:gd name="adj" fmla="val 9224"/>
              </a:avLst>
            </a:prstGeom>
            <a:solidFill>
              <a:srgbClr val="EBECF0"/>
            </a:solidFill>
            <a:ln>
              <a:noFill/>
            </a:ln>
            <a:effectLst>
              <a:outerShdw blurRad="114300" dist="114300" dir="13500000" algn="br" rotWithShape="0">
                <a:srgbClr val="FFFFFF">
                  <a:alpha val="5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6" name="Rectangle: Rounded Corners 5">
            <a:extLst>
              <a:ext uri="{FF2B5EF4-FFF2-40B4-BE49-F238E27FC236}">
                <a16:creationId xmlns:a16="http://schemas.microsoft.com/office/drawing/2014/main" id="{EC236A95-6F17-3A66-2224-9F100A54685B}"/>
              </a:ext>
            </a:extLst>
          </p:cNvPr>
          <p:cNvSpPr/>
          <p:nvPr/>
        </p:nvSpPr>
        <p:spPr>
          <a:xfrm>
            <a:off x="3596364" y="1566565"/>
            <a:ext cx="4752975" cy="1333500"/>
          </a:xfrm>
          <a:prstGeom prst="roundRect">
            <a:avLst>
              <a:gd name="adj" fmla="val 44286"/>
            </a:avLst>
          </a:prstGeom>
          <a:gradFill flip="none" rotWithShape="1">
            <a:gsLst>
              <a:gs pos="0">
                <a:srgbClr val="FFFFFF"/>
              </a:gs>
              <a:gs pos="23000">
                <a:srgbClr val="EBECF0"/>
              </a:gs>
              <a:gs pos="100000">
                <a:srgbClr val="E0E2E8"/>
              </a:gs>
            </a:gsLst>
            <a:lin ang="16200000" scaled="1"/>
            <a:tileRect/>
          </a:gradFill>
          <a:ln>
            <a:noFill/>
          </a:ln>
          <a:effectLst>
            <a:innerShdw blurRad="63500" dist="50800" dir="13200000">
              <a:srgbClr val="ACB0C0"/>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nvGrpSpPr>
          <p:cNvPr id="26" name="Group 25">
            <a:extLst>
              <a:ext uri="{FF2B5EF4-FFF2-40B4-BE49-F238E27FC236}">
                <a16:creationId xmlns:a16="http://schemas.microsoft.com/office/drawing/2014/main" id="{D068D115-952E-94DE-DB57-2D375E9F64BA}"/>
              </a:ext>
            </a:extLst>
          </p:cNvPr>
          <p:cNvGrpSpPr/>
          <p:nvPr/>
        </p:nvGrpSpPr>
        <p:grpSpPr>
          <a:xfrm>
            <a:off x="8163870" y="3096721"/>
            <a:ext cx="1029600" cy="1045698"/>
            <a:chOff x="10538072" y="528484"/>
            <a:chExt cx="1029600" cy="1029600"/>
          </a:xfrm>
        </p:grpSpPr>
        <p:sp>
          <p:nvSpPr>
            <p:cNvPr id="27" name="Oval 26">
              <a:extLst>
                <a:ext uri="{FF2B5EF4-FFF2-40B4-BE49-F238E27FC236}">
                  <a16:creationId xmlns:a16="http://schemas.microsoft.com/office/drawing/2014/main" id="{6E277443-3C4B-2DAD-E56B-0BE128AA3FCA}"/>
                </a:ext>
              </a:extLst>
            </p:cNvPr>
            <p:cNvSpPr/>
            <p:nvPr/>
          </p:nvSpPr>
          <p:spPr>
            <a:xfrm>
              <a:off x="10538072" y="528484"/>
              <a:ext cx="1029600" cy="1029600"/>
            </a:xfrm>
            <a:prstGeom prst="ellipse">
              <a:avLst/>
            </a:prstGeom>
            <a:solidFill>
              <a:srgbClr val="EBECF0"/>
            </a:solidFill>
            <a:ln>
              <a:noFill/>
            </a:ln>
            <a:effectLst>
              <a:outerShdw blurRad="177800" dist="114300" dir="2700000" algn="tl" rotWithShape="0">
                <a:srgbClr val="ACB0C0">
                  <a:alpha val="4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8" name="Oval 27">
              <a:extLst>
                <a:ext uri="{FF2B5EF4-FFF2-40B4-BE49-F238E27FC236}">
                  <a16:creationId xmlns:a16="http://schemas.microsoft.com/office/drawing/2014/main" id="{B9614D66-0235-E45C-BFFD-65F8608D1DDA}"/>
                </a:ext>
              </a:extLst>
            </p:cNvPr>
            <p:cNvSpPr/>
            <p:nvPr/>
          </p:nvSpPr>
          <p:spPr>
            <a:xfrm>
              <a:off x="10538337" y="528749"/>
              <a:ext cx="1029071" cy="1029071"/>
            </a:xfrm>
            <a:prstGeom prst="ellipse">
              <a:avLst/>
            </a:prstGeom>
            <a:solidFill>
              <a:srgbClr val="EBECF0"/>
            </a:solidFill>
            <a:ln>
              <a:noFill/>
            </a:ln>
            <a:effectLst>
              <a:outerShdw blurRad="114300" dist="114300" dir="13500000" algn="br" rotWithShape="0">
                <a:srgbClr val="FFFFFF">
                  <a:alpha val="5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29" name="TextBox 28">
            <a:extLst>
              <a:ext uri="{FF2B5EF4-FFF2-40B4-BE49-F238E27FC236}">
                <a16:creationId xmlns:a16="http://schemas.microsoft.com/office/drawing/2014/main" id="{FC12192E-3BCB-FE83-25A3-1D6DA07DBF5F}"/>
              </a:ext>
            </a:extLst>
          </p:cNvPr>
          <p:cNvSpPr txBox="1"/>
          <p:nvPr/>
        </p:nvSpPr>
        <p:spPr>
          <a:xfrm>
            <a:off x="3762603" y="1682816"/>
            <a:ext cx="4586736" cy="1107996"/>
          </a:xfrm>
          <a:prstGeom prst="rect">
            <a:avLst/>
          </a:prstGeom>
          <a:noFill/>
        </p:spPr>
        <p:txBody>
          <a:bodyPr wrap="square" lIns="91440" tIns="45720" rIns="91440" bIns="45720" rtlCol="0" anchor="t">
            <a:spAutoFit/>
          </a:bodyPr>
          <a:lstStyle/>
          <a:p>
            <a:pPr algn="just"/>
            <a:r>
              <a:rPr lang="en-IN" sz="6600" b="1">
                <a:gradFill>
                  <a:gsLst>
                    <a:gs pos="0">
                      <a:srgbClr val="00CCFF"/>
                    </a:gs>
                    <a:gs pos="100000">
                      <a:srgbClr val="0000FF"/>
                    </a:gs>
                  </a:gsLst>
                  <a:lin ang="2700000" scaled="1"/>
                </a:gradFill>
                <a:latin typeface="Vibur"/>
              </a:rPr>
              <a:t>Thank You </a:t>
            </a:r>
          </a:p>
        </p:txBody>
      </p:sp>
      <p:pic>
        <p:nvPicPr>
          <p:cNvPr id="47" name="Picture 46">
            <a:extLst>
              <a:ext uri="{FF2B5EF4-FFF2-40B4-BE49-F238E27FC236}">
                <a16:creationId xmlns:a16="http://schemas.microsoft.com/office/drawing/2014/main" id="{E3657756-8F79-73DA-05B3-EBD6CD732CC8}"/>
              </a:ext>
            </a:extLst>
          </p:cNvPr>
          <p:cNvPicPr>
            <a:picLocks noChangeAspect="1"/>
          </p:cNvPicPr>
          <p:nvPr/>
        </p:nvPicPr>
        <p:blipFill>
          <a:blip r:embed="rId2"/>
          <a:stretch>
            <a:fillRect/>
          </a:stretch>
        </p:blipFill>
        <p:spPr>
          <a:xfrm>
            <a:off x="8323695" y="3243348"/>
            <a:ext cx="709949" cy="720681"/>
          </a:xfrm>
          <a:prstGeom prst="rect">
            <a:avLst/>
          </a:prstGeom>
        </p:spPr>
      </p:pic>
      <p:sp>
        <p:nvSpPr>
          <p:cNvPr id="50" name="TextBox 49">
            <a:extLst>
              <a:ext uri="{FF2B5EF4-FFF2-40B4-BE49-F238E27FC236}">
                <a16:creationId xmlns:a16="http://schemas.microsoft.com/office/drawing/2014/main" id="{F23A7013-D74E-0BE0-C023-7F9984735D40}"/>
              </a:ext>
            </a:extLst>
          </p:cNvPr>
          <p:cNvSpPr txBox="1"/>
          <p:nvPr/>
        </p:nvSpPr>
        <p:spPr>
          <a:xfrm>
            <a:off x="7676126" y="4265794"/>
            <a:ext cx="2008568" cy="461665"/>
          </a:xfrm>
          <a:prstGeom prst="rect">
            <a:avLst/>
          </a:prstGeom>
          <a:noFill/>
        </p:spPr>
        <p:txBody>
          <a:bodyPr wrap="square" rtlCol="0">
            <a:spAutoFit/>
          </a:bodyPr>
          <a:lstStyle/>
          <a:p>
            <a:pPr algn="just"/>
            <a:r>
              <a:rPr lang="en-IN" sz="2400" b="1" dirty="0">
                <a:gradFill>
                  <a:gsLst>
                    <a:gs pos="0">
                      <a:srgbClr val="00CCFF"/>
                    </a:gs>
                    <a:gs pos="100000">
                      <a:srgbClr val="0000FF"/>
                    </a:gs>
                  </a:gsLst>
                  <a:lin ang="2700000" scaled="1"/>
                </a:gradFill>
                <a:latin typeface="Vibur" panose="03000603000000000000" pitchFamily="66" charset="0"/>
              </a:rPr>
              <a:t>@akhlak919</a:t>
            </a:r>
          </a:p>
        </p:txBody>
      </p:sp>
      <p:grpSp>
        <p:nvGrpSpPr>
          <p:cNvPr id="58" name="Group 57">
            <a:extLst>
              <a:ext uri="{FF2B5EF4-FFF2-40B4-BE49-F238E27FC236}">
                <a16:creationId xmlns:a16="http://schemas.microsoft.com/office/drawing/2014/main" id="{5EEC00DA-0DE1-BBDD-2D36-815027B0A2AD}"/>
              </a:ext>
            </a:extLst>
          </p:cNvPr>
          <p:cNvGrpSpPr/>
          <p:nvPr/>
        </p:nvGrpSpPr>
        <p:grpSpPr>
          <a:xfrm rot="5400000">
            <a:off x="11487150" y="6153150"/>
            <a:ext cx="704850" cy="704850"/>
            <a:chOff x="10538072" y="528484"/>
            <a:chExt cx="1029600" cy="1029600"/>
          </a:xfrm>
          <a:gradFill flip="none" rotWithShape="1">
            <a:gsLst>
              <a:gs pos="0">
                <a:srgbClr val="00CCFF"/>
              </a:gs>
              <a:gs pos="100000">
                <a:srgbClr val="0000FF"/>
              </a:gs>
            </a:gsLst>
            <a:lin ang="2700000" scaled="1"/>
            <a:tileRect/>
          </a:gradFill>
        </p:grpSpPr>
        <p:sp>
          <p:nvSpPr>
            <p:cNvPr id="59" name="Oval 22">
              <a:extLst>
                <a:ext uri="{FF2B5EF4-FFF2-40B4-BE49-F238E27FC236}">
                  <a16:creationId xmlns:a16="http://schemas.microsoft.com/office/drawing/2014/main" id="{6E38C332-6E96-8DDC-9469-19A1989FE55E}"/>
                </a:ext>
              </a:extLst>
            </p:cNvPr>
            <p:cNvSpPr/>
            <p:nvPr/>
          </p:nvSpPr>
          <p:spPr>
            <a:xfrm>
              <a:off x="10538072" y="528484"/>
              <a:ext cx="1029600" cy="1029600"/>
            </a:xfrm>
            <a:prstGeom prst="frame">
              <a:avLst/>
            </a:prstGeom>
            <a:grpFill/>
            <a:ln>
              <a:noFill/>
            </a:ln>
            <a:effectLst>
              <a:outerShdw blurRad="177800" dist="114300" dir="2700000" algn="tl" rotWithShape="0">
                <a:srgbClr val="ACB0C0">
                  <a:alpha val="4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0" name="Oval 23">
              <a:extLst>
                <a:ext uri="{FF2B5EF4-FFF2-40B4-BE49-F238E27FC236}">
                  <a16:creationId xmlns:a16="http://schemas.microsoft.com/office/drawing/2014/main" id="{F9BF18FE-F1E4-C5D5-237C-9ADF85F9E195}"/>
                </a:ext>
              </a:extLst>
            </p:cNvPr>
            <p:cNvSpPr/>
            <p:nvPr/>
          </p:nvSpPr>
          <p:spPr>
            <a:xfrm>
              <a:off x="10538337" y="528749"/>
              <a:ext cx="1029071" cy="1029071"/>
            </a:xfrm>
            <a:prstGeom prst="frame">
              <a:avLst/>
            </a:prstGeom>
            <a:grpFill/>
            <a:ln>
              <a:noFill/>
            </a:ln>
            <a:effectLst>
              <a:outerShdw blurRad="114300" dist="114300" dir="13500000" algn="br" rotWithShape="0">
                <a:srgbClr val="FFFFFF">
                  <a:alpha val="5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61" name="TextBox 60">
            <a:extLst>
              <a:ext uri="{FF2B5EF4-FFF2-40B4-BE49-F238E27FC236}">
                <a16:creationId xmlns:a16="http://schemas.microsoft.com/office/drawing/2014/main" id="{A7E2CF21-A485-73D6-C991-AD97AF1DEE16}"/>
              </a:ext>
            </a:extLst>
          </p:cNvPr>
          <p:cNvSpPr txBox="1"/>
          <p:nvPr/>
        </p:nvSpPr>
        <p:spPr>
          <a:xfrm>
            <a:off x="11608290" y="6320769"/>
            <a:ext cx="528774" cy="369332"/>
          </a:xfrm>
          <a:prstGeom prst="rect">
            <a:avLst/>
          </a:prstGeom>
          <a:noFill/>
        </p:spPr>
        <p:txBody>
          <a:bodyPr wrap="square" lIns="91440" tIns="45720" rIns="91440" bIns="45720" rtlCol="0" anchor="t">
            <a:spAutoFit/>
          </a:bodyPr>
          <a:lstStyle/>
          <a:p>
            <a:r>
              <a:rPr lang="en-IN" b="1">
                <a:solidFill>
                  <a:schemeClr val="tx1">
                    <a:lumMod val="65000"/>
                    <a:lumOff val="35000"/>
                  </a:schemeClr>
                </a:solidFill>
                <a:latin typeface="Vibur"/>
              </a:rPr>
              <a:t>16</a:t>
            </a:r>
            <a:endParaRPr lang="en-IN" b="1" dirty="0">
              <a:solidFill>
                <a:schemeClr val="tx1">
                  <a:lumMod val="65000"/>
                  <a:lumOff val="35000"/>
                </a:schemeClr>
              </a:solidFill>
              <a:latin typeface="Vibur" panose="03000603000000000000" pitchFamily="66" charset="0"/>
            </a:endParaRPr>
          </a:p>
        </p:txBody>
      </p:sp>
      <p:sp>
        <p:nvSpPr>
          <p:cNvPr id="3" name="Freeform: Shape 2">
            <a:extLst>
              <a:ext uri="{FF2B5EF4-FFF2-40B4-BE49-F238E27FC236}">
                <a16:creationId xmlns:a16="http://schemas.microsoft.com/office/drawing/2014/main" id="{912E945A-D90C-9EBF-935D-833BDEB27007}"/>
              </a:ext>
            </a:extLst>
          </p:cNvPr>
          <p:cNvSpPr/>
          <p:nvPr/>
        </p:nvSpPr>
        <p:spPr>
          <a:xfrm>
            <a:off x="11398434" y="1"/>
            <a:ext cx="793566" cy="993711"/>
          </a:xfrm>
          <a:custGeom>
            <a:avLst/>
            <a:gdLst>
              <a:gd name="connsiteX0" fmla="*/ 74242 w 793566"/>
              <a:gd name="connsiteY0" fmla="*/ 0 h 993711"/>
              <a:gd name="connsiteX1" fmla="*/ 793566 w 793566"/>
              <a:gd name="connsiteY1" fmla="*/ 0 h 993711"/>
              <a:gd name="connsiteX2" fmla="*/ 793566 w 793566"/>
              <a:gd name="connsiteY2" fmla="*/ 983129 h 993711"/>
              <a:gd name="connsiteX3" fmla="*/ 688594 w 793566"/>
              <a:gd name="connsiteY3" fmla="*/ 993711 h 993711"/>
              <a:gd name="connsiteX4" fmla="*/ 0 w 793566"/>
              <a:gd name="connsiteY4" fmla="*/ 305117 h 993711"/>
              <a:gd name="connsiteX5" fmla="*/ 54113 w 793566"/>
              <a:gd name="connsiteY5" fmla="*/ 37085 h 993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93566" h="993711">
                <a:moveTo>
                  <a:pt x="74242" y="0"/>
                </a:moveTo>
                <a:lnTo>
                  <a:pt x="793566" y="0"/>
                </a:lnTo>
                <a:lnTo>
                  <a:pt x="793566" y="983129"/>
                </a:lnTo>
                <a:lnTo>
                  <a:pt x="688594" y="993711"/>
                </a:lnTo>
                <a:cubicBezTo>
                  <a:pt x="308294" y="993711"/>
                  <a:pt x="0" y="685417"/>
                  <a:pt x="0" y="305117"/>
                </a:cubicBezTo>
                <a:cubicBezTo>
                  <a:pt x="0" y="210042"/>
                  <a:pt x="19268" y="119467"/>
                  <a:pt x="54113" y="37085"/>
                </a:cubicBezTo>
                <a:close/>
              </a:path>
            </a:pathLst>
          </a:custGeom>
          <a:gradFill>
            <a:gsLst>
              <a:gs pos="0">
                <a:srgbClr val="00CCFF"/>
              </a:gs>
              <a:gs pos="100000">
                <a:srgbClr val="0000FF"/>
              </a:gs>
            </a:gsLst>
            <a:lin ang="0" scaled="1"/>
          </a:gradFill>
          <a:ln w="38100">
            <a:gradFill flip="none" rotWithShape="1">
              <a:gsLst>
                <a:gs pos="0">
                  <a:srgbClr val="00CCFF"/>
                </a:gs>
                <a:gs pos="100000">
                  <a:srgbClr val="0000FF"/>
                </a:gs>
              </a:gsLst>
              <a:lin ang="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Oval 4">
            <a:extLst>
              <a:ext uri="{FF2B5EF4-FFF2-40B4-BE49-F238E27FC236}">
                <a16:creationId xmlns:a16="http://schemas.microsoft.com/office/drawing/2014/main" id="{B1306B12-1DA4-E8F9-60D8-F486065F672B}"/>
              </a:ext>
            </a:extLst>
          </p:cNvPr>
          <p:cNvSpPr/>
          <p:nvPr/>
        </p:nvSpPr>
        <p:spPr>
          <a:xfrm>
            <a:off x="10227818" y="681912"/>
            <a:ext cx="1377188" cy="1377188"/>
          </a:xfrm>
          <a:prstGeom prst="ellipse">
            <a:avLst/>
          </a:prstGeom>
          <a:gradFill>
            <a:gsLst>
              <a:gs pos="0">
                <a:srgbClr val="00CCFF"/>
              </a:gs>
              <a:gs pos="100000">
                <a:srgbClr val="0000FF"/>
              </a:gs>
            </a:gsLst>
            <a:lin ang="0" scaled="1"/>
          </a:gradFill>
          <a:ln w="38100">
            <a:gradFill flip="none" rotWithShape="1">
              <a:gsLst>
                <a:gs pos="0">
                  <a:srgbClr val="00CCFF"/>
                </a:gs>
                <a:gs pos="100000">
                  <a:srgbClr val="0000FF"/>
                </a:gs>
              </a:gsLst>
              <a:lin ang="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9" name="Freeform: Shape 8">
            <a:extLst>
              <a:ext uri="{FF2B5EF4-FFF2-40B4-BE49-F238E27FC236}">
                <a16:creationId xmlns:a16="http://schemas.microsoft.com/office/drawing/2014/main" id="{9F10CC56-ABFB-4EED-712D-D889CE5D8A86}"/>
              </a:ext>
            </a:extLst>
          </p:cNvPr>
          <p:cNvSpPr/>
          <p:nvPr/>
        </p:nvSpPr>
        <p:spPr>
          <a:xfrm>
            <a:off x="11718200" y="1112145"/>
            <a:ext cx="473800" cy="1302014"/>
          </a:xfrm>
          <a:custGeom>
            <a:avLst/>
            <a:gdLst>
              <a:gd name="connsiteX0" fmla="*/ 473800 w 473800"/>
              <a:gd name="connsiteY0" fmla="*/ 0 h 1302014"/>
              <a:gd name="connsiteX1" fmla="*/ 473800 w 473800"/>
              <a:gd name="connsiteY1" fmla="*/ 1302014 h 1302014"/>
              <a:gd name="connsiteX2" fmla="*/ 420562 w 473800"/>
              <a:gd name="connsiteY2" fmla="*/ 1285488 h 1302014"/>
              <a:gd name="connsiteX3" fmla="*/ 0 w 473800"/>
              <a:gd name="connsiteY3" fmla="*/ 651007 h 1302014"/>
              <a:gd name="connsiteX4" fmla="*/ 420562 w 473800"/>
              <a:gd name="connsiteY4" fmla="*/ 16526 h 13020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3800" h="1302014">
                <a:moveTo>
                  <a:pt x="473800" y="0"/>
                </a:moveTo>
                <a:lnTo>
                  <a:pt x="473800" y="1302014"/>
                </a:lnTo>
                <a:lnTo>
                  <a:pt x="420562" y="1285488"/>
                </a:lnTo>
                <a:cubicBezTo>
                  <a:pt x="173415" y="1180954"/>
                  <a:pt x="0" y="936232"/>
                  <a:pt x="0" y="651007"/>
                </a:cubicBezTo>
                <a:cubicBezTo>
                  <a:pt x="0" y="365782"/>
                  <a:pt x="173415" y="121061"/>
                  <a:pt x="420562" y="16526"/>
                </a:cubicBezTo>
                <a:close/>
              </a:path>
            </a:pathLst>
          </a:custGeom>
          <a:gradFill>
            <a:gsLst>
              <a:gs pos="0">
                <a:srgbClr val="00CCFF"/>
              </a:gs>
              <a:gs pos="100000">
                <a:srgbClr val="0000FF"/>
              </a:gs>
            </a:gsLst>
            <a:lin ang="0" scaled="1"/>
          </a:gradFill>
          <a:ln w="38100">
            <a:gradFill flip="none" rotWithShape="1">
              <a:gsLst>
                <a:gs pos="0">
                  <a:srgbClr val="00CCFF"/>
                </a:gs>
                <a:gs pos="100000">
                  <a:srgbClr val="0000FF"/>
                </a:gs>
              </a:gsLst>
              <a:lin ang="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nvGrpSpPr>
          <p:cNvPr id="2" name="Group 1">
            <a:extLst>
              <a:ext uri="{FF2B5EF4-FFF2-40B4-BE49-F238E27FC236}">
                <a16:creationId xmlns:a16="http://schemas.microsoft.com/office/drawing/2014/main" id="{26EE60EF-F617-0088-A24F-0B9A66EE76D5}"/>
              </a:ext>
            </a:extLst>
          </p:cNvPr>
          <p:cNvGrpSpPr/>
          <p:nvPr/>
        </p:nvGrpSpPr>
        <p:grpSpPr>
          <a:xfrm>
            <a:off x="2806602" y="3096721"/>
            <a:ext cx="1029600" cy="1045698"/>
            <a:chOff x="10538072" y="528484"/>
            <a:chExt cx="1029600" cy="1029600"/>
          </a:xfrm>
        </p:grpSpPr>
        <p:sp>
          <p:nvSpPr>
            <p:cNvPr id="4" name="Oval 3">
              <a:extLst>
                <a:ext uri="{FF2B5EF4-FFF2-40B4-BE49-F238E27FC236}">
                  <a16:creationId xmlns:a16="http://schemas.microsoft.com/office/drawing/2014/main" id="{E421112E-B9EB-F4E7-FC2D-A9553D5174AE}"/>
                </a:ext>
              </a:extLst>
            </p:cNvPr>
            <p:cNvSpPr/>
            <p:nvPr/>
          </p:nvSpPr>
          <p:spPr>
            <a:xfrm>
              <a:off x="10538072" y="528484"/>
              <a:ext cx="1029600" cy="1029600"/>
            </a:xfrm>
            <a:prstGeom prst="ellipse">
              <a:avLst/>
            </a:prstGeom>
            <a:solidFill>
              <a:srgbClr val="EBECF0"/>
            </a:solidFill>
            <a:ln>
              <a:noFill/>
            </a:ln>
            <a:effectLst>
              <a:outerShdw blurRad="177800" dist="114300" dir="2700000" algn="tl" rotWithShape="0">
                <a:srgbClr val="ACB0C0">
                  <a:alpha val="4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7" name="Oval 6">
              <a:extLst>
                <a:ext uri="{FF2B5EF4-FFF2-40B4-BE49-F238E27FC236}">
                  <a16:creationId xmlns:a16="http://schemas.microsoft.com/office/drawing/2014/main" id="{C8900951-BFB4-DBCD-96C7-C977776D7710}"/>
                </a:ext>
              </a:extLst>
            </p:cNvPr>
            <p:cNvSpPr/>
            <p:nvPr/>
          </p:nvSpPr>
          <p:spPr>
            <a:xfrm>
              <a:off x="10538337" y="528749"/>
              <a:ext cx="1029071" cy="1029071"/>
            </a:xfrm>
            <a:prstGeom prst="ellipse">
              <a:avLst/>
            </a:prstGeom>
            <a:solidFill>
              <a:srgbClr val="EBECF0"/>
            </a:solidFill>
            <a:ln>
              <a:noFill/>
            </a:ln>
            <a:effectLst>
              <a:outerShdw blurRad="114300" dist="114300" dir="13500000" algn="br" rotWithShape="0">
                <a:srgbClr val="FFFFFF">
                  <a:alpha val="5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pic>
        <p:nvPicPr>
          <p:cNvPr id="10" name="Graphic 9" descr="Envelope with solid fill">
            <a:extLst>
              <a:ext uri="{FF2B5EF4-FFF2-40B4-BE49-F238E27FC236}">
                <a16:creationId xmlns:a16="http://schemas.microsoft.com/office/drawing/2014/main" id="{B53FBD99-1BBE-93B4-BDF1-EB2CB39BCF7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51441" y="3413876"/>
            <a:ext cx="739896" cy="675912"/>
          </a:xfrm>
          <a:prstGeom prst="rect">
            <a:avLst/>
          </a:prstGeom>
        </p:spPr>
      </p:pic>
      <p:sp>
        <p:nvSpPr>
          <p:cNvPr id="11" name="TextBox 10">
            <a:extLst>
              <a:ext uri="{FF2B5EF4-FFF2-40B4-BE49-F238E27FC236}">
                <a16:creationId xmlns:a16="http://schemas.microsoft.com/office/drawing/2014/main" id="{660617E2-5482-58D5-C429-40B7395D205E}"/>
              </a:ext>
            </a:extLst>
          </p:cNvPr>
          <p:cNvSpPr txBox="1"/>
          <p:nvPr/>
        </p:nvSpPr>
        <p:spPr>
          <a:xfrm>
            <a:off x="1114782" y="4265793"/>
            <a:ext cx="4940232" cy="461665"/>
          </a:xfrm>
          <a:prstGeom prst="rect">
            <a:avLst/>
          </a:prstGeom>
          <a:noFill/>
        </p:spPr>
        <p:txBody>
          <a:bodyPr wrap="square" lIns="91440" tIns="45720" rIns="91440" bIns="45720" rtlCol="0" anchor="t">
            <a:spAutoFit/>
          </a:bodyPr>
          <a:lstStyle/>
          <a:p>
            <a:pPr algn="just"/>
            <a:r>
              <a:rPr lang="en-IN" sz="2400" b="1">
                <a:gradFill>
                  <a:gsLst>
                    <a:gs pos="0">
                      <a:srgbClr val="00CCFF"/>
                    </a:gs>
                    <a:gs pos="100000">
                      <a:srgbClr val="0000FF"/>
                    </a:gs>
                  </a:gsLst>
                  <a:lin ang="2700000" scaled="1"/>
                </a:gradFill>
                <a:latin typeface="Vibur"/>
              </a:rPr>
              <a:t>akhlakansari00786@gmail.com</a:t>
            </a:r>
            <a:endParaRPr lang="en-IN" sz="2400" b="1" dirty="0">
              <a:gradFill>
                <a:gsLst>
                  <a:gs pos="0">
                    <a:srgbClr val="00CCFF"/>
                  </a:gs>
                  <a:gs pos="100000">
                    <a:srgbClr val="0000FF"/>
                  </a:gs>
                </a:gsLst>
                <a:lin ang="2700000" scaled="1"/>
              </a:gradFill>
              <a:latin typeface="Vibur" panose="03000603000000000000" pitchFamily="66" charset="0"/>
            </a:endParaRPr>
          </a:p>
        </p:txBody>
      </p:sp>
    </p:spTree>
    <p:extLst>
      <p:ext uri="{BB962C8B-B14F-4D97-AF65-F5344CB8AC3E}">
        <p14:creationId xmlns:p14="http://schemas.microsoft.com/office/powerpoint/2010/main" val="150630878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399</TotalTime>
  <Words>442</Words>
  <Application>Microsoft Office PowerPoint</Application>
  <PresentationFormat>Widescreen</PresentationFormat>
  <Paragraphs>46</Paragraphs>
  <Slides>16</Slides>
  <Notes>0</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AKHLAK ANSARI</dc:creator>
  <cp:lastModifiedBy>AKHLAK ANSARI</cp:lastModifiedBy>
  <cp:revision>853</cp:revision>
  <dcterms:created xsi:type="dcterms:W3CDTF">2024-10-17T03:53:57Z</dcterms:created>
  <dcterms:modified xsi:type="dcterms:W3CDTF">2026-05-26T06:14:57Z</dcterms:modified>
</cp:coreProperties>
</file>